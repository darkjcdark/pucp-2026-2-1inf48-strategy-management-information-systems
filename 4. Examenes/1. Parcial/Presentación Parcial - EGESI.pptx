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Montserrat SemiBold"/>
      <p:regular r:id="rId40"/>
      <p:bold r:id="rId41"/>
      <p:italic r:id="rId42"/>
      <p:boldItalic r:id="rId43"/>
    </p:embeddedFont>
    <p:embeddedFont>
      <p:font typeface="Source Sans 3 SemiBold"/>
      <p:regular r:id="rId44"/>
      <p:bold r:id="rId45"/>
      <p:italic r:id="rId46"/>
      <p:boldItalic r:id="rId47"/>
    </p:embeddedFont>
    <p:embeddedFont>
      <p:font typeface="Montserrat"/>
      <p:bold r:id="rId48"/>
      <p:boldItalic r:id="rId49"/>
    </p:embeddedFont>
    <p:embeddedFont>
      <p:font typeface="Source Sans 3"/>
      <p:regular r:id="rId50"/>
      <p:bold r:id="rId51"/>
      <p:italic r:id="rId52"/>
      <p:boldItalic r:id="rId53"/>
    </p:embeddedFont>
    <p:embeddedFont>
      <p:font typeface="Montserrat Light"/>
      <p:regular r:id="rId54"/>
      <p:bold r:id="rId55"/>
      <p:italic r:id="rId56"/>
      <p:boldItalic r:id="rId57"/>
    </p:embeddedFont>
    <p:embeddedFont>
      <p:font typeface="Montserrat ExtraBold"/>
      <p:bold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31B9C4-D003-4A2D-A93F-B472E9FEB4D8}">
  <a:tblStyle styleId="{F231B9C4-D003-4A2D-A93F-B472E9FEB4D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regular.fntdata"/><Relationship Id="rId42" Type="http://schemas.openxmlformats.org/officeDocument/2006/relationships/font" Target="fonts/MontserratSemiBold-italic.fntdata"/><Relationship Id="rId41" Type="http://schemas.openxmlformats.org/officeDocument/2006/relationships/font" Target="fonts/MontserratSemiBold-bold.fntdata"/><Relationship Id="rId44" Type="http://schemas.openxmlformats.org/officeDocument/2006/relationships/font" Target="fonts/SourceSans3SemiBold-regular.fntdata"/><Relationship Id="rId43" Type="http://schemas.openxmlformats.org/officeDocument/2006/relationships/font" Target="fonts/MontserratSemiBold-boldItalic.fntdata"/><Relationship Id="rId46" Type="http://schemas.openxmlformats.org/officeDocument/2006/relationships/font" Target="fonts/SourceSans3SemiBold-italic.fntdata"/><Relationship Id="rId45" Type="http://schemas.openxmlformats.org/officeDocument/2006/relationships/font" Target="fonts/SourceSans3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-bold.fntdata"/><Relationship Id="rId47" Type="http://schemas.openxmlformats.org/officeDocument/2006/relationships/font" Target="fonts/SourceSans3SemiBold-boldItalic.fntdata"/><Relationship Id="rId49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SourceSans3-bold.fntdata"/><Relationship Id="rId50" Type="http://schemas.openxmlformats.org/officeDocument/2006/relationships/font" Target="fonts/SourceSans3-regular.fntdata"/><Relationship Id="rId53" Type="http://schemas.openxmlformats.org/officeDocument/2006/relationships/font" Target="fonts/SourceSans3-boldItalic.fntdata"/><Relationship Id="rId52" Type="http://schemas.openxmlformats.org/officeDocument/2006/relationships/font" Target="fonts/SourceSans3-italic.fntdata"/><Relationship Id="rId11" Type="http://schemas.openxmlformats.org/officeDocument/2006/relationships/slide" Target="slides/slide5.xml"/><Relationship Id="rId55" Type="http://schemas.openxmlformats.org/officeDocument/2006/relationships/font" Target="fonts/MontserratLight-bold.fntdata"/><Relationship Id="rId10" Type="http://schemas.openxmlformats.org/officeDocument/2006/relationships/slide" Target="slides/slide4.xml"/><Relationship Id="rId54" Type="http://schemas.openxmlformats.org/officeDocument/2006/relationships/font" Target="fonts/MontserratLight-regular.fntdata"/><Relationship Id="rId13" Type="http://schemas.openxmlformats.org/officeDocument/2006/relationships/slide" Target="slides/slide7.xml"/><Relationship Id="rId57" Type="http://schemas.openxmlformats.org/officeDocument/2006/relationships/font" Target="fonts/MontserratLight-boldItalic.fntdata"/><Relationship Id="rId12" Type="http://schemas.openxmlformats.org/officeDocument/2006/relationships/slide" Target="slides/slide6.xml"/><Relationship Id="rId56" Type="http://schemas.openxmlformats.org/officeDocument/2006/relationships/font" Target="fonts/MontserratLight-italic.fntdata"/><Relationship Id="rId15" Type="http://schemas.openxmlformats.org/officeDocument/2006/relationships/slide" Target="slides/slide9.xml"/><Relationship Id="rId59" Type="http://schemas.openxmlformats.org/officeDocument/2006/relationships/font" Target="fonts/MontserratExtraBold-boldItalic.fntdata"/><Relationship Id="rId14" Type="http://schemas.openxmlformats.org/officeDocument/2006/relationships/slide" Target="slides/slide8.xml"/><Relationship Id="rId58" Type="http://schemas.openxmlformats.org/officeDocument/2006/relationships/font" Target="fonts/MontserratExtra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29ec4be788841259_2_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h29ec4be788841259_2_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h29ec4be788841259_2_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h7abadc4e082c37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h7abadc4e082c37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29ec4be788841259_2_9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h29ec4be788841259_2_9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h29ec4be788841259_2_9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29ec4be788841259_2_34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h29ec4be788841259_2_34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h29ec4be788841259_2_34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h29ec4be788841259_2_52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h29ec4be788841259_2_52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h29ec4be788841259_2_52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29ec4be788841259_2_7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h29ec4be788841259_2_7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h29ec4be788841259_2_7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29ec4be788841259_2_8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h29ec4be788841259_2_8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h29ec4be788841259_2_8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29ec4be788841259_2_106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h29ec4be788841259_2_106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h29ec4be788841259_2_106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29ec4be788841259_2_121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h29ec4be788841259_2_121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h29ec4be788841259_2_121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29ec4be788841259_2_142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h29ec4be788841259_2_142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h29ec4be788841259_2_142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h29ec4be788841259_2_161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h29ec4be788841259_2_161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h29ec4be788841259_2_161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29ec4be788841259_2_187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h29ec4be788841259_2_187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h29ec4be788841259_2_187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7abadc4e082c370b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h7abadc4e082c370b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h29ec4be788841259_0_26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h29ec4be788841259_0_26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h29ec4be788841259_0_26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29ec4be788841259_0_33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h29ec4be788841259_0_33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h29ec4be788841259_0_33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h29ec4be788841259_0_8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8" name="Google Shape;408;h29ec4be788841259_0_8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h29ec4be788841259_0_8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h29ec4be788841259_0_127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h29ec4be788841259_0_127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h29ec4be788841259_0_127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29ec4be788841259_0_20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h29ec4be788841259_0_20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h29ec4be788841259_0_20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h29ec4be788841259_0_26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9" name="Google Shape;609;h29ec4be788841259_0_26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0" name="Google Shape;610;h29ec4be788841259_0_26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h29ec4be788841259_0_277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9" name="Google Shape;619;h29ec4be788841259_0_277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h29ec4be788841259_0_277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h29ec4be788841259_0_30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h29ec4be788841259_0_30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h29ec4be788841259_0_30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h29ec4be788841259_0_32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2" name="Google Shape;672;h29ec4be788841259_0_32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h29ec4be788841259_0_32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h29ec4be788841259_0_379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4" name="Google Shape;724;h29ec4be788841259_0_379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h29ec4be788841259_0_379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h7abadc4e082c370b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h7abadc4e082c370b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h29ec4be788841259_0_48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h29ec4be788841259_0_48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9" name="Google Shape;769;h29ec4be788841259_0_48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h29ec4be788841259_0_49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7" name="Google Shape;787;h29ec4be788841259_0_49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8" name="Google Shape;788;h29ec4be788841259_0_49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h29ec4be788841259_0_521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1" name="Google Shape;811;h29ec4be788841259_0_521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2" name="Google Shape;812;h29ec4be788841259_0_521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h29ec4be788841259_0_547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h29ec4be788841259_0_547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h29ec4be788841259_0_547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h29ec4be788841259_0_571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h29ec4be788841259_0_571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4" name="Google Shape;864;h29ec4be788841259_0_571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h29ec4be788841259_0_599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h29ec4be788841259_0_599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3" name="Google Shape;893;h29ec4be788841259_0_599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h29ec4be788841259_0_638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h29ec4be788841259_0_638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3" name="Google Shape;933;h29ec4be788841259_0_638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h29ec4be788841259_0_670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5" name="Google Shape;965;h29ec4be788841259_0_670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6" name="Google Shape;966;h29ec4be788841259_0_670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h29ec4be788841259_0_704:notes"/>
          <p:cNvSpPr/>
          <p:nvPr>
            <p:ph idx="2" type="sldImg"/>
          </p:nvPr>
        </p:nvSpPr>
        <p:spPr>
          <a:xfrm>
            <a:off x="685727" y="857273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0" name="Google Shape;1000;h29ec4be788841259_0_704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1" name="Google Shape;1001;h29ec4be788841259_0_704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 (g3f8d29873df_35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">
  <p:cSld name="Slide master 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7878" y="4919243"/>
            <a:ext cx="803883" cy="19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2">
  <p:cSld name="Slide master 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7878" y="4919243"/>
            <a:ext cx="803883" cy="192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 1 1">
  <p:cSld name="Slide master 1 1 (h29ec4be788841259_45_0)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40.png"/><Relationship Id="rId6" Type="http://schemas.openxmlformats.org/officeDocument/2006/relationships/image" Target="../media/image43.png"/><Relationship Id="rId7" Type="http://schemas.openxmlformats.org/officeDocument/2006/relationships/image" Target="../media/image4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36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31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41.png"/><Relationship Id="rId5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6.png"/><Relationship Id="rId4" Type="http://schemas.openxmlformats.org/officeDocument/2006/relationships/image" Target="../media/image24.png"/><Relationship Id="rId5" Type="http://schemas.openxmlformats.org/officeDocument/2006/relationships/image" Target="../media/image35.png"/><Relationship Id="rId6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8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8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07878" y="4919243"/>
            <a:ext cx="803883" cy="192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8"/>
          <p:cNvGrpSpPr/>
          <p:nvPr/>
        </p:nvGrpSpPr>
        <p:grpSpPr>
          <a:xfrm>
            <a:off x="571500" y="579214"/>
            <a:ext cx="3619500" cy="2740763"/>
            <a:chOff x="0" y="-278036"/>
            <a:chExt cx="3619500" cy="2740763"/>
          </a:xfrm>
        </p:grpSpPr>
        <p:sp>
          <p:nvSpPr>
            <p:cNvPr id="71" name="Google Shape;71;p18"/>
            <p:cNvSpPr/>
            <p:nvPr/>
          </p:nvSpPr>
          <p:spPr>
            <a:xfrm>
              <a:off x="0" y="-278036"/>
              <a:ext cx="3619500" cy="2190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8"/>
            <p:cNvSpPr txBox="1"/>
            <p:nvPr/>
          </p:nvSpPr>
          <p:spPr>
            <a:xfrm>
              <a:off x="0" y="-118174"/>
              <a:ext cx="3619500" cy="258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100">
                  <a:solidFill>
                    <a:srgbClr val="00448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Presentación Parcial</a:t>
              </a:r>
              <a:endParaRPr b="1" sz="1100">
                <a:solidFill>
                  <a:srgbClr val="00448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" sz="3200">
                  <a:solidFill>
                    <a:srgbClr val="0F172A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Estrategia y Gestión de </a:t>
              </a:r>
              <a:r>
                <a:rPr lang="es" sz="3200">
                  <a:solidFill>
                    <a:srgbClr val="0F172A"/>
                  </a:solidFill>
                  <a:latin typeface="Montserrat ExtraBold"/>
                  <a:ea typeface="Montserrat ExtraBold"/>
                  <a:cs typeface="Montserrat ExtraBold"/>
                  <a:sym typeface="Montserrat ExtraBold"/>
                </a:rPr>
                <a:t>Sistemas de Información</a:t>
              </a:r>
              <a:endParaRPr b="0" sz="3200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endParaRPr>
            </a:p>
          </p:txBody>
        </p:sp>
      </p:grpSp>
      <p:pic>
        <p:nvPicPr>
          <p:cNvPr id="73" name="Google Shape;73;p18"/>
          <p:cNvPicPr preferRelativeResize="0"/>
          <p:nvPr/>
        </p:nvPicPr>
        <p:blipFill rotWithShape="1">
          <a:blip r:embed="rId6">
            <a:alphaModFix/>
          </a:blip>
          <a:srcRect b="318" l="0" r="0" t="318"/>
          <a:stretch/>
        </p:blipFill>
        <p:spPr>
          <a:xfrm>
            <a:off x="571500" y="3131925"/>
            <a:ext cx="2826900" cy="158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8"/>
          <p:cNvPicPr preferRelativeResize="0"/>
          <p:nvPr/>
        </p:nvPicPr>
        <p:blipFill rotWithShape="1">
          <a:blip r:embed="rId7">
            <a:alphaModFix/>
          </a:blip>
          <a:srcRect b="318" l="0" r="0" t="318"/>
          <a:stretch/>
        </p:blipFill>
        <p:spPr>
          <a:xfrm>
            <a:off x="8020200" y="209550"/>
            <a:ext cx="571500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8"/>
          <p:cNvSpPr/>
          <p:nvPr/>
        </p:nvSpPr>
        <p:spPr>
          <a:xfrm>
            <a:off x="4686300" y="1000125"/>
            <a:ext cx="3905400" cy="3714900"/>
          </a:xfrm>
          <a:prstGeom prst="roundRect">
            <a:avLst>
              <a:gd fmla="val 4102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" name="Google Shape;76;p18"/>
          <p:cNvGrpSpPr/>
          <p:nvPr/>
        </p:nvGrpSpPr>
        <p:grpSpPr>
          <a:xfrm>
            <a:off x="4972050" y="1285875"/>
            <a:ext cx="3333900" cy="3143400"/>
            <a:chOff x="0" y="0"/>
            <a:chExt cx="3333900" cy="3143400"/>
          </a:xfrm>
        </p:grpSpPr>
        <p:sp>
          <p:nvSpPr>
            <p:cNvPr id="77" name="Google Shape;77;p18"/>
            <p:cNvSpPr/>
            <p:nvPr/>
          </p:nvSpPr>
          <p:spPr>
            <a:xfrm>
              <a:off x="0" y="0"/>
              <a:ext cx="3333900" cy="314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78" name="Google Shape;78;p18"/>
            <p:cNvSpPr txBox="1"/>
            <p:nvPr/>
          </p:nvSpPr>
          <p:spPr>
            <a:xfrm>
              <a:off x="0" y="0"/>
              <a:ext cx="33339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30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Presentado por:</a:t>
              </a:r>
              <a:endParaRPr b="1" sz="130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es" sz="1300">
                  <a:solidFill>
                    <a:srgbClr val="F8FAF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SALAS COHAILA, Gabriel Lucio</a:t>
              </a:r>
              <a:endParaRPr b="0" sz="1300">
                <a:solidFill>
                  <a:srgbClr val="F8FAF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s" sz="115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Código: 20200606</a:t>
              </a:r>
              <a:endParaRPr sz="115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" sz="1300">
                  <a:solidFill>
                    <a:srgbClr val="F8FAF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CHAMORRO CAYETANO, Jorge Josue</a:t>
              </a:r>
              <a:endParaRPr b="0" sz="1300">
                <a:solidFill>
                  <a:srgbClr val="F8FAF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s" sz="115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Código: 20206234</a:t>
              </a:r>
              <a:endParaRPr sz="115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" sz="1300">
                  <a:solidFill>
                    <a:srgbClr val="F8FAF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SANCHEZ PASTOR, Rodrigo Alonso</a:t>
              </a:r>
              <a:endParaRPr b="0" sz="1300">
                <a:solidFill>
                  <a:srgbClr val="F8FAF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s" sz="115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Código: 20201230</a:t>
              </a:r>
              <a:endParaRPr sz="115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" sz="1300">
                  <a:solidFill>
                    <a:srgbClr val="F8FAF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SANTILLÁN HUAMÁN, Aarón Ulises</a:t>
              </a:r>
              <a:endParaRPr b="0" sz="1300">
                <a:solidFill>
                  <a:srgbClr val="F8FAF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s" sz="115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Código: 20200445</a:t>
              </a:r>
              <a:endParaRPr sz="115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s" sz="1300">
                  <a:solidFill>
                    <a:srgbClr val="F8FAF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ORIHUELA MONTERO, Johnny Fabricio</a:t>
              </a:r>
              <a:endParaRPr b="0" sz="1300">
                <a:solidFill>
                  <a:srgbClr val="F8FAFC"/>
                </a:solidFill>
                <a:latin typeface="Source Sans 3 SemiBold"/>
                <a:ea typeface="Source Sans 3 SemiBold"/>
                <a:cs typeface="Source Sans 3 SemiBold"/>
                <a:sym typeface="Source Sans 3 SemiBold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s" sz="1150">
                  <a:solidFill>
                    <a:srgbClr val="94A3B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Código: 20211000</a:t>
              </a:r>
              <a:endParaRPr sz="1150">
                <a:solidFill>
                  <a:srgbClr val="94A3B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"/>
          <p:cNvSpPr/>
          <p:nvPr/>
        </p:nvSpPr>
        <p:spPr>
          <a:xfrm>
            <a:off x="666750" y="1238250"/>
            <a:ext cx="7810500" cy="2667000"/>
          </a:xfrm>
          <a:prstGeom prst="roundRect">
            <a:avLst>
              <a:gd fmla="val 5714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9"/>
          <p:cNvSpPr/>
          <p:nvPr/>
        </p:nvSpPr>
        <p:spPr>
          <a:xfrm>
            <a:off x="1095375" y="2000250"/>
            <a:ext cx="57300" cy="11430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19"/>
          <p:cNvGrpSpPr/>
          <p:nvPr/>
        </p:nvGrpSpPr>
        <p:grpSpPr>
          <a:xfrm>
            <a:off x="1333500" y="1428750"/>
            <a:ext cx="6762900" cy="2286000"/>
            <a:chOff x="0" y="0"/>
            <a:chExt cx="6762900" cy="2286000"/>
          </a:xfrm>
        </p:grpSpPr>
        <p:sp>
          <p:nvSpPr>
            <p:cNvPr id="87" name="Google Shape;87;p19"/>
            <p:cNvSpPr/>
            <p:nvPr/>
          </p:nvSpPr>
          <p:spPr>
            <a:xfrm>
              <a:off x="0" y="0"/>
              <a:ext cx="6762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9"/>
            <p:cNvSpPr txBox="1"/>
            <p:nvPr/>
          </p:nvSpPr>
          <p:spPr>
            <a:xfrm>
              <a:off x="0" y="0"/>
              <a:ext cx="6762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Empresa, estrategia y procesos críticos</a:t>
              </a:r>
              <a:endParaRPr b="1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89" name="Google Shape;89;p19"/>
          <p:cNvPicPr preferRelativeResize="0"/>
          <p:nvPr/>
        </p:nvPicPr>
        <p:blipFill rotWithShape="1">
          <a:blip r:embed="rId4">
            <a:alphaModFix/>
          </a:blip>
          <a:srcRect b="318" l="0" r="0" t="318"/>
          <a:stretch/>
        </p:blipFill>
        <p:spPr>
          <a:xfrm>
            <a:off x="8001000" y="381000"/>
            <a:ext cx="5715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8625" y="4714875"/>
            <a:ext cx="804000" cy="1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/>
          <p:nvPr/>
        </p:nvSpPr>
        <p:spPr>
          <a:xfrm>
            <a:off x="539875" y="464249"/>
            <a:ext cx="8064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</a:pPr>
            <a:r>
              <a:rPr b="1" i="0" lang="e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Dimensión y Escala Financiera del Negocio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0"/>
          <p:cNvSpPr/>
          <p:nvPr/>
        </p:nvSpPr>
        <p:spPr>
          <a:xfrm>
            <a:off x="539875" y="832680"/>
            <a:ext cx="8521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Resultados del primer semestre 2026 — institución </a:t>
            </a:r>
            <a:r>
              <a:rPr lang="es" sz="1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multibanca</a:t>
            </a: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líder en el Perú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0"/>
          <p:cNvSpPr/>
          <p:nvPr/>
        </p:nvSpPr>
        <p:spPr>
          <a:xfrm>
            <a:off x="1037110" y="1139861"/>
            <a:ext cx="2983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3000"/>
              <a:buFont typeface="Montserrat"/>
              <a:buNone/>
            </a:pPr>
            <a:r>
              <a:rPr b="1" i="0" lang="es" sz="3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S/117B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539875" y="1644537"/>
            <a:ext cx="3978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Activos Totales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539875" y="1860859"/>
            <a:ext cx="3978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+7.6%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interanual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5123417" y="1139861"/>
            <a:ext cx="2983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3000"/>
              <a:buFont typeface="Montserrat"/>
              <a:buNone/>
            </a:pPr>
            <a:r>
              <a:rPr b="1" i="0" lang="es" sz="3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S/82B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/>
          <p:nvPr/>
        </p:nvSpPr>
        <p:spPr>
          <a:xfrm>
            <a:off x="4626144" y="1644537"/>
            <a:ext cx="3978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Colocaciones Netas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0"/>
          <p:cNvSpPr/>
          <p:nvPr/>
        </p:nvSpPr>
        <p:spPr>
          <a:xfrm>
            <a:off x="4626181" y="1860859"/>
            <a:ext cx="3978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+10.4%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interanual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1037110" y="2244017"/>
            <a:ext cx="2983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3000"/>
              <a:buFont typeface="Montserrat"/>
              <a:buNone/>
            </a:pPr>
            <a:r>
              <a:rPr b="1" i="0" lang="es" sz="3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S/87B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0"/>
          <p:cNvSpPr/>
          <p:nvPr/>
        </p:nvSpPr>
        <p:spPr>
          <a:xfrm>
            <a:off x="539875" y="2748693"/>
            <a:ext cx="3978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Obligaciones Público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539875" y="2965015"/>
            <a:ext cx="3978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+14.5%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interanual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5123417" y="2244017"/>
            <a:ext cx="29835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3000"/>
              <a:buFont typeface="Montserrat"/>
              <a:buNone/>
            </a:pPr>
            <a:r>
              <a:rPr b="1" i="0" lang="es" sz="3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S/1,465M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4626181" y="2748693"/>
            <a:ext cx="3978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Utilidad Neta 1S2026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4626181" y="2965015"/>
            <a:ext cx="3978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+32.3%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interanual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456605" y="3586016"/>
            <a:ext cx="4057500" cy="1108200"/>
          </a:xfrm>
          <a:prstGeom prst="roundRect">
            <a:avLst>
              <a:gd fmla="val 1566" name="adj"/>
            </a:avLst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572245" y="3672783"/>
            <a:ext cx="38262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Base de Clientes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572245" y="3923856"/>
            <a:ext cx="3826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Montserrat"/>
              <a:buNone/>
            </a:pPr>
            <a:r>
              <a:rPr b="1" i="0" lang="es" sz="2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9,465,848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572245" y="4464251"/>
            <a:ext cx="4283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ans 3"/>
              <a:buNone/>
            </a:pPr>
            <a:r>
              <a:rPr lang="es" sz="9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 clientes al cierre del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4717859" y="3672783"/>
            <a:ext cx="3891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Capital Humano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4717859" y="3923856"/>
            <a:ext cx="3891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Montserrat"/>
              <a:buNone/>
            </a:pPr>
            <a:r>
              <a:rPr b="1" i="0" lang="es" sz="2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7,092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4717859" y="4464251"/>
            <a:ext cx="43482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colaboradores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456600" y="3405612"/>
            <a:ext cx="8521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lang="es" sz="9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Atiende a personas, pymes, empresas e instituciones mediante financiamiento, ahorro, pagos e inversión.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/>
          <p:nvPr/>
        </p:nvSpPr>
        <p:spPr>
          <a:xfrm>
            <a:off x="539875" y="450950"/>
            <a:ext cx="80643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tserrat"/>
              <a:buNone/>
            </a:pPr>
            <a:r>
              <a:rPr b="1" i="0" lang="es" sz="2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Participación de Mercado y Segmentos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590350" y="1489421"/>
            <a:ext cx="38817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None/>
            </a:pPr>
            <a:r>
              <a:rPr b="1" i="0" lang="es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Cuota Global — Cierre 2025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/>
          <p:nvPr/>
        </p:nvSpPr>
        <p:spPr>
          <a:xfrm>
            <a:off x="590350" y="1704180"/>
            <a:ext cx="38817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None/>
            </a:pPr>
            <a:r>
              <a:rPr b="1" i="0" lang="es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Liderazgo Sectorial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590350" y="1978172"/>
            <a:ext cx="38817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1905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Char char="•"/>
            </a:pP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22.7%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banca de personas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19050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Char char="•"/>
            </a:pP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19.7%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préstamos consumo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7" name="Google Shape;1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7310" y="1060624"/>
            <a:ext cx="3105149" cy="223509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/>
          <p:nvPr/>
        </p:nvSpPr>
        <p:spPr>
          <a:xfrm>
            <a:off x="539875" y="3517776"/>
            <a:ext cx="3982800" cy="648000"/>
          </a:xfrm>
          <a:prstGeom prst="roundRect">
            <a:avLst>
              <a:gd fmla="val 285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663254" y="3641155"/>
            <a:ext cx="37359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22.09%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1"/>
          <p:cNvSpPr/>
          <p:nvPr/>
        </p:nvSpPr>
        <p:spPr>
          <a:xfrm>
            <a:off x="663254" y="3875708"/>
            <a:ext cx="3735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Colocaciones del sistema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1"/>
          <p:cNvSpPr/>
          <p:nvPr/>
        </p:nvSpPr>
        <p:spPr>
          <a:xfrm>
            <a:off x="4621344" y="3517776"/>
            <a:ext cx="3982800" cy="648000"/>
          </a:xfrm>
          <a:prstGeom prst="roundRect">
            <a:avLst>
              <a:gd fmla="val 285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1"/>
          <p:cNvSpPr/>
          <p:nvPr/>
        </p:nvSpPr>
        <p:spPr>
          <a:xfrm>
            <a:off x="4744722" y="3641155"/>
            <a:ext cx="37359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20.90%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1"/>
          <p:cNvSpPr/>
          <p:nvPr/>
        </p:nvSpPr>
        <p:spPr>
          <a:xfrm>
            <a:off x="4744722" y="3875708"/>
            <a:ext cx="3735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Depósitos del sistema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539875" y="4276725"/>
            <a:ext cx="8064300" cy="415800"/>
          </a:xfrm>
          <a:prstGeom prst="roundRect">
            <a:avLst>
              <a:gd fmla="val 4453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254" y="4412531"/>
            <a:ext cx="154256" cy="123379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/>
          <p:nvPr/>
        </p:nvSpPr>
        <p:spPr>
          <a:xfrm>
            <a:off x="940900" y="4406200"/>
            <a:ext cx="76632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Composición cartera: </a:t>
            </a:r>
            <a:r>
              <a:rPr b="1" i="0" lang="es" sz="9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58.3%</a:t>
            </a:r>
            <a:r>
              <a:rPr b="0" i="0" lang="es" sz="9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banca corporativa/comercial vs </a:t>
            </a:r>
            <a:r>
              <a:rPr b="1" i="0" lang="es" sz="9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41.7%</a:t>
            </a:r>
            <a:r>
              <a:rPr b="0" i="0" lang="es" sz="9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personas, analiza</a:t>
            </a:r>
            <a:r>
              <a:rPr lang="es" sz="900">
                <a:latin typeface="Source Sans 3"/>
                <a:ea typeface="Source Sans 3"/>
                <a:cs typeface="Source Sans 3"/>
                <a:sym typeface="Source Sans 3"/>
              </a:rPr>
              <a:t>ndo </a:t>
            </a:r>
            <a:r>
              <a:rPr b="0" i="0" lang="es" sz="9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financiamiento Pyme</a:t>
            </a:r>
            <a:r>
              <a:rPr lang="es" sz="900">
                <a:latin typeface="Source Sans 3"/>
                <a:ea typeface="Source Sans 3"/>
                <a:cs typeface="Source Sans 3"/>
                <a:sym typeface="Source Sans 3"/>
              </a:rPr>
              <a:t>, </a:t>
            </a:r>
            <a:r>
              <a:rPr b="0" i="0" lang="es" sz="9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contratación y atención en banca de personas.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539875" y="488826"/>
            <a:ext cx="8064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Montserrat"/>
              <a:buNone/>
            </a:pPr>
            <a:r>
              <a:rPr b="1" i="0" lang="es" sz="27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Canales de Atención y Penetración Digital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539875" y="964295"/>
            <a:ext cx="85215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App BBVA es el motor central de la experiencia cliente con </a:t>
            </a:r>
            <a:r>
              <a:rPr b="1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85%</a:t>
            </a: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operaciones monetarias canalizadas digitalmente.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875" y="1320552"/>
            <a:ext cx="385604" cy="38561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/>
          <p:nvPr/>
        </p:nvSpPr>
        <p:spPr>
          <a:xfrm>
            <a:off x="539875" y="1789216"/>
            <a:ext cx="3935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App BBVA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539875" y="2151087"/>
            <a:ext cx="39357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lang="e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·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3M+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usuarios activos </a:t>
            </a:r>
            <a:endParaRPr sz="120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lang="e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·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&gt;350M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transacciones </a:t>
            </a:r>
            <a:r>
              <a:rPr lang="e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al cierre del 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2T2026 </a:t>
            </a:r>
            <a:endParaRPr sz="120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lang="e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·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85%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operaciones monetarias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8374" y="1320552"/>
            <a:ext cx="385604" cy="38561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2"/>
          <p:cNvSpPr/>
          <p:nvPr/>
        </p:nvSpPr>
        <p:spPr>
          <a:xfrm>
            <a:off x="4668374" y="1839441"/>
            <a:ext cx="3935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Ventas Digitales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2"/>
          <p:cNvSpPr/>
          <p:nvPr/>
        </p:nvSpPr>
        <p:spPr>
          <a:xfrm>
            <a:off x="4668374" y="2151087"/>
            <a:ext cx="39357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lang="e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·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79.57%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del total de ventas ya se realizan por canales digitales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875" y="3071143"/>
            <a:ext cx="385604" cy="385614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/>
          <p:nvPr/>
        </p:nvSpPr>
        <p:spPr>
          <a:xfrm>
            <a:off x="539875" y="3523060"/>
            <a:ext cx="3935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FX Digital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2"/>
          <p:cNvSpPr/>
          <p:nvPr/>
        </p:nvSpPr>
        <p:spPr>
          <a:xfrm>
            <a:off x="539875" y="3834706"/>
            <a:ext cx="39357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lang="e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·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93%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penetración — canal digital dominante para tipo de cambio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3" name="Google Shape;15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8374" y="3071143"/>
            <a:ext cx="385604" cy="38561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/>
          <p:nvPr/>
        </p:nvSpPr>
        <p:spPr>
          <a:xfrm>
            <a:off x="4668374" y="3523060"/>
            <a:ext cx="3935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Tarjetas y Créditos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4668374" y="3834706"/>
            <a:ext cx="39357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lang="e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· 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Préstamos consumo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54%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Tarjetas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50%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Cuentas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33%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penetración digital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539875" y="4446874"/>
            <a:ext cx="85215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lang="es" sz="10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Oficinas, contact center, cajeros y agentes complementan el autoservicio y atienden casos derivados.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/>
          <p:nvPr/>
        </p:nvSpPr>
        <p:spPr>
          <a:xfrm>
            <a:off x="539875" y="441127"/>
            <a:ext cx="8064300" cy="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Montserrat"/>
              <a:buNone/>
            </a:pPr>
            <a:r>
              <a:rPr b="1" i="0" lang="es" sz="2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Desempeño y Riesgo Crediticio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539875" y="1205434"/>
            <a:ext cx="385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es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Rentabilidad y Eficiencia — 2025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3"/>
          <p:cNvSpPr/>
          <p:nvPr/>
        </p:nvSpPr>
        <p:spPr>
          <a:xfrm>
            <a:off x="539875" y="1570125"/>
            <a:ext cx="1857300" cy="892500"/>
          </a:xfrm>
          <a:prstGeom prst="roundRect">
            <a:avLst>
              <a:gd fmla="val 1986" name="adj"/>
            </a:avLst>
          </a:prstGeom>
          <a:solidFill>
            <a:srgbClr val="FFFFFF"/>
          </a:solidFill>
          <a:ln cap="flat" cmpd="sng" w="190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705446" y="1735708"/>
            <a:ext cx="1526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00"/>
              <a:buFont typeface="Montserrat"/>
              <a:buNone/>
            </a:pPr>
            <a:r>
              <a:rPr b="1" lang="es" sz="1300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20.1%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581575" y="2083000"/>
            <a:ext cx="18156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lang="es" sz="11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Sistema - ROE a mayo de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2564888" y="1570125"/>
            <a:ext cx="1857300" cy="892500"/>
          </a:xfrm>
          <a:prstGeom prst="roundRect">
            <a:avLst>
              <a:gd fmla="val 1986" name="adj"/>
            </a:avLst>
          </a:prstGeom>
          <a:solidFill>
            <a:srgbClr val="FFFFFF"/>
          </a:solidFill>
          <a:ln cap="flat" cmpd="sng" w="190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/>
          <p:nvPr/>
        </p:nvSpPr>
        <p:spPr>
          <a:xfrm>
            <a:off x="2701682" y="1735708"/>
            <a:ext cx="15261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00"/>
              <a:buFont typeface="Montserrat"/>
              <a:buNone/>
            </a:pPr>
            <a:r>
              <a:rPr b="1" i="0" lang="es" sz="13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17.21%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2701674" y="2083000"/>
            <a:ext cx="16917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lang="es" sz="11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BBVA - </a:t>
            </a: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ROE </a:t>
            </a:r>
            <a:r>
              <a:rPr lang="es" sz="11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junio de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539875" y="2650500"/>
            <a:ext cx="3882300" cy="892500"/>
          </a:xfrm>
          <a:prstGeom prst="roundRect">
            <a:avLst>
              <a:gd fmla="val 2463" name="adj"/>
            </a:avLst>
          </a:prstGeom>
          <a:solidFill>
            <a:srgbClr val="FFFFFF"/>
          </a:solidFill>
          <a:ln cap="flat" cmpd="sng" w="190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3"/>
          <p:cNvSpPr/>
          <p:nvPr/>
        </p:nvSpPr>
        <p:spPr>
          <a:xfrm>
            <a:off x="705446" y="2816071"/>
            <a:ext cx="35223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00"/>
              <a:buFont typeface="Montserrat"/>
              <a:buNone/>
            </a:pPr>
            <a:r>
              <a:rPr b="1" lang="es" sz="1300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S/ 2,391M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00"/>
              <a:buFont typeface="Montserrat"/>
              <a:buNone/>
            </a:pPr>
            <a:r>
              <a:t/>
            </a:r>
            <a:endParaRPr b="1" sz="1300">
              <a:solidFill>
                <a:srgbClr val="3D383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3"/>
          <p:cNvSpPr/>
          <p:nvPr/>
        </p:nvSpPr>
        <p:spPr>
          <a:xfrm>
            <a:off x="705446" y="3163362"/>
            <a:ext cx="3522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lang="es" sz="11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Utilidad neta al cierre de 2025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t/>
            </a:r>
            <a:endParaRPr sz="110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73" name="Google Shape;173;p23"/>
          <p:cNvSpPr/>
          <p:nvPr/>
        </p:nvSpPr>
        <p:spPr>
          <a:xfrm>
            <a:off x="4755513" y="1205434"/>
            <a:ext cx="38535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ontserrat"/>
              <a:buNone/>
            </a:pPr>
            <a:r>
              <a:rPr b="1" i="0" lang="es" sz="1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Calidad de Cartera — Junio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5513" y="1570137"/>
            <a:ext cx="3660559" cy="26361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3"/>
          <p:cNvSpPr/>
          <p:nvPr/>
        </p:nvSpPr>
        <p:spPr>
          <a:xfrm>
            <a:off x="4755513" y="4362896"/>
            <a:ext cx="43107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Provisiones sobre cartera de alto riesgo: </a:t>
            </a:r>
            <a:r>
              <a:rPr b="1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95.0%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3"/>
          <p:cNvSpPr/>
          <p:nvPr/>
        </p:nvSpPr>
        <p:spPr>
          <a:xfrm>
            <a:off x="539875" y="3682075"/>
            <a:ext cx="3882300" cy="892500"/>
          </a:xfrm>
          <a:prstGeom prst="roundRect">
            <a:avLst>
              <a:gd fmla="val 2463" name="adj"/>
            </a:avLst>
          </a:prstGeom>
          <a:solidFill>
            <a:srgbClr val="FFFFFF"/>
          </a:solidFill>
          <a:ln cap="flat" cmpd="sng" w="19025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705446" y="3847646"/>
            <a:ext cx="35223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00"/>
              <a:buFont typeface="Montserrat"/>
              <a:buNone/>
            </a:pPr>
            <a:r>
              <a:rPr b="1" i="0" lang="es" sz="13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35.9%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/>
          <p:nvPr/>
        </p:nvSpPr>
        <p:spPr>
          <a:xfrm>
            <a:off x="705446" y="4194937"/>
            <a:ext cx="3522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Ratio de eficiencia — mejor que promedio del 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/>
          <p:nvPr/>
        </p:nvSpPr>
        <p:spPr>
          <a:xfrm>
            <a:off x="539875" y="521048"/>
            <a:ext cx="1824300" cy="210900"/>
          </a:xfrm>
          <a:prstGeom prst="roundRect">
            <a:avLst>
              <a:gd fmla="val 7900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4"/>
          <p:cNvSpPr/>
          <p:nvPr/>
        </p:nvSpPr>
        <p:spPr>
          <a:xfrm>
            <a:off x="623144" y="562645"/>
            <a:ext cx="21150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DOLOR ESTRATÉGICO DEL NEGOCIO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539875" y="781868"/>
            <a:ext cx="80643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Brecha de Satisfacción: El Dolor del Negocio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875" y="1504206"/>
            <a:ext cx="3854478" cy="26454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/>
          <p:nvPr/>
        </p:nvSpPr>
        <p:spPr>
          <a:xfrm>
            <a:off x="5166279" y="1488579"/>
            <a:ext cx="3442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Análisis de Brechas NPS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9" name="Google Shape;18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6279" y="1826345"/>
            <a:ext cx="1658723" cy="16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/>
          <p:nvPr/>
        </p:nvSpPr>
        <p:spPr>
          <a:xfrm>
            <a:off x="5400312" y="1984177"/>
            <a:ext cx="12669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−18.97 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5400312" y="2306315"/>
            <a:ext cx="12669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Brecha </a:t>
            </a:r>
            <a:r>
              <a:rPr b="1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Pyme vs Retail</a:t>
            </a: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</a:t>
            </a: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Pyme solo alcanza 64% de la satisfacción retail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49988" y="1826345"/>
            <a:ext cx="1658796" cy="162713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/>
          <p:nvPr/>
        </p:nvSpPr>
        <p:spPr>
          <a:xfrm>
            <a:off x="7184020" y="1984177"/>
            <a:ext cx="12669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−10.0 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7184020" y="2306315"/>
            <a:ext cx="1266900" cy="9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Brecha </a:t>
            </a:r>
            <a:r>
              <a:rPr b="1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Pyme vs Empresas</a:t>
            </a: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segmento más vulnerable del portafolio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/>
          <p:nvPr/>
        </p:nvSpPr>
        <p:spPr>
          <a:xfrm>
            <a:off x="5166279" y="3594050"/>
            <a:ext cx="3442500" cy="888000"/>
          </a:xfrm>
          <a:prstGeom prst="roundRect">
            <a:avLst>
              <a:gd fmla="val 2346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6" name="Google Shape;19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5062" y="3770337"/>
            <a:ext cx="173529" cy="13878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/>
          <p:nvPr/>
        </p:nvSpPr>
        <p:spPr>
          <a:xfrm>
            <a:off x="5617378" y="3741167"/>
            <a:ext cx="28527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NPS Pyme de </a:t>
            </a:r>
            <a:r>
              <a:rPr b="1" i="0" lang="es" sz="11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33.6%</a:t>
            </a:r>
            <a:r>
              <a:rPr b="0" i="0" lang="es" sz="11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se convierte en la línea base prioritaria para las iniciativas operativas y tecnológicas de los próximos 18 meses.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"/>
          <p:cNvSpPr/>
          <p:nvPr/>
        </p:nvSpPr>
        <p:spPr>
          <a:xfrm>
            <a:off x="539875" y="473869"/>
            <a:ext cx="80643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Entorno Competitivo y Disrupción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539875" y="1180579"/>
            <a:ext cx="38628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Concentración del Sistema Bancario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875" y="1518344"/>
            <a:ext cx="3476391" cy="250246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/>
          <p:nvPr/>
        </p:nvSpPr>
        <p:spPr>
          <a:xfrm>
            <a:off x="539875" y="4161383"/>
            <a:ext cx="38628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Altas barreras de entrada sostienen la concentración: </a:t>
            </a:r>
            <a:r>
              <a:rPr b="1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4 bancos concentran 82.3%</a:t>
            </a: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créditos directos.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/>
          <p:nvPr/>
        </p:nvSpPr>
        <p:spPr>
          <a:xfrm>
            <a:off x="4746137" y="1180579"/>
            <a:ext cx="38628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Amenaza Disruptiva: Billeteras Digitales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6137" y="1518344"/>
            <a:ext cx="1868864" cy="1626467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5"/>
          <p:cNvSpPr/>
          <p:nvPr/>
        </p:nvSpPr>
        <p:spPr>
          <a:xfrm>
            <a:off x="4980170" y="1676177"/>
            <a:ext cx="14769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19.1M usuarios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5"/>
          <p:cNvSpPr/>
          <p:nvPr/>
        </p:nvSpPr>
        <p:spPr>
          <a:xfrm>
            <a:off x="4980170" y="1998315"/>
            <a:ext cx="14769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1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Yape</a:t>
            </a: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lidera el ecosistema — </a:t>
            </a:r>
            <a:r>
              <a:rPr b="1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15.9M activos/mes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9990" y="1518344"/>
            <a:ext cx="1868864" cy="162646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/>
          <p:nvPr/>
        </p:nvSpPr>
        <p:spPr>
          <a:xfrm>
            <a:off x="6974023" y="1676177"/>
            <a:ext cx="14769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Interoperabilidad BCRP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5"/>
          <p:cNvSpPr/>
          <p:nvPr/>
        </p:nvSpPr>
        <p:spPr>
          <a:xfrm>
            <a:off x="6974023" y="2195513"/>
            <a:ext cx="1476900" cy="7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Pagos inmediatos entre billeteras erosionan el efecto de red histórico de la banca tradicional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4746125" y="3285483"/>
            <a:ext cx="38628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lang="es" sz="11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La competencia exige facilitar la contratación y resolver necesidades completas dentro del canal digital.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/>
          <p:nvPr/>
        </p:nvSpPr>
        <p:spPr>
          <a:xfrm>
            <a:off x="539900" y="476246"/>
            <a:ext cx="80643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Montserrat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Ecosistema Tecnológico y Sistemas Existentes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539875" y="1879846"/>
            <a:ext cx="85215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Infraestructura digital de clase mundial que sustenta la operación de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9.4M de clientes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y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581.7M transacciones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anuales.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539900" y="2259704"/>
            <a:ext cx="2585400" cy="2199000"/>
          </a:xfrm>
          <a:prstGeom prst="roundRect">
            <a:avLst>
              <a:gd fmla="val 119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694160" y="2466808"/>
            <a:ext cx="462900" cy="462900"/>
          </a:xfrm>
          <a:prstGeom prst="ellipse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1496" y="2594156"/>
            <a:ext cx="208205" cy="20821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6"/>
          <p:cNvSpPr/>
          <p:nvPr/>
        </p:nvSpPr>
        <p:spPr>
          <a:xfrm>
            <a:off x="694135" y="3150096"/>
            <a:ext cx="2276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Datos e 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6"/>
          <p:cNvSpPr/>
          <p:nvPr/>
        </p:nvSpPr>
        <p:spPr>
          <a:xfrm>
            <a:off x="694135" y="3461742"/>
            <a:ext cx="22767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Plataforma global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ADA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(Perú 2025) · IA generativa vía Google Workspace +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Gemini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6"/>
          <p:cNvSpPr/>
          <p:nvPr/>
        </p:nvSpPr>
        <p:spPr>
          <a:xfrm>
            <a:off x="3279362" y="2259704"/>
            <a:ext cx="2585400" cy="2199000"/>
          </a:xfrm>
          <a:prstGeom prst="roundRect">
            <a:avLst>
              <a:gd fmla="val 119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3433619" y="2466808"/>
            <a:ext cx="462900" cy="462900"/>
          </a:xfrm>
          <a:prstGeom prst="ellipse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0968" y="2594156"/>
            <a:ext cx="208205" cy="20821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6"/>
          <p:cNvSpPr/>
          <p:nvPr/>
        </p:nvSpPr>
        <p:spPr>
          <a:xfrm>
            <a:off x="3433619" y="3150096"/>
            <a:ext cx="2276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Banca y Canales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6"/>
          <p:cNvSpPr/>
          <p:nvPr/>
        </p:nvSpPr>
        <p:spPr>
          <a:xfrm>
            <a:off x="3433619" y="3461742"/>
            <a:ext cx="22767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 BBVA con asistente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Blue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BBVA Net Cash · Pagos al Toque / QR Plin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6"/>
          <p:cNvSpPr/>
          <p:nvPr/>
        </p:nvSpPr>
        <p:spPr>
          <a:xfrm>
            <a:off x="6018849" y="2259704"/>
            <a:ext cx="2585400" cy="2199000"/>
          </a:xfrm>
          <a:prstGeom prst="roundRect">
            <a:avLst>
              <a:gd fmla="val 119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"/>
          <p:cNvSpPr/>
          <p:nvPr/>
        </p:nvSpPr>
        <p:spPr>
          <a:xfrm>
            <a:off x="6173100" y="2466804"/>
            <a:ext cx="462900" cy="462900"/>
          </a:xfrm>
          <a:prstGeom prst="ellipse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" name="Google Shape;23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0452" y="2594156"/>
            <a:ext cx="208205" cy="20821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/>
          <p:nvPr/>
        </p:nvSpPr>
        <p:spPr>
          <a:xfrm>
            <a:off x="6173103" y="3150096"/>
            <a:ext cx="2276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Arquitectura Core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6173103" y="3461742"/>
            <a:ext cx="22767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Core transaccional moderno vía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APIs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integrado a plataforma 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539875" y="1166372"/>
            <a:ext cx="85215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lang="e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Sistemas identificados: ADA, App BBVA, Blue, Blue Buddy, Net Cash y Plin/QR.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539875" y="1498655"/>
            <a:ext cx="8521500" cy="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lang="e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Supuesto de trabajo: integración mediante APIs con los sistemas transaccionales.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/>
          <p:nvPr/>
        </p:nvSpPr>
        <p:spPr>
          <a:xfrm>
            <a:off x="539875" y="429146"/>
            <a:ext cx="80643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ontserrat"/>
              <a:buNone/>
            </a:pPr>
            <a:r>
              <a:rPr b="1" i="0" lang="es" sz="2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Macroprocesos Críticos del Negocio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3427" y="1103040"/>
            <a:ext cx="3483533" cy="3483617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7"/>
          <p:cNvSpPr/>
          <p:nvPr/>
        </p:nvSpPr>
        <p:spPr>
          <a:xfrm>
            <a:off x="4738174" y="1379562"/>
            <a:ext cx="38709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Por qué son críticos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7"/>
          <p:cNvSpPr/>
          <p:nvPr/>
        </p:nvSpPr>
        <p:spPr>
          <a:xfrm>
            <a:off x="4738174" y="1695227"/>
            <a:ext cx="297600" cy="297600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7"/>
          <p:cNvSpPr/>
          <p:nvPr/>
        </p:nvSpPr>
        <p:spPr>
          <a:xfrm>
            <a:off x="4796775" y="1731281"/>
            <a:ext cx="1806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7"/>
          <p:cNvSpPr/>
          <p:nvPr/>
        </p:nvSpPr>
        <p:spPr>
          <a:xfrm>
            <a:off x="5149388" y="1740694"/>
            <a:ext cx="34596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Operación Canales Digitales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5149388" y="2042145"/>
            <a:ext cx="34596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Source Sans 3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581.7M transacciones</a:t>
            </a: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b="1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81%</a:t>
            </a: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operaciones · Motor de experiencia y eficiencia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7"/>
          <p:cNvSpPr/>
          <p:nvPr/>
        </p:nvSpPr>
        <p:spPr>
          <a:xfrm>
            <a:off x="4738174" y="2637755"/>
            <a:ext cx="297600" cy="297600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7"/>
          <p:cNvSpPr/>
          <p:nvPr/>
        </p:nvSpPr>
        <p:spPr>
          <a:xfrm>
            <a:off x="4796775" y="2673809"/>
            <a:ext cx="1806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5149388" y="2683223"/>
            <a:ext cx="34596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Gestión Datos, Analítica e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5149388" y="2984674"/>
            <a:ext cx="34596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Sustenta prioridad estratégica, ESG </a:t>
            </a:r>
            <a:r>
              <a:rPr b="1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S/ 8,989M</a:t>
            </a: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 1S2026, y modelo de pricing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4738174" y="3580284"/>
            <a:ext cx="297600" cy="297600"/>
          </a:xfrm>
          <a:prstGeom prst="roundRect">
            <a:avLst>
              <a:gd fmla="val 6667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7"/>
          <p:cNvSpPr/>
          <p:nvPr/>
        </p:nvSpPr>
        <p:spPr>
          <a:xfrm>
            <a:off x="4796775" y="3616337"/>
            <a:ext cx="1806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4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5149388" y="3625750"/>
            <a:ext cx="34596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Seguridad y Ciberseguridad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5149388" y="3927203"/>
            <a:ext cx="34596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Marcos NIST/ISO/IEC · Protege </a:t>
            </a:r>
            <a:r>
              <a:rPr b="1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9.4M clientes</a:t>
            </a: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Cumplimiento regulatorio SBS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8"/>
          <p:cNvSpPr/>
          <p:nvPr/>
        </p:nvSpPr>
        <p:spPr>
          <a:xfrm>
            <a:off x="539875" y="439638"/>
            <a:ext cx="982500" cy="173100"/>
          </a:xfrm>
          <a:prstGeom prst="roundRect">
            <a:avLst>
              <a:gd fmla="val 7899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8"/>
          <p:cNvSpPr/>
          <p:nvPr/>
        </p:nvSpPr>
        <p:spPr>
          <a:xfrm>
            <a:off x="608187" y="473795"/>
            <a:ext cx="13029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700"/>
              <a:buFont typeface="Source Sans 3"/>
              <a:buNone/>
            </a:pPr>
            <a:r>
              <a:rPr b="0" i="0" lang="es" sz="7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HORIZONTE 18 MESES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539875" y="646212"/>
            <a:ext cx="80643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Montserrat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Estratégicos Comerciales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875" y="1185126"/>
            <a:ext cx="2631951" cy="1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8"/>
          <p:cNvSpPr/>
          <p:nvPr/>
        </p:nvSpPr>
        <p:spPr>
          <a:xfrm>
            <a:off x="1770462" y="1263477"/>
            <a:ext cx="1707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00"/>
              <a:buFont typeface="Montserrat"/>
              <a:buNone/>
            </a:pPr>
            <a:r>
              <a:rPr b="1" i="0" lang="es" sz="13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668025" y="1625047"/>
            <a:ext cx="237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OE1 — </a:t>
            </a:r>
            <a:r>
              <a:rPr b="1" lang="es" sz="1000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mejorar la experiencia del cliente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668016" y="2008834"/>
            <a:ext cx="2375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Incrementar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NPS Pyme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33.6%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≥43.0%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40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Reducir brecha Pyme vs Retail a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&lt;9.6 puntos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1" name="Google Shape;2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55925" y="1185125"/>
            <a:ext cx="2632026" cy="1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8"/>
          <p:cNvSpPr/>
          <p:nvPr/>
        </p:nvSpPr>
        <p:spPr>
          <a:xfrm>
            <a:off x="4486580" y="1263477"/>
            <a:ext cx="1707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00"/>
              <a:buFont typeface="Montserrat"/>
              <a:buNone/>
            </a:pPr>
            <a:r>
              <a:rPr b="1" i="0" lang="es" sz="13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3384084" y="1625055"/>
            <a:ext cx="237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OE3 — </a:t>
            </a:r>
            <a:r>
              <a:rPr b="1" lang="es" sz="1000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Crecer en empresas y Pymes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3384084" y="2059234"/>
            <a:ext cx="23757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Elevar cuota de mercado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Pymes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21.5%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≥22.5%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5" name="Google Shape;2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2025" y="1185126"/>
            <a:ext cx="2632049" cy="13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8"/>
          <p:cNvSpPr/>
          <p:nvPr/>
        </p:nvSpPr>
        <p:spPr>
          <a:xfrm>
            <a:off x="7202698" y="1263477"/>
            <a:ext cx="170700" cy="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300"/>
              <a:buFont typeface="Montserrat"/>
              <a:buNone/>
            </a:pPr>
            <a:r>
              <a:rPr b="1" i="0" lang="es" sz="13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6100152" y="1724430"/>
            <a:ext cx="237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OE4 — </a:t>
            </a:r>
            <a:r>
              <a:rPr b="1" lang="es" sz="1000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Mejorar la creación de valor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6100152" y="2133484"/>
            <a:ext cx="23757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ROE ≥19.5%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Eficiencia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≤40.0%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Mora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≤2.69%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9" name="Google Shape;27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890" y="2578299"/>
            <a:ext cx="6048002" cy="23860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/>
          <p:nvPr/>
        </p:nvSpPr>
        <p:spPr>
          <a:xfrm>
            <a:off x="2495115" y="3397202"/>
            <a:ext cx="11904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Cerrar brecha NPS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2488749" y="3592547"/>
            <a:ext cx="12030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 33.6% a ≥43.0% en 18 meses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3990943" y="3707498"/>
            <a:ext cx="11904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Incrementar cuota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3984576" y="3902843"/>
            <a:ext cx="12030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 21.5% a ≥22.5% en Pymes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5504231" y="3397202"/>
            <a:ext cx="1190400" cy="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Fortalecer ROE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5497866" y="3592547"/>
            <a:ext cx="1203000" cy="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Alcanzar ROE ≥19.5%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"/>
          <p:cNvSpPr/>
          <p:nvPr/>
        </p:nvSpPr>
        <p:spPr>
          <a:xfrm>
            <a:off x="539875" y="447080"/>
            <a:ext cx="1309800" cy="230700"/>
          </a:xfrm>
          <a:prstGeom prst="roundRect">
            <a:avLst>
              <a:gd fmla="val 7897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630958" y="492621"/>
            <a:ext cx="15846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HORIZONTE 18 MESES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9"/>
          <p:cNvSpPr/>
          <p:nvPr/>
        </p:nvSpPr>
        <p:spPr>
          <a:xfrm>
            <a:off x="539875" y="737592"/>
            <a:ext cx="80643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Montserrat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Objetivos Estratégicos: Sostenibilidad, IA y Equipo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9"/>
          <p:cNvSpPr/>
          <p:nvPr/>
        </p:nvSpPr>
        <p:spPr>
          <a:xfrm>
            <a:off x="539875" y="1660224"/>
            <a:ext cx="2588400" cy="2056200"/>
          </a:xfrm>
          <a:prstGeom prst="roundRect">
            <a:avLst>
              <a:gd fmla="val 120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691680" y="1805211"/>
            <a:ext cx="455700" cy="455700"/>
          </a:xfrm>
          <a:prstGeom prst="ellipse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6" name="Google Shape;2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6993" y="1930450"/>
            <a:ext cx="204932" cy="204936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/>
          <p:nvPr/>
        </p:nvSpPr>
        <p:spPr>
          <a:xfrm>
            <a:off x="691675" y="2410198"/>
            <a:ext cx="2284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OE2 — Sostenibilidad como motor de crecimiento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9"/>
          <p:cNvSpPr/>
          <p:nvPr/>
        </p:nvSpPr>
        <p:spPr>
          <a:xfrm>
            <a:off x="691605" y="2999621"/>
            <a:ext cx="22848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Colocaciones sostenibles de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S/ 16.5B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≥S/ 20B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9"/>
          <p:cNvSpPr/>
          <p:nvPr/>
        </p:nvSpPr>
        <p:spPr>
          <a:xfrm>
            <a:off x="3277724" y="1660224"/>
            <a:ext cx="2588400" cy="2056200"/>
          </a:xfrm>
          <a:prstGeom prst="roundRect">
            <a:avLst>
              <a:gd fmla="val 120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9"/>
          <p:cNvSpPr/>
          <p:nvPr/>
        </p:nvSpPr>
        <p:spPr>
          <a:xfrm>
            <a:off x="3429526" y="1805211"/>
            <a:ext cx="455700" cy="455700"/>
          </a:xfrm>
          <a:prstGeom prst="ellipse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1" name="Google Shape;30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4840" y="1930450"/>
            <a:ext cx="204932" cy="20493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9"/>
          <p:cNvSpPr/>
          <p:nvPr/>
        </p:nvSpPr>
        <p:spPr>
          <a:xfrm>
            <a:off x="3429526" y="2410197"/>
            <a:ext cx="22848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OE5 — Datos e IA para mejorar los procesos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9"/>
          <p:cNvSpPr/>
          <p:nvPr/>
        </p:nvSpPr>
        <p:spPr>
          <a:xfrm>
            <a:off x="3429526" y="2886671"/>
            <a:ext cx="22848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Ventas digitales de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79.57%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≥85%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3+ casos IA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en producción con impacto medido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9"/>
          <p:cNvSpPr/>
          <p:nvPr/>
        </p:nvSpPr>
        <p:spPr>
          <a:xfrm>
            <a:off x="6015648" y="1660224"/>
            <a:ext cx="2588400" cy="2056200"/>
          </a:xfrm>
          <a:prstGeom prst="roundRect">
            <a:avLst>
              <a:gd fmla="val 1204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9"/>
          <p:cNvSpPr/>
          <p:nvPr/>
        </p:nvSpPr>
        <p:spPr>
          <a:xfrm>
            <a:off x="6167447" y="1805211"/>
            <a:ext cx="455700" cy="455700"/>
          </a:xfrm>
          <a:prstGeom prst="ellipse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2761" y="1930450"/>
            <a:ext cx="204932" cy="204936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/>
          <p:nvPr/>
        </p:nvSpPr>
        <p:spPr>
          <a:xfrm>
            <a:off x="6167450" y="2410200"/>
            <a:ext cx="2436600" cy="2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4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OE6 — </a:t>
            </a:r>
            <a:r>
              <a:rPr b="1" lang="es" sz="1200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Fortalecer capacidades y colaboración del equipo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9"/>
          <p:cNvSpPr/>
          <p:nvPr/>
        </p:nvSpPr>
        <p:spPr>
          <a:xfrm>
            <a:off x="6167447" y="2886671"/>
            <a:ext cx="22848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Source Sans 3"/>
              <a:buNone/>
            </a:pP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Compromiso interno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≥93/100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Adopción Blue Buddy de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90%</a:t>
            </a:r>
            <a:r>
              <a:rPr b="0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 </a:t>
            </a:r>
            <a:r>
              <a:rPr b="1" i="0" lang="es" sz="12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≥95%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539875" y="3884563"/>
            <a:ext cx="8064300" cy="811800"/>
          </a:xfrm>
          <a:prstGeom prst="roundRect">
            <a:avLst>
              <a:gd fmla="val 2806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680" y="4091509"/>
            <a:ext cx="189751" cy="15180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9"/>
          <p:cNvSpPr/>
          <p:nvPr/>
        </p:nvSpPr>
        <p:spPr>
          <a:xfrm>
            <a:off x="1033241" y="4071938"/>
            <a:ext cx="74190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Source Sans 3"/>
              <a:buNone/>
            </a:pPr>
            <a:r>
              <a:rPr b="0" i="0" lang="es" sz="12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Los seis objetivos estratégicos (OE1–OE6) convergen en un único vector: </a:t>
            </a:r>
            <a:r>
              <a:rPr b="1" i="0" lang="es" sz="12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cerrar brechas de satisfacción, acelerar la digitalización y fortalecer el liderazgo de mercado en los próximos 18 meses.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666750" y="1238250"/>
            <a:ext cx="7810500" cy="2667000"/>
          </a:xfrm>
          <a:prstGeom prst="roundRect">
            <a:avLst>
              <a:gd fmla="val 5714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1095375" y="2000250"/>
            <a:ext cx="57300" cy="11430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30"/>
          <p:cNvGrpSpPr/>
          <p:nvPr/>
        </p:nvGrpSpPr>
        <p:grpSpPr>
          <a:xfrm>
            <a:off x="1333500" y="1428750"/>
            <a:ext cx="6762900" cy="2286000"/>
            <a:chOff x="0" y="0"/>
            <a:chExt cx="6762900" cy="2286000"/>
          </a:xfrm>
        </p:grpSpPr>
        <p:sp>
          <p:nvSpPr>
            <p:cNvPr id="320" name="Google Shape;320;p30"/>
            <p:cNvSpPr/>
            <p:nvPr/>
          </p:nvSpPr>
          <p:spPr>
            <a:xfrm>
              <a:off x="0" y="0"/>
              <a:ext cx="6762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0"/>
            <p:cNvSpPr txBox="1"/>
            <p:nvPr/>
          </p:nvSpPr>
          <p:spPr>
            <a:xfrm>
              <a:off x="0" y="0"/>
              <a:ext cx="6762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Identificación y priorización de los dolores de negocio y Alineamiento estratégico del dolor priorizado</a:t>
              </a:r>
              <a:endParaRPr b="1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322" name="Google Shape;322;p30"/>
          <p:cNvPicPr preferRelativeResize="0"/>
          <p:nvPr/>
        </p:nvPicPr>
        <p:blipFill rotWithShape="1">
          <a:blip r:embed="rId4">
            <a:alphaModFix/>
          </a:blip>
          <a:srcRect b="318" l="0" r="0" t="318"/>
          <a:stretch/>
        </p:blipFill>
        <p:spPr>
          <a:xfrm>
            <a:off x="8001000" y="381000"/>
            <a:ext cx="5715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8625" y="4714875"/>
            <a:ext cx="804000" cy="1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9" name="Google Shape;329;p31"/>
          <p:cNvGrpSpPr/>
          <p:nvPr/>
        </p:nvGrpSpPr>
        <p:grpSpPr>
          <a:xfrm>
            <a:off x="539877" y="428625"/>
            <a:ext cx="8064300" cy="695400"/>
            <a:chOff x="0" y="0"/>
            <a:chExt cx="8064300" cy="695400"/>
          </a:xfrm>
        </p:grpSpPr>
        <p:sp>
          <p:nvSpPr>
            <p:cNvPr id="330" name="Google Shape;330;p31"/>
            <p:cNvSpPr txBox="1"/>
            <p:nvPr/>
          </p:nvSpPr>
          <p:spPr>
            <a:xfrm>
              <a:off x="0" y="0"/>
              <a:ext cx="8064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Delimitación de los procesos extremo a extremo analizados</a:t>
              </a:r>
              <a:endParaRPr b="1" sz="20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1" name="Google Shape;331;p31"/>
            <p:cNvSpPr txBox="1"/>
            <p:nvPr/>
          </p:nvSpPr>
          <p:spPr>
            <a:xfrm>
              <a:off x="0" y="457200"/>
              <a:ext cx="80643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s" sz="1100">
                  <a:solidFill>
                    <a:srgbClr val="47556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Se identificaron tres procesos E2E como unidades de análisis, vinculados a los objetivos estratégicos (OE) declarados en el Entregable 1.</a:t>
              </a:r>
              <a:endParaRPr b="0" sz="1100">
                <a:solidFill>
                  <a:srgbClr val="475569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332" name="Google Shape;332;p31"/>
          <p:cNvGrpSpPr/>
          <p:nvPr/>
        </p:nvGrpSpPr>
        <p:grpSpPr>
          <a:xfrm>
            <a:off x="539877" y="1285875"/>
            <a:ext cx="8064300" cy="952500"/>
            <a:chOff x="0" y="0"/>
            <a:chExt cx="8064300" cy="952500"/>
          </a:xfrm>
        </p:grpSpPr>
        <p:sp>
          <p:nvSpPr>
            <p:cNvPr id="333" name="Google Shape;333;p31"/>
            <p:cNvSpPr/>
            <p:nvPr/>
          </p:nvSpPr>
          <p:spPr>
            <a:xfrm>
              <a:off x="0" y="0"/>
              <a:ext cx="80643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31"/>
            <p:cNvSpPr/>
            <p:nvPr/>
          </p:nvSpPr>
          <p:spPr>
            <a:xfrm>
              <a:off x="0" y="0"/>
              <a:ext cx="1095300" cy="952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5373"/>
                    <a:pt x="4672" y="0"/>
                    <a:pt x="10435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10435" y="120000"/>
                  </a:lnTo>
                  <a:cubicBezTo>
                    <a:pt x="7667" y="120000"/>
                    <a:pt x="5013" y="118736"/>
                    <a:pt x="3056" y="116485"/>
                  </a:cubicBezTo>
                  <a:cubicBezTo>
                    <a:pt x="1099" y="114235"/>
                    <a:pt x="0" y="111183"/>
                    <a:pt x="0" y="108000"/>
                  </a:cubicBezTo>
                  <a:close/>
                </a:path>
              </a:pathLst>
            </a:custGeom>
            <a:solidFill>
              <a:srgbClr val="0F2C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31"/>
            <p:cNvSpPr txBox="1"/>
            <p:nvPr/>
          </p:nvSpPr>
          <p:spPr>
            <a:xfrm>
              <a:off x="0" y="0"/>
              <a:ext cx="1095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E2E-1</a:t>
              </a:r>
              <a:r>
                <a:rPr lang="es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es" sz="750">
                  <a:solidFill>
                    <a:srgbClr val="93C5FD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CÓDIGO</a:t>
              </a:r>
              <a:endPara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6" name="Google Shape;336;p31"/>
            <p:cNvSpPr txBox="1"/>
            <p:nvPr/>
          </p:nvSpPr>
          <p:spPr>
            <a:xfrm>
              <a:off x="1285875" y="114300"/>
              <a:ext cx="4619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Originación de crédito Pyme</a:t>
              </a:r>
              <a:endParaRPr b="1" sz="12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47556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Desde la necesidad de liquidez del empresario hasta el desembolso y la primera cuota.</a:t>
              </a:r>
              <a:endParaRPr sz="1000">
                <a:solidFill>
                  <a:srgbClr val="475569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337" name="Google Shape;337;p31"/>
            <p:cNvSpPr txBox="1"/>
            <p:nvPr/>
          </p:nvSpPr>
          <p:spPr>
            <a:xfrm>
              <a:off x="6048375" y="114300"/>
              <a:ext cx="18573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75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OBJ. ESTRATÉGICOS</a:t>
              </a:r>
              <a:endParaRPr b="1" sz="7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" sz="950">
                  <a:solidFill>
                    <a:srgbClr val="1D4ED8"/>
                  </a:solidFill>
                  <a:highlight>
                    <a:srgbClr val="EFF6FF"/>
                  </a:highlight>
                  <a:latin typeface="Montserrat"/>
                  <a:ea typeface="Montserrat"/>
                  <a:cs typeface="Montserrat"/>
                  <a:sym typeface="Montserrat"/>
                </a:rPr>
                <a:t>OE3</a:t>
              </a:r>
              <a:r>
                <a:rPr b="1" lang="es" sz="950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1" lang="es" sz="950">
                  <a:solidFill>
                    <a:srgbClr val="1D4ED8"/>
                  </a:solidFill>
                  <a:highlight>
                    <a:srgbClr val="EFF6FF"/>
                  </a:highlight>
                  <a:latin typeface="Montserrat"/>
                  <a:ea typeface="Montserrat"/>
                  <a:cs typeface="Montserrat"/>
                  <a:sym typeface="Montserrat"/>
                </a:rPr>
                <a:t>OE4</a:t>
              </a:r>
              <a:r>
                <a:rPr b="1" lang="es" sz="950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1" lang="es" sz="950">
                  <a:solidFill>
                    <a:srgbClr val="1D4ED8"/>
                  </a:solidFill>
                  <a:highlight>
                    <a:srgbClr val="EFF6FF"/>
                  </a:highlight>
                  <a:latin typeface="Montserrat"/>
                  <a:ea typeface="Montserrat"/>
                  <a:cs typeface="Montserrat"/>
                  <a:sym typeface="Montserrat"/>
                </a:rPr>
                <a:t>OE5</a:t>
              </a:r>
              <a:endParaRPr b="1" sz="95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38" name="Google Shape;338;p31"/>
          <p:cNvGrpSpPr/>
          <p:nvPr/>
        </p:nvGrpSpPr>
        <p:grpSpPr>
          <a:xfrm>
            <a:off x="539877" y="2381250"/>
            <a:ext cx="8064300" cy="952500"/>
            <a:chOff x="0" y="0"/>
            <a:chExt cx="8064300" cy="952500"/>
          </a:xfrm>
        </p:grpSpPr>
        <p:sp>
          <p:nvSpPr>
            <p:cNvPr id="339" name="Google Shape;339;p31"/>
            <p:cNvSpPr/>
            <p:nvPr/>
          </p:nvSpPr>
          <p:spPr>
            <a:xfrm>
              <a:off x="0" y="0"/>
              <a:ext cx="80643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1"/>
            <p:cNvSpPr/>
            <p:nvPr/>
          </p:nvSpPr>
          <p:spPr>
            <a:xfrm>
              <a:off x="0" y="0"/>
              <a:ext cx="1095300" cy="952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5373"/>
                    <a:pt x="4672" y="0"/>
                    <a:pt x="10435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10435" y="120000"/>
                  </a:lnTo>
                  <a:cubicBezTo>
                    <a:pt x="7667" y="120000"/>
                    <a:pt x="5013" y="118736"/>
                    <a:pt x="3056" y="116485"/>
                  </a:cubicBezTo>
                  <a:cubicBezTo>
                    <a:pt x="1099" y="114235"/>
                    <a:pt x="0" y="111183"/>
                    <a:pt x="0" y="108000"/>
                  </a:cubicBezTo>
                  <a:close/>
                </a:path>
              </a:pathLst>
            </a:custGeom>
            <a:solidFill>
              <a:srgbClr val="0F2C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1"/>
            <p:cNvSpPr txBox="1"/>
            <p:nvPr/>
          </p:nvSpPr>
          <p:spPr>
            <a:xfrm>
              <a:off x="0" y="0"/>
              <a:ext cx="1095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E2E-2</a:t>
              </a:r>
              <a:r>
                <a:rPr lang="es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es" sz="750">
                  <a:solidFill>
                    <a:srgbClr val="93C5FD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CÓDIGO</a:t>
              </a:r>
              <a:endPara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2" name="Google Shape;342;p31"/>
            <p:cNvSpPr txBox="1"/>
            <p:nvPr/>
          </p:nvSpPr>
          <p:spPr>
            <a:xfrm>
              <a:off x="1285875" y="114300"/>
              <a:ext cx="4619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Operaciones no reconocidas y fraude digital</a:t>
              </a:r>
              <a:endParaRPr b="1" sz="12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47556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Desde la transacción no autorizada hasta la resolución del reclamo y la eventual devolución.</a:t>
              </a:r>
              <a:endParaRPr sz="1000">
                <a:solidFill>
                  <a:srgbClr val="475569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343" name="Google Shape;343;p31"/>
            <p:cNvSpPr txBox="1"/>
            <p:nvPr/>
          </p:nvSpPr>
          <p:spPr>
            <a:xfrm>
              <a:off x="6048375" y="114300"/>
              <a:ext cx="18573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75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OBJ. ESTRATÉGICOS</a:t>
              </a:r>
              <a:endParaRPr b="1" sz="7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" sz="950">
                  <a:solidFill>
                    <a:srgbClr val="1D4ED8"/>
                  </a:solidFill>
                  <a:highlight>
                    <a:srgbClr val="EFF6FF"/>
                  </a:highlight>
                  <a:latin typeface="Montserrat"/>
                  <a:ea typeface="Montserrat"/>
                  <a:cs typeface="Montserrat"/>
                  <a:sym typeface="Montserrat"/>
                </a:rPr>
                <a:t>OE1</a:t>
              </a:r>
              <a:r>
                <a:rPr b="1" lang="es" sz="950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1" lang="es" sz="950">
                  <a:solidFill>
                    <a:srgbClr val="1D4ED8"/>
                  </a:solidFill>
                  <a:highlight>
                    <a:srgbClr val="EFF6FF"/>
                  </a:highlight>
                  <a:latin typeface="Montserrat"/>
                  <a:ea typeface="Montserrat"/>
                  <a:cs typeface="Montserrat"/>
                  <a:sym typeface="Montserrat"/>
                </a:rPr>
                <a:t>OE5</a:t>
              </a:r>
              <a:endParaRPr b="1" sz="95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44" name="Google Shape;344;p31"/>
          <p:cNvGrpSpPr/>
          <p:nvPr/>
        </p:nvGrpSpPr>
        <p:grpSpPr>
          <a:xfrm>
            <a:off x="539877" y="3476625"/>
            <a:ext cx="8064300" cy="952500"/>
            <a:chOff x="0" y="0"/>
            <a:chExt cx="8064300" cy="952500"/>
          </a:xfrm>
        </p:grpSpPr>
        <p:sp>
          <p:nvSpPr>
            <p:cNvPr id="345" name="Google Shape;345;p31"/>
            <p:cNvSpPr/>
            <p:nvPr/>
          </p:nvSpPr>
          <p:spPr>
            <a:xfrm>
              <a:off x="0" y="0"/>
              <a:ext cx="8064300" cy="9525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1"/>
            <p:cNvSpPr/>
            <p:nvPr/>
          </p:nvSpPr>
          <p:spPr>
            <a:xfrm>
              <a:off x="0" y="0"/>
              <a:ext cx="1095300" cy="952500"/>
            </a:xfrm>
            <a:custGeom>
              <a:rect b="b" l="l" r="r" t="t"/>
              <a:pathLst>
                <a:path extrusionOk="0" h="120000" w="120000">
                  <a:moveTo>
                    <a:pt x="0" y="12000"/>
                  </a:moveTo>
                  <a:cubicBezTo>
                    <a:pt x="0" y="5373"/>
                    <a:pt x="4672" y="0"/>
                    <a:pt x="10435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10435" y="120000"/>
                  </a:lnTo>
                  <a:cubicBezTo>
                    <a:pt x="7667" y="120000"/>
                    <a:pt x="5013" y="118736"/>
                    <a:pt x="3056" y="116485"/>
                  </a:cubicBezTo>
                  <a:cubicBezTo>
                    <a:pt x="1099" y="114235"/>
                    <a:pt x="0" y="111183"/>
                    <a:pt x="0" y="108000"/>
                  </a:cubicBezTo>
                  <a:close/>
                </a:path>
              </a:pathLst>
            </a:custGeom>
            <a:solidFill>
              <a:srgbClr val="0F2C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1"/>
            <p:cNvSpPr txBox="1"/>
            <p:nvPr/>
          </p:nvSpPr>
          <p:spPr>
            <a:xfrm>
              <a:off x="0" y="0"/>
              <a:ext cx="1095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4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E2E-3</a:t>
              </a:r>
              <a:r>
                <a:rPr lang="es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0" lang="es" sz="750">
                  <a:solidFill>
                    <a:srgbClr val="93C5FD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CÓDIGO</a:t>
              </a:r>
              <a:endParaRPr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8" name="Google Shape;348;p31"/>
            <p:cNvSpPr txBox="1"/>
            <p:nvPr/>
          </p:nvSpPr>
          <p:spPr>
            <a:xfrm>
              <a:off x="1285875" y="114300"/>
              <a:ext cx="46197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Contratación de productos por canal digital</a:t>
              </a:r>
              <a:endParaRPr b="1" sz="12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" sz="1000">
                  <a:solidFill>
                    <a:srgbClr val="475569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Desde el interés del cliente hasta la contratación efectiva y el primer uso del producto.</a:t>
              </a:r>
              <a:endParaRPr sz="1000">
                <a:solidFill>
                  <a:srgbClr val="475569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349" name="Google Shape;349;p31"/>
            <p:cNvSpPr txBox="1"/>
            <p:nvPr/>
          </p:nvSpPr>
          <p:spPr>
            <a:xfrm>
              <a:off x="6048375" y="114300"/>
              <a:ext cx="18573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75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OBJ. ESTRATÉGICOS</a:t>
              </a:r>
              <a:endParaRPr b="1" sz="75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s" sz="950">
                  <a:solidFill>
                    <a:srgbClr val="1D4ED8"/>
                  </a:solidFill>
                  <a:highlight>
                    <a:srgbClr val="EFF6FF"/>
                  </a:highlight>
                  <a:latin typeface="Montserrat"/>
                  <a:ea typeface="Montserrat"/>
                  <a:cs typeface="Montserrat"/>
                  <a:sym typeface="Montserrat"/>
                </a:rPr>
                <a:t>OE1</a:t>
              </a:r>
              <a:r>
                <a:rPr b="1" lang="es" sz="950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1" lang="es" sz="950">
                  <a:solidFill>
                    <a:srgbClr val="1D4ED8"/>
                  </a:solidFill>
                  <a:highlight>
                    <a:srgbClr val="EFF6FF"/>
                  </a:highlight>
                  <a:latin typeface="Montserrat"/>
                  <a:ea typeface="Montserrat"/>
                  <a:cs typeface="Montserrat"/>
                  <a:sym typeface="Montserrat"/>
                </a:rPr>
                <a:t>OE4</a:t>
              </a:r>
              <a:r>
                <a:rPr b="1" lang="es" sz="950"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b="1" lang="es" sz="950">
                  <a:solidFill>
                    <a:srgbClr val="1D4ED8"/>
                  </a:solidFill>
                  <a:highlight>
                    <a:srgbClr val="EFF6FF"/>
                  </a:highlight>
                  <a:latin typeface="Montserrat"/>
                  <a:ea typeface="Montserrat"/>
                  <a:cs typeface="Montserrat"/>
                  <a:sym typeface="Montserrat"/>
                </a:rPr>
                <a:t>OE5</a:t>
              </a:r>
              <a:endParaRPr b="1" sz="95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/>
          <p:nvPr/>
        </p:nvSpPr>
        <p:spPr>
          <a:xfrm>
            <a:off x="428636" y="285750"/>
            <a:ext cx="828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Customer Journey Map E2E-1: Originación de crédito Pyme</a:t>
            </a:r>
            <a:endParaRPr b="1" i="0" sz="15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56" name="Google Shape;356;p32"/>
          <p:cNvGrpSpPr/>
          <p:nvPr/>
        </p:nvGrpSpPr>
        <p:grpSpPr>
          <a:xfrm>
            <a:off x="428636" y="678656"/>
            <a:ext cx="2929050" cy="4143375"/>
            <a:chOff x="0" y="0"/>
            <a:chExt cx="3905400" cy="5524500"/>
          </a:xfrm>
        </p:grpSpPr>
        <p:sp>
          <p:nvSpPr>
            <p:cNvPr id="357" name="Google Shape;357;p32"/>
            <p:cNvSpPr/>
            <p:nvPr/>
          </p:nvSpPr>
          <p:spPr>
            <a:xfrm>
              <a:off x="0" y="0"/>
              <a:ext cx="3905400" cy="5524500"/>
            </a:xfrm>
            <a:prstGeom prst="roundRect">
              <a:avLst>
                <a:gd fmla="val 2926" name="adj"/>
              </a:avLst>
            </a:prstGeom>
            <a:solidFill>
              <a:srgbClr val="0F2C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2"/>
            <p:cNvSpPr txBox="1"/>
            <p:nvPr/>
          </p:nvSpPr>
          <p:spPr>
            <a:xfrm>
              <a:off x="228600" y="190500"/>
              <a:ext cx="3448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s" sz="800" u="none" cap="none" strike="noStrike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CIFRAS CLAVE DEL CONTEXTO</a:t>
              </a:r>
              <a:endParaRPr b="1" i="0" sz="800" u="none" cap="none" strike="noStrik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59" name="Google Shape;359;p32"/>
            <p:cNvGrpSpPr/>
            <p:nvPr/>
          </p:nvGrpSpPr>
          <p:grpSpPr>
            <a:xfrm>
              <a:off x="228600" y="495300"/>
              <a:ext cx="3448200" cy="1485900"/>
              <a:chOff x="0" y="0"/>
              <a:chExt cx="3448200" cy="1485900"/>
            </a:xfrm>
          </p:grpSpPr>
          <p:sp>
            <p:nvSpPr>
              <p:cNvPr id="360" name="Google Shape;360;p32"/>
              <p:cNvSpPr/>
              <p:nvPr/>
            </p:nvSpPr>
            <p:spPr>
              <a:xfrm>
                <a:off x="0" y="0"/>
                <a:ext cx="3448200" cy="1485900"/>
              </a:xfrm>
              <a:prstGeom prst="roundRect">
                <a:avLst>
                  <a:gd fmla="val 5128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32"/>
              <p:cNvSpPr txBox="1"/>
              <p:nvPr/>
            </p:nvSpPr>
            <p:spPr>
              <a:xfrm>
                <a:off x="190500" y="152400"/>
                <a:ext cx="3067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s" sz="24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+48%</a:t>
                </a:r>
                <a:endParaRPr b="1" i="0" sz="2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93C5FD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Facturación trimestral</a:t>
                </a:r>
                <a:endParaRPr b="1" i="0" sz="800" u="none" cap="none" strike="noStrike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vs. 2T2025 (Reusche, 2026)</a:t>
                </a:r>
                <a:endParaRPr b="0" i="0" sz="700" u="none" cap="none" strike="noStrike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362" name="Google Shape;362;p32"/>
            <p:cNvGrpSpPr/>
            <p:nvPr/>
          </p:nvGrpSpPr>
          <p:grpSpPr>
            <a:xfrm>
              <a:off x="228600" y="2133600"/>
              <a:ext cx="3448200" cy="1485900"/>
              <a:chOff x="0" y="0"/>
              <a:chExt cx="3448200" cy="1485900"/>
            </a:xfrm>
          </p:grpSpPr>
          <p:sp>
            <p:nvSpPr>
              <p:cNvPr id="363" name="Google Shape;363;p32"/>
              <p:cNvSpPr/>
              <p:nvPr/>
            </p:nvSpPr>
            <p:spPr>
              <a:xfrm>
                <a:off x="0" y="0"/>
                <a:ext cx="3448200" cy="1485900"/>
              </a:xfrm>
              <a:prstGeom prst="roundRect">
                <a:avLst>
                  <a:gd fmla="val 5128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32"/>
              <p:cNvSpPr txBox="1"/>
              <p:nvPr/>
            </p:nvSpPr>
            <p:spPr>
              <a:xfrm>
                <a:off x="190500" y="152400"/>
                <a:ext cx="3067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s" sz="24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33.6</a:t>
                </a:r>
                <a:endParaRPr b="1" i="0" sz="2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93C5FD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NPS Pyme</a:t>
                </a:r>
                <a:endParaRPr b="1" i="0" sz="800" u="none" cap="none" strike="noStrike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vs. 52.57 en retail (BBVA Perú, 2026b)</a:t>
                </a:r>
                <a:endParaRPr b="0" i="0" sz="700" u="none" cap="none" strike="noStrike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365" name="Google Shape;365;p32"/>
            <p:cNvGrpSpPr/>
            <p:nvPr/>
          </p:nvGrpSpPr>
          <p:grpSpPr>
            <a:xfrm>
              <a:off x="228600" y="3771900"/>
              <a:ext cx="3448200" cy="1485900"/>
              <a:chOff x="0" y="0"/>
              <a:chExt cx="3448200" cy="1485900"/>
            </a:xfrm>
          </p:grpSpPr>
          <p:sp>
            <p:nvSpPr>
              <p:cNvPr id="366" name="Google Shape;366;p32"/>
              <p:cNvSpPr/>
              <p:nvPr/>
            </p:nvSpPr>
            <p:spPr>
              <a:xfrm>
                <a:off x="0" y="0"/>
                <a:ext cx="3448200" cy="1485900"/>
              </a:xfrm>
              <a:prstGeom prst="roundRect">
                <a:avLst>
                  <a:gd fmla="val 5128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32"/>
              <p:cNvSpPr txBox="1"/>
              <p:nvPr/>
            </p:nvSpPr>
            <p:spPr>
              <a:xfrm>
                <a:off x="190500" y="152400"/>
                <a:ext cx="3067200" cy="11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b="1" i="0" lang="es" sz="24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1/3</a:t>
                </a:r>
                <a:endParaRPr b="1" i="0" sz="24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93C5FD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Colocaciones digitales</a:t>
                </a:r>
                <a:endParaRPr b="1" i="0" sz="800" u="none" cap="none" strike="noStrike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pese a ciclo de 3 minutos (Reusche, 2026)</a:t>
                </a:r>
                <a:endParaRPr b="0" i="0" sz="700" u="none" cap="none" strike="noStrike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</p:grpSp>
      <p:grpSp>
        <p:nvGrpSpPr>
          <p:cNvPr id="368" name="Google Shape;368;p32"/>
          <p:cNvGrpSpPr/>
          <p:nvPr/>
        </p:nvGrpSpPr>
        <p:grpSpPr>
          <a:xfrm>
            <a:off x="3571970" y="678656"/>
            <a:ext cx="5143500" cy="4086338"/>
            <a:chOff x="0" y="0"/>
            <a:chExt cx="6858000" cy="5448450"/>
          </a:xfrm>
        </p:grpSpPr>
        <p:sp>
          <p:nvSpPr>
            <p:cNvPr id="369" name="Google Shape;369;p32"/>
            <p:cNvSpPr txBox="1"/>
            <p:nvPr/>
          </p:nvSpPr>
          <p:spPr>
            <a:xfrm>
              <a:off x="0" y="0"/>
              <a:ext cx="68580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Etapas del journey y dolores observados</a:t>
              </a:r>
              <a:endParaRPr b="1" i="0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370" name="Google Shape;370;p32"/>
            <p:cNvGrpSpPr/>
            <p:nvPr/>
          </p:nvGrpSpPr>
          <p:grpSpPr>
            <a:xfrm>
              <a:off x="0" y="333375"/>
              <a:ext cx="6858000" cy="781200"/>
              <a:chOff x="0" y="0"/>
              <a:chExt cx="6858000" cy="781200"/>
            </a:xfrm>
          </p:grpSpPr>
          <p:sp>
            <p:nvSpPr>
              <p:cNvPr id="371" name="Google Shape;371;p32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32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32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32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75" name="Google Shape;375;p32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Necesidad y búsqueda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Empresario desconoce para qué producto califica antes de iniciar el proceso.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376" name="Google Shape;376;p32"/>
            <p:cNvGrpSpPr/>
            <p:nvPr/>
          </p:nvGrpSpPr>
          <p:grpSpPr>
            <a:xfrm>
              <a:off x="0" y="1200150"/>
              <a:ext cx="6858000" cy="781200"/>
              <a:chOff x="0" y="0"/>
              <a:chExt cx="6858000" cy="781200"/>
            </a:xfrm>
          </p:grpSpPr>
          <p:sp>
            <p:nvSpPr>
              <p:cNvPr id="377" name="Google Shape;377;p32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32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32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32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81" name="Google Shape;381;p32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Solicitud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Ruta asistida exige documentación financiera que la microempresa no produce de forma estructurada (Melo, 2026).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382" name="Google Shape;382;p32"/>
            <p:cNvGrpSpPr/>
            <p:nvPr/>
          </p:nvGrpSpPr>
          <p:grpSpPr>
            <a:xfrm>
              <a:off x="0" y="2066925"/>
              <a:ext cx="6858000" cy="781200"/>
              <a:chOff x="0" y="0"/>
              <a:chExt cx="6858000" cy="781200"/>
            </a:xfrm>
          </p:grpSpPr>
          <p:sp>
            <p:nvSpPr>
              <p:cNvPr id="383" name="Google Shape;383;p32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32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32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32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87" name="Google Shape;387;p32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Evaluación crediticia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Información no verificable eleva costos trasladados al cliente vía tasa o restricción (Melo, 2026).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388" name="Google Shape;388;p32"/>
            <p:cNvGrpSpPr/>
            <p:nvPr/>
          </p:nvGrpSpPr>
          <p:grpSpPr>
            <a:xfrm>
              <a:off x="0" y="2933700"/>
              <a:ext cx="6858000" cy="781200"/>
              <a:chOff x="0" y="0"/>
              <a:chExt cx="6858000" cy="781200"/>
            </a:xfrm>
          </p:grpSpPr>
          <p:sp>
            <p:nvSpPr>
              <p:cNvPr id="389" name="Google Shape;389;p32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32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32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32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4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93" name="Google Shape;393;p32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Aprobación y formalización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Brecha de experiencia: 3 minutos en canal digital vs. solo 1/3 de créditos por esa vía (Reusche, 2026).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394" name="Google Shape;394;p32"/>
            <p:cNvGrpSpPr/>
            <p:nvPr/>
          </p:nvGrpSpPr>
          <p:grpSpPr>
            <a:xfrm>
              <a:off x="0" y="3800475"/>
              <a:ext cx="6858000" cy="781200"/>
              <a:chOff x="0" y="0"/>
              <a:chExt cx="6858000" cy="781200"/>
            </a:xfrm>
          </p:grpSpPr>
          <p:sp>
            <p:nvSpPr>
              <p:cNvPr id="395" name="Google Shape;395;p32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32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32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32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5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399" name="Google Shape;399;p32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Desembolso y primer uso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Desembolso inmediato solo con oferta o línea previamente aprobada (BBVA Perú, s.f.-b, s.f.-c).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400" name="Google Shape;400;p32"/>
            <p:cNvGrpSpPr/>
            <p:nvPr/>
          </p:nvGrpSpPr>
          <p:grpSpPr>
            <a:xfrm>
              <a:off x="0" y="4667250"/>
              <a:ext cx="6858000" cy="781200"/>
              <a:chOff x="0" y="0"/>
              <a:chExt cx="6858000" cy="781200"/>
            </a:xfrm>
          </p:grpSpPr>
          <p:sp>
            <p:nvSpPr>
              <p:cNvPr id="401" name="Google Shape;401;p32"/>
              <p:cNvSpPr/>
              <p:nvPr/>
            </p:nvSpPr>
            <p:spPr>
              <a:xfrm>
                <a:off x="0" y="0"/>
                <a:ext cx="6858000" cy="781200"/>
              </a:xfrm>
              <a:prstGeom prst="roundRect">
                <a:avLst>
                  <a:gd fmla="val 12195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2"/>
              <p:cNvSpPr/>
              <p:nvPr/>
            </p:nvSpPr>
            <p:spPr>
              <a:xfrm>
                <a:off x="0" y="0"/>
                <a:ext cx="57300" cy="7812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32"/>
              <p:cNvSpPr/>
              <p:nvPr/>
            </p:nvSpPr>
            <p:spPr>
              <a:xfrm>
                <a:off x="200025" y="247650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32"/>
              <p:cNvSpPr txBox="1"/>
              <p:nvPr/>
            </p:nvSpPr>
            <p:spPr>
              <a:xfrm>
                <a:off x="200025" y="247650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6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05" name="Google Shape;405;p32"/>
              <p:cNvSpPr txBox="1"/>
              <p:nvPr/>
            </p:nvSpPr>
            <p:spPr>
              <a:xfrm>
                <a:off x="609600" y="95250"/>
                <a:ext cx="6057900" cy="5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Uso y seguimiento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s" sz="700" u="none" cap="none" strike="noStrike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26%</a:t>
                </a: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de cartera Pyme aún no opera por canales digitales (BBVA, 2026b).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3"/>
          <p:cNvSpPr/>
          <p:nvPr/>
        </p:nvSpPr>
        <p:spPr>
          <a:xfrm>
            <a:off x="428625" y="266700"/>
            <a:ext cx="8286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Service Blueprint E2E-2: Operaciones no reconocidas</a:t>
            </a:r>
            <a:endParaRPr b="1" sz="1500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12" name="Google Shape;412;p33"/>
          <p:cNvGrpSpPr/>
          <p:nvPr/>
        </p:nvGrpSpPr>
        <p:grpSpPr>
          <a:xfrm>
            <a:off x="428625" y="685800"/>
            <a:ext cx="8286900" cy="2152650"/>
            <a:chOff x="0" y="0"/>
            <a:chExt cx="8286900" cy="2152650"/>
          </a:xfrm>
        </p:grpSpPr>
        <p:sp>
          <p:nvSpPr>
            <p:cNvPr id="413" name="Google Shape;413;p33"/>
            <p:cNvSpPr txBox="1"/>
            <p:nvPr/>
          </p:nvSpPr>
          <p:spPr>
            <a:xfrm>
              <a:off x="0" y="0"/>
              <a:ext cx="82869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rgbClr val="D9770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Línea de interacción (visible al cliente)</a:t>
              </a:r>
              <a:endParaRPr b="1" sz="800">
                <a:solidFill>
                  <a:srgbClr val="D9770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14" name="Google Shape;414;p33"/>
            <p:cNvGrpSpPr/>
            <p:nvPr/>
          </p:nvGrpSpPr>
          <p:grpSpPr>
            <a:xfrm>
              <a:off x="0" y="209550"/>
              <a:ext cx="1962300" cy="971550"/>
              <a:chOff x="0" y="0"/>
              <a:chExt cx="1962300" cy="971550"/>
            </a:xfrm>
          </p:grpSpPr>
          <p:sp>
            <p:nvSpPr>
              <p:cNvPr id="415" name="Google Shape;415;p33"/>
              <p:cNvSpPr/>
              <p:nvPr/>
            </p:nvSpPr>
            <p:spPr>
              <a:xfrm>
                <a:off x="0" y="0"/>
                <a:ext cx="1962300" cy="304800"/>
              </a:xfrm>
              <a:prstGeom prst="roundRect">
                <a:avLst>
                  <a:gd fmla="val 1875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33"/>
              <p:cNvSpPr txBox="1"/>
              <p:nvPr/>
            </p:nvSpPr>
            <p:spPr>
              <a:xfrm>
                <a:off x="0" y="0"/>
                <a:ext cx="19623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9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1. Detección</a:t>
                </a:r>
                <a:endParaRPr b="1" sz="9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17" name="Google Shape;417;p33"/>
              <p:cNvSpPr/>
              <p:nvPr/>
            </p:nvSpPr>
            <p:spPr>
              <a:xfrm>
                <a:off x="0" y="361950"/>
                <a:ext cx="1962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FFBEB"/>
              </a:solidFill>
              <a:ln cap="flat" cmpd="sng" w="9525">
                <a:solidFill>
                  <a:srgbClr val="FDE68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33"/>
              <p:cNvSpPr txBox="1"/>
              <p:nvPr/>
            </p:nvSpPr>
            <p:spPr>
              <a:xfrm>
                <a:off x="95250" y="361950"/>
                <a:ext cx="1771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" sz="850">
                    <a:solidFill>
                      <a:srgbClr val="1E293B"/>
                    </a:solidFill>
                    <a:latin typeface="Source Sans 3 SemiBold"/>
                    <a:ea typeface="Source Sans 3 SemiBold"/>
                    <a:cs typeface="Source Sans 3 SemiBold"/>
                    <a:sym typeface="Source Sans 3 SemiBold"/>
                  </a:rPr>
                  <a:t>Alerta automática de transacción</a:t>
                </a:r>
                <a:endParaRPr b="0" sz="850">
                  <a:solidFill>
                    <a:srgbClr val="1E293B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endParaRPr>
              </a:p>
            </p:txBody>
          </p:sp>
        </p:grpSp>
        <p:grpSp>
          <p:nvGrpSpPr>
            <p:cNvPr id="419" name="Google Shape;419;p33"/>
            <p:cNvGrpSpPr/>
            <p:nvPr/>
          </p:nvGrpSpPr>
          <p:grpSpPr>
            <a:xfrm>
              <a:off x="2105025" y="209550"/>
              <a:ext cx="1962300" cy="971550"/>
              <a:chOff x="0" y="0"/>
              <a:chExt cx="1962300" cy="971550"/>
            </a:xfrm>
          </p:grpSpPr>
          <p:sp>
            <p:nvSpPr>
              <p:cNvPr id="420" name="Google Shape;420;p33"/>
              <p:cNvSpPr/>
              <p:nvPr/>
            </p:nvSpPr>
            <p:spPr>
              <a:xfrm>
                <a:off x="0" y="0"/>
                <a:ext cx="1962300" cy="304800"/>
              </a:xfrm>
              <a:prstGeom prst="roundRect">
                <a:avLst>
                  <a:gd fmla="val 1875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33"/>
              <p:cNvSpPr txBox="1"/>
              <p:nvPr/>
            </p:nvSpPr>
            <p:spPr>
              <a:xfrm>
                <a:off x="0" y="0"/>
                <a:ext cx="19623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9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2. Reporte</a:t>
                </a:r>
                <a:endParaRPr b="1" sz="9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22" name="Google Shape;422;p33"/>
              <p:cNvSpPr/>
              <p:nvPr/>
            </p:nvSpPr>
            <p:spPr>
              <a:xfrm>
                <a:off x="0" y="361950"/>
                <a:ext cx="1962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FFBEB"/>
              </a:solidFill>
              <a:ln cap="flat" cmpd="sng" w="9525">
                <a:solidFill>
                  <a:srgbClr val="FDE68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3" name="Google Shape;423;p33"/>
              <p:cNvSpPr txBox="1"/>
              <p:nvPr/>
            </p:nvSpPr>
            <p:spPr>
              <a:xfrm>
                <a:off x="95250" y="361950"/>
                <a:ext cx="1771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" sz="850">
                    <a:solidFill>
                      <a:srgbClr val="1E293B"/>
                    </a:solidFill>
                    <a:latin typeface="Source Sans 3 SemiBold"/>
                    <a:ea typeface="Source Sans 3 SemiBold"/>
                    <a:cs typeface="Source Sans 3 SemiBold"/>
                    <a:sym typeface="Source Sans 3 SemiBold"/>
                  </a:rPr>
                  <a:t>Blue Buddy / asesor / canal digital</a:t>
                </a:r>
                <a:endParaRPr b="0" sz="850">
                  <a:solidFill>
                    <a:srgbClr val="1E293B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endParaRPr>
              </a:p>
            </p:txBody>
          </p:sp>
        </p:grpSp>
        <p:grpSp>
          <p:nvGrpSpPr>
            <p:cNvPr id="424" name="Google Shape;424;p33"/>
            <p:cNvGrpSpPr/>
            <p:nvPr/>
          </p:nvGrpSpPr>
          <p:grpSpPr>
            <a:xfrm>
              <a:off x="4210050" y="209550"/>
              <a:ext cx="1962300" cy="971550"/>
              <a:chOff x="0" y="0"/>
              <a:chExt cx="1962300" cy="971550"/>
            </a:xfrm>
          </p:grpSpPr>
          <p:sp>
            <p:nvSpPr>
              <p:cNvPr id="425" name="Google Shape;425;p33"/>
              <p:cNvSpPr/>
              <p:nvPr/>
            </p:nvSpPr>
            <p:spPr>
              <a:xfrm>
                <a:off x="0" y="0"/>
                <a:ext cx="1962300" cy="304800"/>
              </a:xfrm>
              <a:prstGeom prst="roundRect">
                <a:avLst>
                  <a:gd fmla="val 1875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33"/>
              <p:cNvSpPr txBox="1"/>
              <p:nvPr/>
            </p:nvSpPr>
            <p:spPr>
              <a:xfrm>
                <a:off x="0" y="0"/>
                <a:ext cx="19623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9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3. Investigación</a:t>
                </a:r>
                <a:endParaRPr b="1" sz="9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27" name="Google Shape;427;p33"/>
              <p:cNvSpPr/>
              <p:nvPr/>
            </p:nvSpPr>
            <p:spPr>
              <a:xfrm>
                <a:off x="0" y="361950"/>
                <a:ext cx="1962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FFBEB"/>
              </a:solidFill>
              <a:ln cap="flat" cmpd="sng" w="9525">
                <a:solidFill>
                  <a:srgbClr val="FDE68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33"/>
              <p:cNvSpPr txBox="1"/>
              <p:nvPr/>
            </p:nvSpPr>
            <p:spPr>
              <a:xfrm>
                <a:off x="95250" y="361950"/>
                <a:ext cx="1771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" sz="850">
                    <a:solidFill>
                      <a:srgbClr val="1E293B"/>
                    </a:solidFill>
                    <a:latin typeface="Source Sans 3 SemiBold"/>
                    <a:ea typeface="Source Sans 3 SemiBold"/>
                    <a:cs typeface="Source Sans 3 SemiBold"/>
                    <a:sym typeface="Source Sans 3 SemiBold"/>
                  </a:rPr>
                  <a:t>Respuesta de estado ante consulta</a:t>
                </a:r>
                <a:endParaRPr b="0" sz="850">
                  <a:solidFill>
                    <a:srgbClr val="1E293B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endParaRPr>
              </a:p>
            </p:txBody>
          </p:sp>
        </p:grpSp>
        <p:grpSp>
          <p:nvGrpSpPr>
            <p:cNvPr id="429" name="Google Shape;429;p33"/>
            <p:cNvGrpSpPr/>
            <p:nvPr/>
          </p:nvGrpSpPr>
          <p:grpSpPr>
            <a:xfrm>
              <a:off x="6324600" y="209550"/>
              <a:ext cx="1962300" cy="971550"/>
              <a:chOff x="0" y="0"/>
              <a:chExt cx="1962300" cy="971550"/>
            </a:xfrm>
          </p:grpSpPr>
          <p:sp>
            <p:nvSpPr>
              <p:cNvPr id="430" name="Google Shape;430;p33"/>
              <p:cNvSpPr/>
              <p:nvPr/>
            </p:nvSpPr>
            <p:spPr>
              <a:xfrm>
                <a:off x="0" y="0"/>
                <a:ext cx="1962300" cy="304800"/>
              </a:xfrm>
              <a:prstGeom prst="roundRect">
                <a:avLst>
                  <a:gd fmla="val 1875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33"/>
              <p:cNvSpPr txBox="1"/>
              <p:nvPr/>
            </p:nvSpPr>
            <p:spPr>
              <a:xfrm>
                <a:off x="0" y="0"/>
                <a:ext cx="19623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95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4. Resolución</a:t>
                </a:r>
                <a:endParaRPr b="1" sz="95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32" name="Google Shape;432;p33"/>
              <p:cNvSpPr/>
              <p:nvPr/>
            </p:nvSpPr>
            <p:spPr>
              <a:xfrm>
                <a:off x="0" y="361950"/>
                <a:ext cx="1962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FFBEB"/>
              </a:solidFill>
              <a:ln cap="flat" cmpd="sng" w="9525">
                <a:solidFill>
                  <a:srgbClr val="FDE68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33"/>
              <p:cNvSpPr txBox="1"/>
              <p:nvPr/>
            </p:nvSpPr>
            <p:spPr>
              <a:xfrm>
                <a:off x="95250" y="361950"/>
                <a:ext cx="1771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" sz="850">
                    <a:solidFill>
                      <a:srgbClr val="1E293B"/>
                    </a:solidFill>
                    <a:latin typeface="Source Sans 3 SemiBold"/>
                    <a:ea typeface="Source Sans 3 SemiBold"/>
                    <a:cs typeface="Source Sans 3 SemiBold"/>
                    <a:sym typeface="Source Sans 3 SemiBold"/>
                  </a:rPr>
                  <a:t>Comunicación formal del resultado</a:t>
                </a:r>
                <a:endParaRPr b="0" sz="850">
                  <a:solidFill>
                    <a:srgbClr val="1E293B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endParaRPr>
              </a:p>
            </p:txBody>
          </p:sp>
        </p:grpSp>
        <p:grpSp>
          <p:nvGrpSpPr>
            <p:cNvPr id="434" name="Google Shape;434;p33"/>
            <p:cNvGrpSpPr/>
            <p:nvPr/>
          </p:nvGrpSpPr>
          <p:grpSpPr>
            <a:xfrm>
              <a:off x="0" y="1257300"/>
              <a:ext cx="8267700" cy="190500"/>
              <a:chOff x="0" y="0"/>
              <a:chExt cx="8267700" cy="190500"/>
            </a:xfrm>
          </p:grpSpPr>
          <p:pic>
            <p:nvPicPr>
              <p:cNvPr id="435" name="Google Shape;435;p3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0" y="85725"/>
                <a:ext cx="82677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6" name="Google Shape;436;p33"/>
              <p:cNvSpPr/>
              <p:nvPr/>
            </p:nvSpPr>
            <p:spPr>
              <a:xfrm>
                <a:off x="2619375" y="0"/>
                <a:ext cx="3048000" cy="190500"/>
              </a:xfrm>
              <a:prstGeom prst="roundRect">
                <a:avLst>
                  <a:gd fmla="val 50000" name="adj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33"/>
              <p:cNvSpPr txBox="1"/>
              <p:nvPr/>
            </p:nvSpPr>
            <p:spPr>
              <a:xfrm>
                <a:off x="2619375" y="0"/>
                <a:ext cx="3048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es" sz="750">
                    <a:solidFill>
                      <a:srgbClr val="64748B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Línea de visibilidad interna (soporte no visible)</a:t>
                </a:r>
                <a:endParaRPr b="1" i="1" sz="750">
                  <a:solidFill>
                    <a:srgbClr val="64748B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438" name="Google Shape;438;p33"/>
            <p:cNvGrpSpPr/>
            <p:nvPr/>
          </p:nvGrpSpPr>
          <p:grpSpPr>
            <a:xfrm>
              <a:off x="0" y="1543050"/>
              <a:ext cx="1962300" cy="609600"/>
              <a:chOff x="0" y="0"/>
              <a:chExt cx="1962300" cy="609600"/>
            </a:xfrm>
          </p:grpSpPr>
          <p:sp>
            <p:nvSpPr>
              <p:cNvPr id="439" name="Google Shape;439;p33"/>
              <p:cNvSpPr/>
              <p:nvPr/>
            </p:nvSpPr>
            <p:spPr>
              <a:xfrm>
                <a:off x="0" y="0"/>
                <a:ext cx="1962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33"/>
              <p:cNvSpPr txBox="1"/>
              <p:nvPr/>
            </p:nvSpPr>
            <p:spPr>
              <a:xfrm>
                <a:off x="95250" y="0"/>
                <a:ext cx="1771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" sz="8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Motor de monitoreo y reglas antifraude</a:t>
                </a:r>
                <a:endParaRPr b="0" sz="8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441" name="Google Shape;441;p33"/>
            <p:cNvGrpSpPr/>
            <p:nvPr/>
          </p:nvGrpSpPr>
          <p:grpSpPr>
            <a:xfrm>
              <a:off x="2105025" y="1543050"/>
              <a:ext cx="1962300" cy="609600"/>
              <a:chOff x="0" y="0"/>
              <a:chExt cx="1962300" cy="609600"/>
            </a:xfrm>
          </p:grpSpPr>
          <p:sp>
            <p:nvSpPr>
              <p:cNvPr id="442" name="Google Shape;442;p33"/>
              <p:cNvSpPr/>
              <p:nvPr/>
            </p:nvSpPr>
            <p:spPr>
              <a:xfrm>
                <a:off x="0" y="0"/>
                <a:ext cx="1962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33"/>
              <p:cNvSpPr txBox="1"/>
              <p:nvPr/>
            </p:nvSpPr>
            <p:spPr>
              <a:xfrm>
                <a:off x="95250" y="0"/>
                <a:ext cx="1771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" sz="8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Registro y tipificación del reclamo</a:t>
                </a:r>
                <a:endParaRPr b="0" sz="8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444" name="Google Shape;444;p33"/>
            <p:cNvGrpSpPr/>
            <p:nvPr/>
          </p:nvGrpSpPr>
          <p:grpSpPr>
            <a:xfrm>
              <a:off x="4210050" y="1543050"/>
              <a:ext cx="1962300" cy="609600"/>
              <a:chOff x="0" y="0"/>
              <a:chExt cx="1962300" cy="609600"/>
            </a:xfrm>
          </p:grpSpPr>
          <p:sp>
            <p:nvSpPr>
              <p:cNvPr id="445" name="Google Shape;445;p33"/>
              <p:cNvSpPr/>
              <p:nvPr/>
            </p:nvSpPr>
            <p:spPr>
              <a:xfrm>
                <a:off x="0" y="0"/>
                <a:ext cx="1962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33"/>
              <p:cNvSpPr txBox="1"/>
              <p:nvPr/>
            </p:nvSpPr>
            <p:spPr>
              <a:xfrm>
                <a:off x="95250" y="0"/>
                <a:ext cx="1771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" sz="8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Análisis de trazas y ciclo de vida</a:t>
                </a:r>
                <a:endParaRPr b="0" sz="8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447" name="Google Shape;447;p33"/>
            <p:cNvGrpSpPr/>
            <p:nvPr/>
          </p:nvGrpSpPr>
          <p:grpSpPr>
            <a:xfrm>
              <a:off x="6324600" y="1543050"/>
              <a:ext cx="1962300" cy="609600"/>
              <a:chOff x="0" y="0"/>
              <a:chExt cx="1962300" cy="609600"/>
            </a:xfrm>
          </p:grpSpPr>
          <p:sp>
            <p:nvSpPr>
              <p:cNvPr id="448" name="Google Shape;448;p33"/>
              <p:cNvSpPr/>
              <p:nvPr/>
            </p:nvSpPr>
            <p:spPr>
              <a:xfrm>
                <a:off x="0" y="0"/>
                <a:ext cx="1962300" cy="609600"/>
              </a:xfrm>
              <a:prstGeom prst="roundRect">
                <a:avLst>
                  <a:gd fmla="val 9375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33"/>
              <p:cNvSpPr txBox="1"/>
              <p:nvPr/>
            </p:nvSpPr>
            <p:spPr>
              <a:xfrm>
                <a:off x="95250" y="0"/>
                <a:ext cx="17718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s" sz="850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Decisión de procedencia y abono o rechazo</a:t>
                </a:r>
                <a:endParaRPr b="0" sz="850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</p:grpSp>
      <p:grpSp>
        <p:nvGrpSpPr>
          <p:cNvPr id="450" name="Google Shape;450;p33"/>
          <p:cNvGrpSpPr/>
          <p:nvPr/>
        </p:nvGrpSpPr>
        <p:grpSpPr>
          <a:xfrm>
            <a:off x="428625" y="3048000"/>
            <a:ext cx="8286900" cy="1486050"/>
            <a:chOff x="0" y="0"/>
            <a:chExt cx="8286900" cy="1486050"/>
          </a:xfrm>
        </p:grpSpPr>
        <p:sp>
          <p:nvSpPr>
            <p:cNvPr id="451" name="Google Shape;451;p33"/>
            <p:cNvSpPr txBox="1"/>
            <p:nvPr/>
          </p:nvSpPr>
          <p:spPr>
            <a:xfrm>
              <a:off x="0" y="0"/>
              <a:ext cx="82869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800">
                  <a:solidFill>
                    <a:srgbClr val="0F2C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Cifras clave del proceso</a:t>
              </a:r>
              <a:endParaRPr b="1" sz="800">
                <a:solidFill>
                  <a:srgbClr val="0F2C5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52" name="Google Shape;452;p33"/>
            <p:cNvGrpSpPr/>
            <p:nvPr/>
          </p:nvGrpSpPr>
          <p:grpSpPr>
            <a:xfrm>
              <a:off x="0" y="247650"/>
              <a:ext cx="1962300" cy="1238400"/>
              <a:chOff x="0" y="0"/>
              <a:chExt cx="1962300" cy="1238400"/>
            </a:xfrm>
          </p:grpSpPr>
          <p:sp>
            <p:nvSpPr>
              <p:cNvPr id="453" name="Google Shape;453;p33"/>
              <p:cNvSpPr/>
              <p:nvPr/>
            </p:nvSpPr>
            <p:spPr>
              <a:xfrm>
                <a:off x="0" y="0"/>
                <a:ext cx="1962300" cy="1238400"/>
              </a:xfrm>
              <a:prstGeom prst="roundRect">
                <a:avLst>
                  <a:gd fmla="val 6153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33"/>
              <p:cNvSpPr txBox="1"/>
              <p:nvPr/>
            </p:nvSpPr>
            <p:spPr>
              <a:xfrm>
                <a:off x="152400" y="152400"/>
                <a:ext cx="1657500" cy="9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20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13,959</a:t>
                </a:r>
                <a:endParaRPr b="1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s" sz="850">
                    <a:solidFill>
                      <a:srgbClr val="93C5FD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reclamos absueltos</a:t>
                </a:r>
                <a:endParaRPr b="1" sz="85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s" sz="750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2T2026</a:t>
                </a:r>
                <a:endParaRPr b="0" sz="75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455" name="Google Shape;455;p33"/>
            <p:cNvGrpSpPr/>
            <p:nvPr/>
          </p:nvGrpSpPr>
          <p:grpSpPr>
            <a:xfrm>
              <a:off x="2105025" y="247650"/>
              <a:ext cx="1962300" cy="1238400"/>
              <a:chOff x="0" y="0"/>
              <a:chExt cx="1962300" cy="1238400"/>
            </a:xfrm>
          </p:grpSpPr>
          <p:sp>
            <p:nvSpPr>
              <p:cNvPr id="456" name="Google Shape;456;p33"/>
              <p:cNvSpPr/>
              <p:nvPr/>
            </p:nvSpPr>
            <p:spPr>
              <a:xfrm>
                <a:off x="0" y="0"/>
                <a:ext cx="1962300" cy="1238400"/>
              </a:xfrm>
              <a:prstGeom prst="roundRect">
                <a:avLst>
                  <a:gd fmla="val 6153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33"/>
              <p:cNvSpPr txBox="1"/>
              <p:nvPr/>
            </p:nvSpPr>
            <p:spPr>
              <a:xfrm>
                <a:off x="152400" y="152400"/>
                <a:ext cx="1657500" cy="9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20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11.29 días</a:t>
                </a:r>
                <a:endParaRPr b="1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s" sz="850">
                    <a:solidFill>
                      <a:srgbClr val="93C5FD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tiempo promedio</a:t>
                </a:r>
                <a:endParaRPr b="1" sz="85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s" sz="750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ponderado</a:t>
                </a:r>
                <a:endParaRPr b="0" sz="75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458" name="Google Shape;458;p33"/>
            <p:cNvGrpSpPr/>
            <p:nvPr/>
          </p:nvGrpSpPr>
          <p:grpSpPr>
            <a:xfrm>
              <a:off x="4210050" y="247650"/>
              <a:ext cx="1962300" cy="1238400"/>
              <a:chOff x="0" y="0"/>
              <a:chExt cx="1962300" cy="1238400"/>
            </a:xfrm>
          </p:grpSpPr>
          <p:sp>
            <p:nvSpPr>
              <p:cNvPr id="459" name="Google Shape;459;p33"/>
              <p:cNvSpPr/>
              <p:nvPr/>
            </p:nvSpPr>
            <p:spPr>
              <a:xfrm>
                <a:off x="0" y="0"/>
                <a:ext cx="1962300" cy="1238400"/>
              </a:xfrm>
              <a:prstGeom prst="roundRect">
                <a:avLst>
                  <a:gd fmla="val 6153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33"/>
              <p:cNvSpPr txBox="1"/>
              <p:nvPr/>
            </p:nvSpPr>
            <p:spPr>
              <a:xfrm>
                <a:off x="152400" y="152400"/>
                <a:ext cx="1657500" cy="9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20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21.63%</a:t>
                </a:r>
                <a:endParaRPr b="1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s" sz="850">
                    <a:solidFill>
                      <a:srgbClr val="93C5FD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resueltos a favor</a:t>
                </a:r>
                <a:endParaRPr b="1" sz="85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s" sz="750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del usuario</a:t>
                </a:r>
                <a:endParaRPr b="0" sz="75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461" name="Google Shape;461;p33"/>
            <p:cNvGrpSpPr/>
            <p:nvPr/>
          </p:nvGrpSpPr>
          <p:grpSpPr>
            <a:xfrm>
              <a:off x="6324600" y="247650"/>
              <a:ext cx="1962300" cy="1238400"/>
              <a:chOff x="0" y="0"/>
              <a:chExt cx="1962300" cy="1238400"/>
            </a:xfrm>
          </p:grpSpPr>
          <p:sp>
            <p:nvSpPr>
              <p:cNvPr id="462" name="Google Shape;462;p33"/>
              <p:cNvSpPr/>
              <p:nvPr/>
            </p:nvSpPr>
            <p:spPr>
              <a:xfrm>
                <a:off x="0" y="0"/>
                <a:ext cx="1962300" cy="1238400"/>
              </a:xfrm>
              <a:prstGeom prst="roundRect">
                <a:avLst>
                  <a:gd fmla="val 6153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33"/>
              <p:cNvSpPr txBox="1"/>
              <p:nvPr/>
            </p:nvSpPr>
            <p:spPr>
              <a:xfrm>
                <a:off x="152400" y="152400"/>
                <a:ext cx="1657500" cy="93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" sz="200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2,601</a:t>
                </a:r>
                <a:endParaRPr b="1" sz="20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1" lang="es" sz="850">
                    <a:solidFill>
                      <a:srgbClr val="93C5FD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sanciones Indecopi</a:t>
                </a:r>
                <a:endParaRPr b="1" sz="850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es" sz="750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al sistema financiero</a:t>
                </a:r>
                <a:endParaRPr b="0" sz="750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4"/>
          <p:cNvSpPr txBox="1"/>
          <p:nvPr/>
        </p:nvSpPr>
        <p:spPr>
          <a:xfrm>
            <a:off x="428636" y="300038"/>
            <a:ext cx="8286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Customer Journey Map E2E-3: Contratación por canal digital</a:t>
            </a:r>
            <a:endParaRPr b="1" i="0" sz="1500" u="none" cap="none" strike="noStrike">
              <a:solidFill>
                <a:srgbClr val="0F17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70" name="Google Shape;470;p34"/>
          <p:cNvGrpSpPr/>
          <p:nvPr/>
        </p:nvGrpSpPr>
        <p:grpSpPr>
          <a:xfrm>
            <a:off x="428636" y="678656"/>
            <a:ext cx="3357675" cy="4143375"/>
            <a:chOff x="0" y="0"/>
            <a:chExt cx="4476900" cy="5524500"/>
          </a:xfrm>
        </p:grpSpPr>
        <p:sp>
          <p:nvSpPr>
            <p:cNvPr id="471" name="Google Shape;471;p34"/>
            <p:cNvSpPr/>
            <p:nvPr/>
          </p:nvSpPr>
          <p:spPr>
            <a:xfrm>
              <a:off x="0" y="0"/>
              <a:ext cx="4476900" cy="5524500"/>
            </a:xfrm>
            <a:prstGeom prst="roundRect">
              <a:avLst>
                <a:gd fmla="val 2553" name="adj"/>
              </a:avLst>
            </a:prstGeom>
            <a:solidFill>
              <a:srgbClr val="0F2C5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34"/>
            <p:cNvSpPr txBox="1"/>
            <p:nvPr/>
          </p:nvSpPr>
          <p:spPr>
            <a:xfrm>
              <a:off x="228600" y="190500"/>
              <a:ext cx="4019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s" sz="800" u="none" cap="none" strike="noStrike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CIFRAS CLAVE — 2T2026</a:t>
              </a:r>
              <a:endParaRPr b="1" i="0" sz="800" u="none" cap="none" strike="noStrik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73" name="Google Shape;473;p34"/>
            <p:cNvGrpSpPr/>
            <p:nvPr/>
          </p:nvGrpSpPr>
          <p:grpSpPr>
            <a:xfrm>
              <a:off x="228600" y="495300"/>
              <a:ext cx="4019700" cy="685800"/>
              <a:chOff x="0" y="0"/>
              <a:chExt cx="4019700" cy="685800"/>
            </a:xfrm>
          </p:grpSpPr>
          <p:sp>
            <p:nvSpPr>
              <p:cNvPr id="474" name="Google Shape;474;p34"/>
              <p:cNvSpPr/>
              <p:nvPr/>
            </p:nvSpPr>
            <p:spPr>
              <a:xfrm>
                <a:off x="0" y="0"/>
                <a:ext cx="4019700" cy="685800"/>
              </a:xfrm>
              <a:prstGeom prst="roundRect">
                <a:avLst>
                  <a:gd fmla="val 11111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34"/>
              <p:cNvSpPr txBox="1"/>
              <p:nvPr/>
            </p:nvSpPr>
            <p:spPr>
              <a:xfrm>
                <a:off x="152400" y="76200"/>
                <a:ext cx="11430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s" sz="1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79.57%</a:t>
                </a:r>
                <a:endParaRPr b="1" i="0" sz="1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76" name="Google Shape;476;p34"/>
              <p:cNvSpPr txBox="1"/>
              <p:nvPr/>
            </p:nvSpPr>
            <p:spPr>
              <a:xfrm>
                <a:off x="1371600" y="76200"/>
                <a:ext cx="24957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Ventas digitales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0" i="0" lang="es" sz="600" u="none" cap="none" strike="noStrike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del total de ventas (BBVA Perú, 2026a, p. 3)</a:t>
                </a:r>
                <a:endParaRPr b="0" i="0" sz="600" u="none" cap="none" strike="noStrike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477" name="Google Shape;477;p34"/>
            <p:cNvGrpSpPr/>
            <p:nvPr/>
          </p:nvGrpSpPr>
          <p:grpSpPr>
            <a:xfrm>
              <a:off x="228600" y="1257300"/>
              <a:ext cx="4019700" cy="685800"/>
              <a:chOff x="0" y="0"/>
              <a:chExt cx="4019700" cy="685800"/>
            </a:xfrm>
          </p:grpSpPr>
          <p:sp>
            <p:nvSpPr>
              <p:cNvPr id="478" name="Google Shape;478;p34"/>
              <p:cNvSpPr/>
              <p:nvPr/>
            </p:nvSpPr>
            <p:spPr>
              <a:xfrm>
                <a:off x="0" y="0"/>
                <a:ext cx="4019700" cy="685800"/>
              </a:xfrm>
              <a:prstGeom prst="roundRect">
                <a:avLst>
                  <a:gd fmla="val 11111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9" name="Google Shape;479;p34"/>
              <p:cNvSpPr txBox="1"/>
              <p:nvPr/>
            </p:nvSpPr>
            <p:spPr>
              <a:xfrm>
                <a:off x="152400" y="76200"/>
                <a:ext cx="11430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s" sz="1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85%</a:t>
                </a:r>
                <a:endParaRPr b="1" i="0" sz="1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80" name="Google Shape;480;p34"/>
              <p:cNvSpPr txBox="1"/>
              <p:nvPr/>
            </p:nvSpPr>
            <p:spPr>
              <a:xfrm>
                <a:off x="1371600" y="76200"/>
                <a:ext cx="24957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Operaciones monetarias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0" i="0" lang="es" sz="600" u="none" cap="none" strike="noStrike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concentradas en la app</a:t>
                </a:r>
                <a:endParaRPr b="0" i="0" sz="600" u="none" cap="none" strike="noStrike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481" name="Google Shape;481;p34"/>
            <p:cNvGrpSpPr/>
            <p:nvPr/>
          </p:nvGrpSpPr>
          <p:grpSpPr>
            <a:xfrm>
              <a:off x="228600" y="2019300"/>
              <a:ext cx="4019700" cy="685800"/>
              <a:chOff x="0" y="0"/>
              <a:chExt cx="4019700" cy="685800"/>
            </a:xfrm>
          </p:grpSpPr>
          <p:sp>
            <p:nvSpPr>
              <p:cNvPr id="482" name="Google Shape;482;p34"/>
              <p:cNvSpPr/>
              <p:nvPr/>
            </p:nvSpPr>
            <p:spPr>
              <a:xfrm>
                <a:off x="0" y="0"/>
                <a:ext cx="4019700" cy="685800"/>
              </a:xfrm>
              <a:prstGeom prst="roundRect">
                <a:avLst>
                  <a:gd fmla="val 11111" name="adj"/>
                </a:avLst>
              </a:prstGeom>
              <a:solidFill>
                <a:srgbClr val="1E3A8A">
                  <a:alpha val="4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34"/>
              <p:cNvSpPr txBox="1"/>
              <p:nvPr/>
            </p:nvSpPr>
            <p:spPr>
              <a:xfrm>
                <a:off x="152400" y="76200"/>
                <a:ext cx="11430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00"/>
                  <a:buFont typeface="Arial"/>
                  <a:buNone/>
                </a:pPr>
                <a:r>
                  <a:rPr b="1" i="0" lang="es" sz="17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+350M</a:t>
                </a:r>
                <a:endParaRPr b="1" i="0" sz="17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84" name="Google Shape;484;p34"/>
              <p:cNvSpPr txBox="1"/>
              <p:nvPr/>
            </p:nvSpPr>
            <p:spPr>
              <a:xfrm>
                <a:off x="1371600" y="76200"/>
                <a:ext cx="2495700" cy="53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Transacciones acumuladas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00"/>
                  <a:buFont typeface="Arial"/>
                  <a:buNone/>
                </a:pPr>
                <a:r>
                  <a:rPr b="0" i="0" lang="es" sz="600" u="none" cap="none" strike="noStrike">
                    <a:solidFill>
                      <a:srgbClr val="CBD5E1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+38% de crecimiento (BBVA Perú, 2026a)</a:t>
                </a:r>
                <a:endParaRPr b="0" i="0" sz="600" u="none" cap="none" strike="noStrike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cxnSp>
          <p:nvCxnSpPr>
            <p:cNvPr id="485" name="Google Shape;485;p34"/>
            <p:cNvCxnSpPr/>
            <p:nvPr/>
          </p:nvCxnSpPr>
          <p:spPr>
            <a:xfrm>
              <a:off x="228600" y="2857500"/>
              <a:ext cx="4019700" cy="0"/>
            </a:xfrm>
            <a:prstGeom prst="straightConnector1">
              <a:avLst/>
            </a:prstGeom>
            <a:solidFill>
              <a:srgbClr val="FFFFFF"/>
            </a:solidFill>
            <a:ln cap="flat" cmpd="sng" w="10725">
              <a:solidFill>
                <a:srgbClr val="1E3A8A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86" name="Google Shape;486;p34"/>
            <p:cNvSpPr txBox="1"/>
            <p:nvPr/>
          </p:nvSpPr>
          <p:spPr>
            <a:xfrm>
              <a:off x="228600" y="2971800"/>
              <a:ext cx="4019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s" sz="800" u="none" cap="none" strike="noStrike">
                  <a:solidFill>
                    <a:srgbClr val="93C5F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PENETRACIÓN DIGITAL POR PRODUCTO</a:t>
              </a:r>
              <a:endParaRPr b="1" i="0" sz="800" u="none" cap="none" strike="noStrik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487" name="Google Shape;487;p34"/>
            <p:cNvGrpSpPr/>
            <p:nvPr/>
          </p:nvGrpSpPr>
          <p:grpSpPr>
            <a:xfrm>
              <a:off x="228600" y="3286125"/>
              <a:ext cx="4019700" cy="304950"/>
              <a:chOff x="0" y="0"/>
              <a:chExt cx="4019700" cy="304950"/>
            </a:xfrm>
          </p:grpSpPr>
          <p:sp>
            <p:nvSpPr>
              <p:cNvPr id="488" name="Google Shape;488;p34"/>
              <p:cNvSpPr txBox="1"/>
              <p:nvPr/>
            </p:nvSpPr>
            <p:spPr>
              <a:xfrm>
                <a:off x="0" y="0"/>
                <a:ext cx="3333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s" sz="7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Cambio de moneda</a:t>
                </a:r>
                <a:endParaRPr b="1" i="0" sz="7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89" name="Google Shape;489;p34"/>
              <p:cNvSpPr txBox="1"/>
              <p:nvPr/>
            </p:nvSpPr>
            <p:spPr>
              <a:xfrm>
                <a:off x="3429000" y="0"/>
                <a:ext cx="590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s" sz="700" u="none" cap="none" strike="noStrike">
                    <a:solidFill>
                      <a:srgbClr val="38BDF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93%</a:t>
                </a:r>
                <a:endParaRPr b="1" i="0" sz="700" u="none" cap="none" strike="noStrike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90" name="Google Shape;490;p34"/>
              <p:cNvSpPr/>
              <p:nvPr/>
            </p:nvSpPr>
            <p:spPr>
              <a:xfrm>
                <a:off x="0" y="209550"/>
                <a:ext cx="40197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1" name="Google Shape;491;p34"/>
              <p:cNvSpPr/>
              <p:nvPr/>
            </p:nvSpPr>
            <p:spPr>
              <a:xfrm>
                <a:off x="0" y="209550"/>
                <a:ext cx="37383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2" name="Google Shape;492;p34"/>
            <p:cNvGrpSpPr/>
            <p:nvPr/>
          </p:nvGrpSpPr>
          <p:grpSpPr>
            <a:xfrm>
              <a:off x="228600" y="3829050"/>
              <a:ext cx="4019700" cy="304950"/>
              <a:chOff x="0" y="0"/>
              <a:chExt cx="4019700" cy="304950"/>
            </a:xfrm>
          </p:grpSpPr>
          <p:sp>
            <p:nvSpPr>
              <p:cNvPr id="493" name="Google Shape;493;p34"/>
              <p:cNvSpPr txBox="1"/>
              <p:nvPr/>
            </p:nvSpPr>
            <p:spPr>
              <a:xfrm>
                <a:off x="0" y="0"/>
                <a:ext cx="3333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s" sz="7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Préstamos</a:t>
                </a:r>
                <a:endParaRPr b="1" i="0" sz="7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94" name="Google Shape;494;p34"/>
              <p:cNvSpPr txBox="1"/>
              <p:nvPr/>
            </p:nvSpPr>
            <p:spPr>
              <a:xfrm>
                <a:off x="3429000" y="0"/>
                <a:ext cx="590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s" sz="700" u="none" cap="none" strike="noStrike">
                    <a:solidFill>
                      <a:srgbClr val="38BDF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54%</a:t>
                </a:r>
                <a:endParaRPr b="1" i="0" sz="700" u="none" cap="none" strike="noStrike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95" name="Google Shape;495;p34"/>
              <p:cNvSpPr/>
              <p:nvPr/>
            </p:nvSpPr>
            <p:spPr>
              <a:xfrm>
                <a:off x="0" y="209550"/>
                <a:ext cx="40197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6" name="Google Shape;496;p34"/>
              <p:cNvSpPr/>
              <p:nvPr/>
            </p:nvSpPr>
            <p:spPr>
              <a:xfrm>
                <a:off x="0" y="209550"/>
                <a:ext cx="21705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7" name="Google Shape;497;p34"/>
            <p:cNvGrpSpPr/>
            <p:nvPr/>
          </p:nvGrpSpPr>
          <p:grpSpPr>
            <a:xfrm>
              <a:off x="228600" y="4371975"/>
              <a:ext cx="4019700" cy="304950"/>
              <a:chOff x="0" y="0"/>
              <a:chExt cx="4019700" cy="304950"/>
            </a:xfrm>
          </p:grpSpPr>
          <p:sp>
            <p:nvSpPr>
              <p:cNvPr id="498" name="Google Shape;498;p34"/>
              <p:cNvSpPr txBox="1"/>
              <p:nvPr/>
            </p:nvSpPr>
            <p:spPr>
              <a:xfrm>
                <a:off x="0" y="0"/>
                <a:ext cx="3333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s" sz="7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Tarjetas</a:t>
                </a:r>
                <a:endParaRPr b="1" i="0" sz="7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499" name="Google Shape;499;p34"/>
              <p:cNvSpPr txBox="1"/>
              <p:nvPr/>
            </p:nvSpPr>
            <p:spPr>
              <a:xfrm>
                <a:off x="3429000" y="0"/>
                <a:ext cx="590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s" sz="700" u="none" cap="none" strike="noStrike">
                    <a:solidFill>
                      <a:srgbClr val="38BDF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50%</a:t>
                </a:r>
                <a:endParaRPr b="1" i="0" sz="700" u="none" cap="none" strike="noStrike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00" name="Google Shape;500;p34"/>
              <p:cNvSpPr/>
              <p:nvPr/>
            </p:nvSpPr>
            <p:spPr>
              <a:xfrm>
                <a:off x="0" y="209550"/>
                <a:ext cx="40197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34"/>
              <p:cNvSpPr/>
              <p:nvPr/>
            </p:nvSpPr>
            <p:spPr>
              <a:xfrm>
                <a:off x="0" y="209550"/>
                <a:ext cx="20097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2" name="Google Shape;502;p34"/>
            <p:cNvGrpSpPr/>
            <p:nvPr/>
          </p:nvGrpSpPr>
          <p:grpSpPr>
            <a:xfrm>
              <a:off x="228600" y="4914900"/>
              <a:ext cx="4019700" cy="304950"/>
              <a:chOff x="0" y="0"/>
              <a:chExt cx="4019700" cy="304950"/>
            </a:xfrm>
          </p:grpSpPr>
          <p:sp>
            <p:nvSpPr>
              <p:cNvPr id="503" name="Google Shape;503;p34"/>
              <p:cNvSpPr txBox="1"/>
              <p:nvPr/>
            </p:nvSpPr>
            <p:spPr>
              <a:xfrm>
                <a:off x="0" y="0"/>
                <a:ext cx="3333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s" sz="7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Cuentas</a:t>
                </a:r>
                <a:endParaRPr b="1" i="0" sz="7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04" name="Google Shape;504;p34"/>
              <p:cNvSpPr txBox="1"/>
              <p:nvPr/>
            </p:nvSpPr>
            <p:spPr>
              <a:xfrm>
                <a:off x="3429000" y="0"/>
                <a:ext cx="5907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1" i="0" lang="es" sz="700" u="none" cap="none" strike="noStrike">
                    <a:solidFill>
                      <a:srgbClr val="38BDF8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33%</a:t>
                </a:r>
                <a:endParaRPr b="1" i="0" sz="700" u="none" cap="none" strike="noStrike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05" name="Google Shape;505;p34"/>
              <p:cNvSpPr/>
              <p:nvPr/>
            </p:nvSpPr>
            <p:spPr>
              <a:xfrm>
                <a:off x="0" y="209550"/>
                <a:ext cx="40197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1E293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0" y="209550"/>
                <a:ext cx="1326600" cy="95400"/>
              </a:xfrm>
              <a:prstGeom prst="roundRect">
                <a:avLst>
                  <a:gd fmla="val 50000" name="adj"/>
                </a:avLst>
              </a:prstGeom>
              <a:solidFill>
                <a:srgbClr val="38BDF8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07" name="Google Shape;507;p34"/>
          <p:cNvGrpSpPr/>
          <p:nvPr/>
        </p:nvGrpSpPr>
        <p:grpSpPr>
          <a:xfrm>
            <a:off x="4000607" y="678656"/>
            <a:ext cx="4714875" cy="4086225"/>
            <a:chOff x="0" y="0"/>
            <a:chExt cx="6286500" cy="5448300"/>
          </a:xfrm>
        </p:grpSpPr>
        <p:sp>
          <p:nvSpPr>
            <p:cNvPr id="508" name="Google Shape;508;p34"/>
            <p:cNvSpPr txBox="1"/>
            <p:nvPr/>
          </p:nvSpPr>
          <p:spPr>
            <a:xfrm>
              <a:off x="0" y="0"/>
              <a:ext cx="6286500" cy="24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Etapas del journey y dolores observados</a:t>
              </a:r>
              <a:endParaRPr b="1" i="0" sz="9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509" name="Google Shape;509;p34"/>
            <p:cNvGrpSpPr/>
            <p:nvPr/>
          </p:nvGrpSpPr>
          <p:grpSpPr>
            <a:xfrm>
              <a:off x="0" y="342900"/>
              <a:ext cx="6286500" cy="914400"/>
              <a:chOff x="0" y="0"/>
              <a:chExt cx="6286500" cy="914400"/>
            </a:xfrm>
          </p:grpSpPr>
          <p:sp>
            <p:nvSpPr>
              <p:cNvPr id="510" name="Google Shape;510;p34"/>
              <p:cNvSpPr/>
              <p:nvPr/>
            </p:nvSpPr>
            <p:spPr>
              <a:xfrm>
                <a:off x="0" y="0"/>
                <a:ext cx="6286500" cy="914400"/>
              </a:xfrm>
              <a:prstGeom prst="roundRect">
                <a:avLst>
                  <a:gd fmla="val 10416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1" name="Google Shape;511;p34"/>
              <p:cNvSpPr/>
              <p:nvPr/>
            </p:nvSpPr>
            <p:spPr>
              <a:xfrm>
                <a:off x="0" y="0"/>
                <a:ext cx="57300" cy="9144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200025" y="142875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34"/>
              <p:cNvSpPr txBox="1"/>
              <p:nvPr/>
            </p:nvSpPr>
            <p:spPr>
              <a:xfrm>
                <a:off x="2000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14" name="Google Shape;514;p34"/>
              <p:cNvSpPr txBox="1"/>
              <p:nvPr/>
            </p:nvSpPr>
            <p:spPr>
              <a:xfrm>
                <a:off x="609600" y="133350"/>
                <a:ext cx="5486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Descubrimiento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Sin información pública sobre tasas de conversión por punto de entrada al canal digital.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0" y="1352550"/>
              <a:ext cx="6286500" cy="914400"/>
              <a:chOff x="0" y="0"/>
              <a:chExt cx="6286500" cy="9144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0" y="0"/>
                <a:ext cx="6286500" cy="914400"/>
              </a:xfrm>
              <a:prstGeom prst="roundRect">
                <a:avLst>
                  <a:gd fmla="val 10416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0" y="0"/>
                <a:ext cx="57300" cy="9144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200025" y="142875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34"/>
              <p:cNvSpPr txBox="1"/>
              <p:nvPr/>
            </p:nvSpPr>
            <p:spPr>
              <a:xfrm>
                <a:off x="2000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20" name="Google Shape;520;p34"/>
              <p:cNvSpPr txBox="1"/>
              <p:nvPr/>
            </p:nvSpPr>
            <p:spPr>
              <a:xfrm>
                <a:off x="609600" y="133350"/>
                <a:ext cx="5486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Evaluación y elección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Asimetría de penetración sugiere que ciertos productos no resultan comprensibles en autoservicio.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521" name="Google Shape;521;p34"/>
            <p:cNvGrpSpPr/>
            <p:nvPr/>
          </p:nvGrpSpPr>
          <p:grpSpPr>
            <a:xfrm>
              <a:off x="0" y="2362200"/>
              <a:ext cx="6286500" cy="914400"/>
              <a:chOff x="0" y="0"/>
              <a:chExt cx="6286500" cy="914400"/>
            </a:xfrm>
          </p:grpSpPr>
          <p:sp>
            <p:nvSpPr>
              <p:cNvPr id="522" name="Google Shape;522;p34"/>
              <p:cNvSpPr/>
              <p:nvPr/>
            </p:nvSpPr>
            <p:spPr>
              <a:xfrm>
                <a:off x="0" y="0"/>
                <a:ext cx="6286500" cy="914400"/>
              </a:xfrm>
              <a:prstGeom prst="roundRect">
                <a:avLst>
                  <a:gd fmla="val 10416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34"/>
              <p:cNvSpPr/>
              <p:nvPr/>
            </p:nvSpPr>
            <p:spPr>
              <a:xfrm>
                <a:off x="0" y="0"/>
                <a:ext cx="57300" cy="9144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34"/>
              <p:cNvSpPr/>
              <p:nvPr/>
            </p:nvSpPr>
            <p:spPr>
              <a:xfrm>
                <a:off x="200025" y="142875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34"/>
              <p:cNvSpPr txBox="1"/>
              <p:nvPr/>
            </p:nvSpPr>
            <p:spPr>
              <a:xfrm>
                <a:off x="2000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26" name="Google Shape;526;p34"/>
              <p:cNvSpPr txBox="1"/>
              <p:nvPr/>
            </p:nvSpPr>
            <p:spPr>
              <a:xfrm>
                <a:off x="609600" y="133350"/>
                <a:ext cx="5486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Contratación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Penetración digital de </a:t>
                </a:r>
                <a:r>
                  <a:rPr b="1" i="0" lang="es" sz="700" u="none" cap="none" strike="noStrike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33%</a:t>
                </a: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en cuentas y </a:t>
                </a:r>
                <a:r>
                  <a:rPr b="1" i="0" lang="es" sz="700" u="none" cap="none" strike="noStrike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50%</a:t>
                </a: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en tarjetas vs. </a:t>
                </a:r>
                <a:r>
                  <a:rPr b="1" i="0" lang="es" sz="700" u="none" cap="none" strike="noStrike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93%</a:t>
                </a: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en cambio de moneda (BBVA Perú, 2026a, p. 3).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527" name="Google Shape;527;p34"/>
            <p:cNvGrpSpPr/>
            <p:nvPr/>
          </p:nvGrpSpPr>
          <p:grpSpPr>
            <a:xfrm>
              <a:off x="0" y="3371850"/>
              <a:ext cx="6286500" cy="914400"/>
              <a:chOff x="0" y="0"/>
              <a:chExt cx="6286500" cy="914400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0" y="0"/>
                <a:ext cx="6286500" cy="914400"/>
              </a:xfrm>
              <a:prstGeom prst="roundRect">
                <a:avLst>
                  <a:gd fmla="val 10416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0" y="0"/>
                <a:ext cx="57300" cy="9144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34"/>
              <p:cNvSpPr/>
              <p:nvPr/>
            </p:nvSpPr>
            <p:spPr>
              <a:xfrm>
                <a:off x="200025" y="142875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34"/>
              <p:cNvSpPr txBox="1"/>
              <p:nvPr/>
            </p:nvSpPr>
            <p:spPr>
              <a:xfrm>
                <a:off x="2000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4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32" name="Google Shape;532;p34"/>
              <p:cNvSpPr txBox="1"/>
              <p:nvPr/>
            </p:nvSpPr>
            <p:spPr>
              <a:xfrm>
                <a:off x="609600" y="133350"/>
                <a:ext cx="54864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Activación y primer uso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Activación inmediata solo en ruta por app; vía asistida no obtiene ese beneficio (BBVA Perú, s.f.-a).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  <p:grpSp>
          <p:nvGrpSpPr>
            <p:cNvPr id="533" name="Google Shape;533;p34"/>
            <p:cNvGrpSpPr/>
            <p:nvPr/>
          </p:nvGrpSpPr>
          <p:grpSpPr>
            <a:xfrm>
              <a:off x="0" y="4381500"/>
              <a:ext cx="6286500" cy="1066800"/>
              <a:chOff x="0" y="0"/>
              <a:chExt cx="6286500" cy="1066800"/>
            </a:xfrm>
          </p:grpSpPr>
          <p:sp>
            <p:nvSpPr>
              <p:cNvPr id="534" name="Google Shape;534;p34"/>
              <p:cNvSpPr/>
              <p:nvPr/>
            </p:nvSpPr>
            <p:spPr>
              <a:xfrm>
                <a:off x="0" y="0"/>
                <a:ext cx="6286500" cy="1066800"/>
              </a:xfrm>
              <a:prstGeom prst="roundRect">
                <a:avLst>
                  <a:gd fmla="val 8928" name="adj"/>
                </a:avLst>
              </a:prstGeom>
              <a:solidFill>
                <a:srgbClr val="F8FAFC"/>
              </a:solidFill>
              <a:ln cap="flat" cmpd="sng" w="715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5" name="Google Shape;535;p34"/>
              <p:cNvSpPr/>
              <p:nvPr/>
            </p:nvSpPr>
            <p:spPr>
              <a:xfrm>
                <a:off x="0" y="0"/>
                <a:ext cx="57300" cy="1066800"/>
              </a:xfrm>
              <a:prstGeom prst="roundRect">
                <a:avLst>
                  <a:gd fmla="val 50000" name="adj"/>
                </a:avLst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6" name="Google Shape;536;p34"/>
              <p:cNvSpPr/>
              <p:nvPr/>
            </p:nvSpPr>
            <p:spPr>
              <a:xfrm>
                <a:off x="200025" y="142875"/>
                <a:ext cx="285900" cy="285900"/>
              </a:xfrm>
              <a:prstGeom prst="ellipse">
                <a:avLst/>
              </a:prstGeom>
              <a:solidFill>
                <a:srgbClr val="0F2C5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7" name="Google Shape;537;p34"/>
              <p:cNvSpPr txBox="1"/>
              <p:nvPr/>
            </p:nvSpPr>
            <p:spPr>
              <a:xfrm>
                <a:off x="200025" y="142875"/>
                <a:ext cx="2859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5</a:t>
                </a:r>
                <a:endParaRPr b="1" i="0" sz="8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538" name="Google Shape;538;p34"/>
              <p:cNvSpPr txBox="1"/>
              <p:nvPr/>
            </p:nvSpPr>
            <p:spPr>
              <a:xfrm>
                <a:off x="609600" y="114300"/>
                <a:ext cx="5486400" cy="8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i="0" lang="es" sz="800" u="none" cap="none" strike="noStrike">
                    <a:solidFill>
                      <a:srgbClr val="0F172A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Uso recurrente</a:t>
                </a:r>
                <a:endParaRPr b="1" i="0" sz="800" u="none" cap="none" strike="noStrike">
                  <a:solidFill>
                    <a:srgbClr val="0F172A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200"/>
                  </a:spcBef>
                  <a:spcAft>
                    <a:spcPts val="0"/>
                  </a:spcAft>
                  <a:buClr>
                    <a:srgbClr val="000000"/>
                  </a:buClr>
                  <a:buSzPts val="700"/>
                  <a:buFont typeface="Arial"/>
                  <a:buNone/>
                </a:pP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App concentra </a:t>
                </a:r>
                <a:r>
                  <a:rPr b="1" i="0" lang="es" sz="700" u="none" cap="none" strike="noStrike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85%</a:t>
                </a: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de operaciones, pero solo </a:t>
                </a:r>
                <a:r>
                  <a:rPr b="1" i="0" lang="es" sz="700" u="none" cap="none" strike="noStrike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33%</a:t>
                </a: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de cuentas se contratan digitalmente (BBVA Perú, 2026a, p. 3). </a:t>
                </a:r>
                <a:r>
                  <a:rPr b="1" i="0" lang="es" sz="700" u="none" cap="none" strike="noStrike">
                    <a:solidFill>
                      <a:srgbClr val="0F2C59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Dos de cada tres cuentas</a:t>
                </a:r>
                <a:r>
                  <a:rPr b="0" i="0" lang="es" sz="700" u="none" cap="none" strike="noStrike">
                    <a:solidFill>
                      <a:srgbClr val="334155"/>
                    </a:solidFill>
                    <a:latin typeface="Source Sans 3"/>
                    <a:ea typeface="Source Sans 3"/>
                    <a:cs typeface="Source Sans 3"/>
                    <a:sym typeface="Source Sans 3"/>
                  </a:rPr>
                  <a:t> se contratan por canal asistido.</a:t>
                </a:r>
                <a:endParaRPr b="0" i="0" sz="700" u="none" cap="none" strike="noStrike">
                  <a:solidFill>
                    <a:srgbClr val="334155"/>
                  </a:solidFill>
                  <a:latin typeface="Source Sans 3"/>
                  <a:ea typeface="Source Sans 3"/>
                  <a:cs typeface="Source Sans 3"/>
                  <a:sym typeface="Source Sans 3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5"/>
          <p:cNvSpPr txBox="1"/>
          <p:nvPr/>
        </p:nvSpPr>
        <p:spPr>
          <a:xfrm>
            <a:off x="342900" y="617220"/>
            <a:ext cx="8435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100"/>
              <a:buFont typeface="Cambria"/>
              <a:buNone/>
            </a:pPr>
            <a:r>
              <a:rPr b="1" i="0" lang="es" sz="2300" u="none" cap="none" strike="noStrike">
                <a:solidFill>
                  <a:srgbClr val="141B4D"/>
                </a:solidFill>
                <a:latin typeface="Cambria"/>
                <a:ea typeface="Cambria"/>
                <a:cs typeface="Cambria"/>
                <a:sym typeface="Cambria"/>
              </a:rPr>
              <a:t>Diez dolores de negocio identificados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5"/>
          <p:cNvSpPr txBox="1"/>
          <p:nvPr/>
        </p:nvSpPr>
        <p:spPr>
          <a:xfrm>
            <a:off x="342900" y="1062990"/>
            <a:ext cx="8435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1" lang="e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Ocho ligados a un proceso E2E específico; dos de carácter transversal (D4, D10)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5"/>
          <p:cNvSpPr/>
          <p:nvPr/>
        </p:nvSpPr>
        <p:spPr>
          <a:xfrm>
            <a:off x="342900" y="1474470"/>
            <a:ext cx="1625400" cy="15432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5"/>
          <p:cNvSpPr/>
          <p:nvPr/>
        </p:nvSpPr>
        <p:spPr>
          <a:xfrm>
            <a:off x="445770" y="1577340"/>
            <a:ext cx="308700" cy="30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5"/>
          <p:cNvSpPr txBox="1"/>
          <p:nvPr/>
        </p:nvSpPr>
        <p:spPr>
          <a:xfrm>
            <a:off x="445770" y="15773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5"/>
          <p:cNvSpPr txBox="1"/>
          <p:nvPr/>
        </p:nvSpPr>
        <p:spPr>
          <a:xfrm>
            <a:off x="445770" y="1954530"/>
            <a:ext cx="141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b="0" i="0" lang="es" sz="12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Baja digitalización de la originación Pyme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445770" y="2729484"/>
            <a:ext cx="1419600" cy="185100"/>
          </a:xfrm>
          <a:prstGeom prst="roundRect">
            <a:avLst>
              <a:gd fmla="val 4814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5"/>
          <p:cNvSpPr txBox="1"/>
          <p:nvPr/>
        </p:nvSpPr>
        <p:spPr>
          <a:xfrm>
            <a:off x="445770" y="2729484"/>
            <a:ext cx="141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2057400" y="1474470"/>
            <a:ext cx="1625400" cy="15432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2160270" y="1577340"/>
            <a:ext cx="308700" cy="30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35"/>
          <p:cNvSpPr txBox="1"/>
          <p:nvPr/>
        </p:nvSpPr>
        <p:spPr>
          <a:xfrm>
            <a:off x="2160270" y="15773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5"/>
          <p:cNvSpPr txBox="1"/>
          <p:nvPr/>
        </p:nvSpPr>
        <p:spPr>
          <a:xfrm>
            <a:off x="2160270" y="1954530"/>
            <a:ext cx="141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b="0" i="0" lang="es" sz="12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Satisfacción Pyme, la más baja de la entidad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5"/>
          <p:cNvSpPr/>
          <p:nvPr/>
        </p:nvSpPr>
        <p:spPr>
          <a:xfrm>
            <a:off x="2160270" y="2729484"/>
            <a:ext cx="1419600" cy="185100"/>
          </a:xfrm>
          <a:prstGeom prst="roundRect">
            <a:avLst>
              <a:gd fmla="val 4814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5"/>
          <p:cNvSpPr txBox="1"/>
          <p:nvPr/>
        </p:nvSpPr>
        <p:spPr>
          <a:xfrm>
            <a:off x="2160270" y="2729484"/>
            <a:ext cx="141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5"/>
          <p:cNvSpPr/>
          <p:nvPr/>
        </p:nvSpPr>
        <p:spPr>
          <a:xfrm>
            <a:off x="3771900" y="1474470"/>
            <a:ext cx="1625400" cy="15432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5"/>
          <p:cNvSpPr/>
          <p:nvPr/>
        </p:nvSpPr>
        <p:spPr>
          <a:xfrm>
            <a:off x="3874770" y="1577340"/>
            <a:ext cx="308700" cy="30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5"/>
          <p:cNvSpPr txBox="1"/>
          <p:nvPr/>
        </p:nvSpPr>
        <p:spPr>
          <a:xfrm>
            <a:off x="3874770" y="15773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5"/>
          <p:cNvSpPr txBox="1"/>
          <p:nvPr/>
        </p:nvSpPr>
        <p:spPr>
          <a:xfrm>
            <a:off x="3874770" y="1954530"/>
            <a:ext cx="141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b="0" i="0" lang="es" sz="12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Evaluación crediticia sin info. estructurada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5"/>
          <p:cNvSpPr/>
          <p:nvPr/>
        </p:nvSpPr>
        <p:spPr>
          <a:xfrm>
            <a:off x="3874770" y="2729484"/>
            <a:ext cx="1419600" cy="185100"/>
          </a:xfrm>
          <a:prstGeom prst="roundRect">
            <a:avLst>
              <a:gd fmla="val 48148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5"/>
          <p:cNvSpPr txBox="1"/>
          <p:nvPr/>
        </p:nvSpPr>
        <p:spPr>
          <a:xfrm>
            <a:off x="3874770" y="2729484"/>
            <a:ext cx="141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5"/>
          <p:cNvSpPr/>
          <p:nvPr/>
        </p:nvSpPr>
        <p:spPr>
          <a:xfrm>
            <a:off x="5486400" y="1474470"/>
            <a:ext cx="1625400" cy="15432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5"/>
          <p:cNvSpPr/>
          <p:nvPr/>
        </p:nvSpPr>
        <p:spPr>
          <a:xfrm>
            <a:off x="5589270" y="1577340"/>
            <a:ext cx="308700" cy="30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5"/>
          <p:cNvSpPr txBox="1"/>
          <p:nvPr/>
        </p:nvSpPr>
        <p:spPr>
          <a:xfrm>
            <a:off x="5589270" y="15773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5"/>
          <p:cNvSpPr txBox="1"/>
          <p:nvPr/>
        </p:nvSpPr>
        <p:spPr>
          <a:xfrm>
            <a:off x="5589270" y="1954530"/>
            <a:ext cx="141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b="0" i="0" lang="es" sz="12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Mayor riesgo crediticio en microempresa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5"/>
          <p:cNvSpPr/>
          <p:nvPr/>
        </p:nvSpPr>
        <p:spPr>
          <a:xfrm>
            <a:off x="5589270" y="2729484"/>
            <a:ext cx="1419600" cy="185100"/>
          </a:xfrm>
          <a:prstGeom prst="roundRect">
            <a:avLst>
              <a:gd fmla="val 48148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5"/>
          <p:cNvSpPr txBox="1"/>
          <p:nvPr/>
        </p:nvSpPr>
        <p:spPr>
          <a:xfrm>
            <a:off x="5589270" y="2729484"/>
            <a:ext cx="141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Transversal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5"/>
          <p:cNvSpPr/>
          <p:nvPr/>
        </p:nvSpPr>
        <p:spPr>
          <a:xfrm>
            <a:off x="7200900" y="1474470"/>
            <a:ext cx="1625400" cy="15432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5"/>
          <p:cNvSpPr/>
          <p:nvPr/>
        </p:nvSpPr>
        <p:spPr>
          <a:xfrm>
            <a:off x="7303770" y="1577340"/>
            <a:ext cx="308700" cy="30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5"/>
          <p:cNvSpPr txBox="1"/>
          <p:nvPr/>
        </p:nvSpPr>
        <p:spPr>
          <a:xfrm>
            <a:off x="7303770" y="15773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5"/>
          <p:cNvSpPr txBox="1"/>
          <p:nvPr/>
        </p:nvSpPr>
        <p:spPr>
          <a:xfrm>
            <a:off x="7303770" y="1954530"/>
            <a:ext cx="141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b="0" i="0" lang="es" sz="12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Alta exposición sancionatoria (Indecopi)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5"/>
          <p:cNvSpPr/>
          <p:nvPr/>
        </p:nvSpPr>
        <p:spPr>
          <a:xfrm>
            <a:off x="7303770" y="2729484"/>
            <a:ext cx="1419600" cy="185100"/>
          </a:xfrm>
          <a:prstGeom prst="roundRect">
            <a:avLst>
              <a:gd fmla="val 48148" name="adj"/>
            </a:avLst>
          </a:prstGeom>
          <a:solidFill>
            <a:srgbClr val="50808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5"/>
          <p:cNvSpPr txBox="1"/>
          <p:nvPr/>
        </p:nvSpPr>
        <p:spPr>
          <a:xfrm>
            <a:off x="7303770" y="2729484"/>
            <a:ext cx="141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5"/>
          <p:cNvSpPr/>
          <p:nvPr/>
        </p:nvSpPr>
        <p:spPr>
          <a:xfrm>
            <a:off x="342900" y="3120390"/>
            <a:ext cx="1625400" cy="15432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5"/>
          <p:cNvSpPr/>
          <p:nvPr/>
        </p:nvSpPr>
        <p:spPr>
          <a:xfrm>
            <a:off x="445770" y="3223260"/>
            <a:ext cx="308700" cy="30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5"/>
          <p:cNvSpPr txBox="1"/>
          <p:nvPr/>
        </p:nvSpPr>
        <p:spPr>
          <a:xfrm>
            <a:off x="445770" y="322326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5"/>
          <p:cNvSpPr txBox="1"/>
          <p:nvPr/>
        </p:nvSpPr>
        <p:spPr>
          <a:xfrm>
            <a:off x="445770" y="3600450"/>
            <a:ext cx="141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b="0" i="0" lang="es" sz="12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Ritmo creciente de sanciones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5"/>
          <p:cNvSpPr/>
          <p:nvPr/>
        </p:nvSpPr>
        <p:spPr>
          <a:xfrm>
            <a:off x="445770" y="4375404"/>
            <a:ext cx="1419600" cy="185100"/>
          </a:xfrm>
          <a:prstGeom prst="roundRect">
            <a:avLst>
              <a:gd fmla="val 48148" name="adj"/>
            </a:avLst>
          </a:prstGeom>
          <a:solidFill>
            <a:srgbClr val="50808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5"/>
          <p:cNvSpPr txBox="1"/>
          <p:nvPr/>
        </p:nvSpPr>
        <p:spPr>
          <a:xfrm>
            <a:off x="445770" y="4375404"/>
            <a:ext cx="141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5"/>
          <p:cNvSpPr/>
          <p:nvPr/>
        </p:nvSpPr>
        <p:spPr>
          <a:xfrm>
            <a:off x="2057400" y="3120390"/>
            <a:ext cx="1625400" cy="15432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5"/>
          <p:cNvSpPr/>
          <p:nvPr/>
        </p:nvSpPr>
        <p:spPr>
          <a:xfrm>
            <a:off x="2160270" y="3223260"/>
            <a:ext cx="308700" cy="30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5"/>
          <p:cNvSpPr txBox="1"/>
          <p:nvPr/>
        </p:nvSpPr>
        <p:spPr>
          <a:xfrm>
            <a:off x="2160270" y="322326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5"/>
          <p:cNvSpPr txBox="1"/>
          <p:nvPr/>
        </p:nvSpPr>
        <p:spPr>
          <a:xfrm>
            <a:off x="2160270" y="3600450"/>
            <a:ext cx="141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b="0" i="0" lang="es" sz="12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Volumen y tiempo de absolución de reclamos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5"/>
          <p:cNvSpPr/>
          <p:nvPr/>
        </p:nvSpPr>
        <p:spPr>
          <a:xfrm>
            <a:off x="2160270" y="4375404"/>
            <a:ext cx="1419600" cy="185100"/>
          </a:xfrm>
          <a:prstGeom prst="roundRect">
            <a:avLst>
              <a:gd fmla="val 48148" name="adj"/>
            </a:avLst>
          </a:prstGeom>
          <a:solidFill>
            <a:srgbClr val="50808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5"/>
          <p:cNvSpPr txBox="1"/>
          <p:nvPr/>
        </p:nvSpPr>
        <p:spPr>
          <a:xfrm>
            <a:off x="2160270" y="4375404"/>
            <a:ext cx="141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5"/>
          <p:cNvSpPr/>
          <p:nvPr/>
        </p:nvSpPr>
        <p:spPr>
          <a:xfrm>
            <a:off x="3771900" y="3120390"/>
            <a:ext cx="1625400" cy="15432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5"/>
          <p:cNvSpPr/>
          <p:nvPr/>
        </p:nvSpPr>
        <p:spPr>
          <a:xfrm>
            <a:off x="3874770" y="3223260"/>
            <a:ext cx="308700" cy="30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5"/>
          <p:cNvSpPr txBox="1"/>
          <p:nvPr/>
        </p:nvSpPr>
        <p:spPr>
          <a:xfrm>
            <a:off x="3874770" y="322326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5"/>
          <p:cNvSpPr txBox="1"/>
          <p:nvPr/>
        </p:nvSpPr>
        <p:spPr>
          <a:xfrm>
            <a:off x="3874770" y="3600450"/>
            <a:ext cx="141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b="0" i="0" lang="es" sz="12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Mayor superficie de exposición a fraude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5"/>
          <p:cNvSpPr/>
          <p:nvPr/>
        </p:nvSpPr>
        <p:spPr>
          <a:xfrm>
            <a:off x="3874770" y="4375404"/>
            <a:ext cx="1419600" cy="185100"/>
          </a:xfrm>
          <a:prstGeom prst="roundRect">
            <a:avLst>
              <a:gd fmla="val 48148" name="adj"/>
            </a:avLst>
          </a:prstGeom>
          <a:solidFill>
            <a:srgbClr val="50808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5"/>
          <p:cNvSpPr txBox="1"/>
          <p:nvPr/>
        </p:nvSpPr>
        <p:spPr>
          <a:xfrm>
            <a:off x="3874770" y="4375404"/>
            <a:ext cx="141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5"/>
          <p:cNvSpPr/>
          <p:nvPr/>
        </p:nvSpPr>
        <p:spPr>
          <a:xfrm>
            <a:off x="5486400" y="3120390"/>
            <a:ext cx="1625400" cy="15432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5"/>
          <p:cNvSpPr/>
          <p:nvPr/>
        </p:nvSpPr>
        <p:spPr>
          <a:xfrm>
            <a:off x="5589270" y="3223260"/>
            <a:ext cx="308700" cy="30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5"/>
          <p:cNvSpPr txBox="1"/>
          <p:nvPr/>
        </p:nvSpPr>
        <p:spPr>
          <a:xfrm>
            <a:off x="5589270" y="322326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5"/>
          <p:cNvSpPr txBox="1"/>
          <p:nvPr/>
        </p:nvSpPr>
        <p:spPr>
          <a:xfrm>
            <a:off x="5589270" y="3600450"/>
            <a:ext cx="141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b="0" i="0" lang="es" sz="12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Penetración digital dispar entre productos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5"/>
          <p:cNvSpPr/>
          <p:nvPr/>
        </p:nvSpPr>
        <p:spPr>
          <a:xfrm>
            <a:off x="5589270" y="4375404"/>
            <a:ext cx="1419600" cy="185100"/>
          </a:xfrm>
          <a:prstGeom prst="roundRect">
            <a:avLst>
              <a:gd fmla="val 48148" name="adj"/>
            </a:avLst>
          </a:prstGeom>
          <a:solidFill>
            <a:srgbClr val="B479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5"/>
          <p:cNvSpPr txBox="1"/>
          <p:nvPr/>
        </p:nvSpPr>
        <p:spPr>
          <a:xfrm>
            <a:off x="5589270" y="4375404"/>
            <a:ext cx="141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E2E-3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5"/>
          <p:cNvSpPr/>
          <p:nvPr/>
        </p:nvSpPr>
        <p:spPr>
          <a:xfrm>
            <a:off x="7200900" y="3120390"/>
            <a:ext cx="1625400" cy="1543200"/>
          </a:xfrm>
          <a:prstGeom prst="roundRect">
            <a:avLst>
              <a:gd fmla="val 2667" name="adj"/>
            </a:avLst>
          </a:prstGeom>
          <a:solidFill>
            <a:srgbClr val="F4F6FB"/>
          </a:solidFill>
          <a:ln cap="flat" cmpd="sng" w="9525">
            <a:solidFill>
              <a:srgbClr val="DD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5"/>
          <p:cNvSpPr/>
          <p:nvPr/>
        </p:nvSpPr>
        <p:spPr>
          <a:xfrm>
            <a:off x="7303770" y="3223260"/>
            <a:ext cx="308700" cy="30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5"/>
          <p:cNvSpPr txBox="1"/>
          <p:nvPr/>
        </p:nvSpPr>
        <p:spPr>
          <a:xfrm>
            <a:off x="7303770" y="322326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5"/>
          <p:cNvSpPr txBox="1"/>
          <p:nvPr/>
        </p:nvSpPr>
        <p:spPr>
          <a:xfrm>
            <a:off x="7303770" y="3600450"/>
            <a:ext cx="141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700"/>
              <a:buFont typeface="Calibri"/>
              <a:buNone/>
            </a:pPr>
            <a:r>
              <a:rPr b="0" i="0" lang="es" sz="12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Rentabilidad bajo el promedio del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5"/>
          <p:cNvSpPr/>
          <p:nvPr/>
        </p:nvSpPr>
        <p:spPr>
          <a:xfrm>
            <a:off x="7303770" y="4375404"/>
            <a:ext cx="1419600" cy="185100"/>
          </a:xfrm>
          <a:prstGeom prst="roundRect">
            <a:avLst>
              <a:gd fmla="val 48148" name="adj"/>
            </a:avLst>
          </a:prstGeom>
          <a:solidFill>
            <a:srgbClr val="6D2E4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5"/>
          <p:cNvSpPr txBox="1"/>
          <p:nvPr/>
        </p:nvSpPr>
        <p:spPr>
          <a:xfrm>
            <a:off x="7303770" y="4375404"/>
            <a:ext cx="14196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Transversal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5"/>
          <p:cNvSpPr txBox="1"/>
          <p:nvPr/>
        </p:nvSpPr>
        <p:spPr>
          <a:xfrm>
            <a:off x="8457971" y="486918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s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36"/>
          <p:cNvSpPr/>
          <p:nvPr/>
        </p:nvSpPr>
        <p:spPr>
          <a:xfrm>
            <a:off x="539875" y="501626"/>
            <a:ext cx="80643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ontserrat"/>
              <a:buNone/>
            </a:pPr>
            <a:r>
              <a:rPr b="1" i="0" lang="e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Criterios de evaluación y matriz de priorización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6"/>
          <p:cNvSpPr/>
          <p:nvPr/>
        </p:nvSpPr>
        <p:spPr>
          <a:xfrm>
            <a:off x="539875" y="1021333"/>
            <a:ext cx="34848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Parte A — Criterios de evaluación (escala 1–5)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4" name="Google Shape;614;p36"/>
          <p:cNvGraphicFramePr/>
          <p:nvPr/>
        </p:nvGraphicFramePr>
        <p:xfrm>
          <a:off x="539875" y="1270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{F231B9C4-D003-4A2D-A93F-B472E9FEB4D8}</a:tableStyleId>
              </a:tblPr>
              <a:tblGrid>
                <a:gridCol w="1393825"/>
                <a:gridCol w="1568075"/>
                <a:gridCol w="522700"/>
              </a:tblGrid>
              <a:tr h="259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Criterio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Pregunta orientadora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Peso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40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Impacto estratégico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¿Afecta objetivos clave del negocio?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25%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Impacto económico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¿Genera pérdida de ingresos o sobrecostos?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20%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Impacto en experiencia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¿Afecta al cliente?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20%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Viabilidad tecnológica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¿Puede abordarse con datos, sistemas y automatización?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15%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Urgencia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¿Es relevante para la dirección?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10%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Capacidad de medición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¿Se puede medir antes y después?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10%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5" name="Google Shape;615;p36"/>
          <p:cNvSpPr/>
          <p:nvPr/>
        </p:nvSpPr>
        <p:spPr>
          <a:xfrm>
            <a:off x="4291615" y="1021333"/>
            <a:ext cx="43173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Parte B — Matriz de priorización (puntaje ponderado)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16" name="Google Shape;616;p36"/>
          <p:cNvGraphicFramePr/>
          <p:nvPr/>
        </p:nvGraphicFramePr>
        <p:xfrm>
          <a:off x="4291615" y="12704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{F231B9C4-D003-4A2D-A93F-B472E9FEB4D8}</a:tableStyleId>
              </a:tblPr>
              <a:tblGrid>
                <a:gridCol w="863450"/>
                <a:gridCol w="2158625"/>
                <a:gridCol w="1295175"/>
              </a:tblGrid>
              <a:tr h="25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Dolor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Descripción breve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Puntaje / Orden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0033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25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D1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Baja digitalización originación Pyme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003366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4.70 — 1.º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</a:tr>
              <a:tr h="40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D5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Exposición sancionatoria operaciones no reconocidas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003366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4.55 — 2.º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</a:tr>
              <a:tr h="40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D7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Volumen y tiempo de absolución de reclamos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003366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4.50 — 3.º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</a:tr>
              <a:tr h="25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D9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Penetración digital dispar en productos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3366"/>
                        </a:buClr>
                        <a:buSzPts val="800"/>
                        <a:buFont typeface="Source Sans 3"/>
                        <a:buNone/>
                      </a:pPr>
                      <a:r>
                        <a:rPr b="1" lang="es" sz="800" u="none" cap="none" strike="noStrike">
                          <a:solidFill>
                            <a:srgbClr val="003366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4.40 — 4.º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</a:tr>
              <a:tr h="25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D2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NPS Pyme bajo pese a crecimiento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4.10 — 5.º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</a:tr>
              <a:tr h="25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D8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Exposición a fraude por crecimiento digital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4.00 — 6.º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</a:tr>
              <a:tr h="25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D6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Aceleración del ritmo sancionatorio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3.95 — 7.º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</a:tr>
              <a:tr h="25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D4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Mayor riesgo crediticio en microempresa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3.90 — 8.º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</a:tr>
              <a:tr h="40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D3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Evaluación crediticia con info no estructurada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3.80 — 9.º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5F5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3920"/>
                      </a:srgbClr>
                    </a:solidFill>
                  </a:tcPr>
                </a:tc>
              </a:tr>
              <a:tr h="257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D10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ROE por debajo del promedio del sistema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800"/>
                        <a:buFont typeface="Source Sans 3"/>
                        <a:buNone/>
                      </a:pPr>
                      <a:r>
                        <a:rPr lang="es" sz="8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3.30 — 10.º</a:t>
                      </a:r>
                      <a:endParaRPr sz="8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07575" marL="10757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392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7"/>
          <p:cNvSpPr/>
          <p:nvPr/>
        </p:nvSpPr>
        <p:spPr>
          <a:xfrm>
            <a:off x="381000" y="1028700"/>
            <a:ext cx="2638500" cy="2209800"/>
          </a:xfrm>
          <a:prstGeom prst="roundRect">
            <a:avLst>
              <a:gd fmla="val 4310" name="adj"/>
            </a:avLst>
          </a:prstGeom>
          <a:solidFill>
            <a:srgbClr val="1E2761"/>
          </a:solidFill>
          <a:ln cap="flat" cmpd="sng" w="143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3" name="Google Shape;623;p37"/>
          <p:cNvSpPr/>
          <p:nvPr/>
        </p:nvSpPr>
        <p:spPr>
          <a:xfrm>
            <a:off x="3248025" y="1028700"/>
            <a:ext cx="2638500" cy="2209800"/>
          </a:xfrm>
          <a:prstGeom prst="roundRect">
            <a:avLst>
              <a:gd fmla="val 4310" name="adj"/>
            </a:avLst>
          </a:prstGeom>
          <a:solidFill>
            <a:srgbClr val="FFFFFF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4" name="Google Shape;624;p37"/>
          <p:cNvSpPr/>
          <p:nvPr/>
        </p:nvSpPr>
        <p:spPr>
          <a:xfrm>
            <a:off x="6115050" y="1028700"/>
            <a:ext cx="2638500" cy="2209800"/>
          </a:xfrm>
          <a:prstGeom prst="roundRect">
            <a:avLst>
              <a:gd fmla="val 4310" name="adj"/>
            </a:avLst>
          </a:prstGeom>
          <a:solidFill>
            <a:srgbClr val="FFFFFF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5" name="Google Shape;625;p37"/>
          <p:cNvSpPr/>
          <p:nvPr/>
        </p:nvSpPr>
        <p:spPr>
          <a:xfrm>
            <a:off x="381000" y="3429000"/>
            <a:ext cx="8382000" cy="1295400"/>
          </a:xfrm>
          <a:prstGeom prst="roundRect">
            <a:avLst>
              <a:gd fmla="val 7352" name="adj"/>
            </a:avLst>
          </a:prstGeom>
          <a:solidFill>
            <a:srgbClr val="FFFBEB"/>
          </a:solidFill>
          <a:ln cap="flat" cmpd="sng" w="143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6" name="Google Shape;626;p37"/>
          <p:cNvSpPr txBox="1"/>
          <p:nvPr/>
        </p:nvSpPr>
        <p:spPr>
          <a:xfrm>
            <a:off x="381000" y="38100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Tres bloques de prioridad, y una regla de no redundancia</a:t>
            </a:r>
            <a:endParaRPr b="1" sz="2200">
              <a:solidFill>
                <a:srgbClr val="0F172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7" name="Google Shape;627;p37"/>
          <p:cNvSpPr txBox="1"/>
          <p:nvPr/>
        </p:nvSpPr>
        <p:spPr>
          <a:xfrm>
            <a:off x="552450" y="1181100"/>
            <a:ext cx="14289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Alta prioridad</a:t>
            </a:r>
            <a:endParaRPr b="1" sz="15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28" name="Google Shape;628;p37"/>
          <p:cNvSpPr txBox="1"/>
          <p:nvPr/>
        </p:nvSpPr>
        <p:spPr>
          <a:xfrm>
            <a:off x="1924050" y="1171575"/>
            <a:ext cx="9240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4.40 – 4.70</a:t>
            </a:r>
            <a:endParaRPr b="1" sz="115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7"/>
          <p:cNvSpPr txBox="1"/>
          <p:nvPr/>
        </p:nvSpPr>
        <p:spPr>
          <a:xfrm>
            <a:off x="552450" y="1504950"/>
            <a:ext cx="22956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D1 · D5 · D7 · D9</a:t>
            </a:r>
            <a:endParaRPr b="1" sz="1300">
              <a:solidFill>
                <a:srgbClr val="38B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7"/>
          <p:cNvSpPr txBox="1"/>
          <p:nvPr/>
        </p:nvSpPr>
        <p:spPr>
          <a:xfrm>
            <a:off x="552450" y="1828800"/>
            <a:ext cx="22956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5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Comprometen a la vez objetivos estratégicos, resultado económico y experiencia; abordables con la plataforma de datos e IA ya desplegada.</a:t>
            </a:r>
            <a:endParaRPr b="0" sz="115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7"/>
          <p:cNvSpPr txBox="1"/>
          <p:nvPr/>
        </p:nvSpPr>
        <p:spPr>
          <a:xfrm>
            <a:off x="3419475" y="1181100"/>
            <a:ext cx="14289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Prioridad media</a:t>
            </a:r>
            <a:endParaRPr b="1" sz="1500">
              <a:solidFill>
                <a:srgbClr val="0F172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2" name="Google Shape;632;p37"/>
          <p:cNvSpPr txBox="1"/>
          <p:nvPr/>
        </p:nvSpPr>
        <p:spPr>
          <a:xfrm>
            <a:off x="4791075" y="1171575"/>
            <a:ext cx="9240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3.90 – 4.10</a:t>
            </a:r>
            <a:endParaRPr b="1" sz="1150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7"/>
          <p:cNvSpPr txBox="1"/>
          <p:nvPr/>
        </p:nvSpPr>
        <p:spPr>
          <a:xfrm>
            <a:off x="3419475" y="1504950"/>
            <a:ext cx="22956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rPr>
              <a:t>D2 · D8 · D6 · D4 · D3</a:t>
            </a:r>
            <a:endParaRPr b="1" sz="1300">
              <a:solidFill>
                <a:srgbClr val="0284C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7"/>
          <p:cNvSpPr txBox="1"/>
          <p:nvPr/>
        </p:nvSpPr>
        <p:spPr>
          <a:xfrm>
            <a:off x="3419475" y="1828800"/>
            <a:ext cx="22956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Dolores relevantes cuya atención depende de resolver primero los del primer bloque.</a:t>
            </a:r>
            <a:endParaRPr b="0" sz="11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7"/>
          <p:cNvSpPr txBox="1"/>
          <p:nvPr/>
        </p:nvSpPr>
        <p:spPr>
          <a:xfrm>
            <a:off x="6286500" y="1181100"/>
            <a:ext cx="15240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Prioridad baja</a:t>
            </a:r>
            <a:endParaRPr b="1" sz="1500">
              <a:solidFill>
                <a:srgbClr val="0F172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6" name="Google Shape;636;p37"/>
          <p:cNvSpPr txBox="1"/>
          <p:nvPr/>
        </p:nvSpPr>
        <p:spPr>
          <a:xfrm>
            <a:off x="7753350" y="1171575"/>
            <a:ext cx="8286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5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3.30</a:t>
            </a:r>
            <a:endParaRPr b="1" sz="1150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7"/>
          <p:cNvSpPr txBox="1"/>
          <p:nvPr/>
        </p:nvSpPr>
        <p:spPr>
          <a:xfrm>
            <a:off x="6286500" y="1504950"/>
            <a:ext cx="22956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D10</a:t>
            </a:r>
            <a:endParaRPr b="1" sz="1300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7"/>
          <p:cNvSpPr txBox="1"/>
          <p:nvPr/>
        </p:nvSpPr>
        <p:spPr>
          <a:xfrm>
            <a:off x="6286500" y="1828800"/>
            <a:ext cx="2295600" cy="125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Impacto económico máximo, pero es un efecto agregado, no un dolor de proceso; baja viabilidad tecnológica directa.</a:t>
            </a:r>
            <a:endParaRPr b="0" sz="11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7"/>
          <p:cNvSpPr txBox="1"/>
          <p:nvPr/>
        </p:nvSpPr>
        <p:spPr>
          <a:xfrm>
            <a:off x="609600" y="3581400"/>
            <a:ext cx="792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Regla de no redundancia</a:t>
            </a:r>
            <a:endParaRPr b="1" sz="1300">
              <a:solidFill>
                <a:srgbClr val="B4530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7"/>
          <p:cNvSpPr txBox="1"/>
          <p:nvPr/>
        </p:nvSpPr>
        <p:spPr>
          <a:xfrm>
            <a:off x="609600" y="3848100"/>
            <a:ext cx="7924800" cy="72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D5 y D7 pertenecen al mismo proceso E2E-2 y guardan relación causa-efecto: D7 es la debilidad operativa en la resolución del reclamo; D5, su consecuencia sancionatoria. Se consolidan en un único dolor crítico (conservando el puntaje mayor) para evitar formular dos veces la misma iniciativa.</a:t>
            </a:r>
            <a:endParaRPr b="0" sz="12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8"/>
          <p:cNvSpPr/>
          <p:nvPr/>
        </p:nvSpPr>
        <p:spPr>
          <a:xfrm>
            <a:off x="7886700" y="-1028700"/>
            <a:ext cx="2743200" cy="2743200"/>
          </a:xfrm>
          <a:prstGeom prst="ellipse">
            <a:avLst/>
          </a:prstGeom>
          <a:solidFill>
            <a:srgbClr val="141B4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8"/>
          <p:cNvSpPr txBox="1"/>
          <p:nvPr/>
        </p:nvSpPr>
        <p:spPr>
          <a:xfrm>
            <a:off x="342900" y="651510"/>
            <a:ext cx="6858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mbria"/>
              <a:buNone/>
            </a:pPr>
            <a:r>
              <a:rPr b="1" i="0" lang="es" sz="2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Tres dolores críticos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8"/>
          <p:cNvSpPr txBox="1"/>
          <p:nvPr/>
        </p:nvSpPr>
        <p:spPr>
          <a:xfrm>
            <a:off x="342900" y="1062990"/>
            <a:ext cx="754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0" i="1" lang="e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Cubren tres procesos E2E distintos, evitando que el plan de sistemas concentre toda su capacidad en un solo frente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8"/>
          <p:cNvSpPr/>
          <p:nvPr/>
        </p:nvSpPr>
        <p:spPr>
          <a:xfrm>
            <a:off x="342900" y="1543050"/>
            <a:ext cx="2729400" cy="3154800"/>
          </a:xfrm>
          <a:prstGeom prst="roundRect">
            <a:avLst>
              <a:gd fmla="val 25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8"/>
          <p:cNvSpPr txBox="1"/>
          <p:nvPr/>
        </p:nvSpPr>
        <p:spPr>
          <a:xfrm>
            <a:off x="548640" y="1735074"/>
            <a:ext cx="2318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s" sz="2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DC1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8"/>
          <p:cNvSpPr/>
          <p:nvPr/>
        </p:nvSpPr>
        <p:spPr>
          <a:xfrm>
            <a:off x="2009394" y="1783080"/>
            <a:ext cx="857400" cy="288000"/>
          </a:xfrm>
          <a:prstGeom prst="roundRect">
            <a:avLst>
              <a:gd fmla="val 50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8"/>
          <p:cNvSpPr txBox="1"/>
          <p:nvPr/>
        </p:nvSpPr>
        <p:spPr>
          <a:xfrm>
            <a:off x="2009394" y="1783080"/>
            <a:ext cx="857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4.70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8"/>
          <p:cNvSpPr txBox="1"/>
          <p:nvPr/>
        </p:nvSpPr>
        <p:spPr>
          <a:xfrm>
            <a:off x="548640" y="2194560"/>
            <a:ext cx="2318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808E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50808E"/>
                </a:solidFill>
                <a:latin typeface="Calibri"/>
                <a:ea typeface="Calibri"/>
                <a:cs typeface="Calibri"/>
                <a:sym typeface="Calibri"/>
              </a:rPr>
              <a:t>E2E-1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8"/>
          <p:cNvSpPr txBox="1"/>
          <p:nvPr/>
        </p:nvSpPr>
        <p:spPr>
          <a:xfrm>
            <a:off x="548640" y="2434590"/>
            <a:ext cx="2318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100"/>
              <a:buFont typeface="Calibri"/>
              <a:buNone/>
            </a:pPr>
            <a:r>
              <a:rPr b="1" i="0" lang="es" sz="13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Baja digitalización de la originación de crédito Pyme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8"/>
          <p:cNvSpPr txBox="1"/>
          <p:nvPr/>
        </p:nvSpPr>
        <p:spPr>
          <a:xfrm>
            <a:off x="548640" y="3257550"/>
            <a:ext cx="23181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00"/>
              <a:buFont typeface="Calibri"/>
              <a:buNone/>
            </a:pPr>
            <a:r>
              <a:rPr b="0" i="0" lang="es" sz="11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El canal digital representa solo un tercio de las colocaciones, pese a resolver la operación en tres minutos promedio.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8"/>
          <p:cNvSpPr/>
          <p:nvPr/>
        </p:nvSpPr>
        <p:spPr>
          <a:xfrm>
            <a:off x="3161538" y="1543050"/>
            <a:ext cx="2729400" cy="3154800"/>
          </a:xfrm>
          <a:prstGeom prst="roundRect">
            <a:avLst>
              <a:gd fmla="val 25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8"/>
          <p:cNvSpPr txBox="1"/>
          <p:nvPr/>
        </p:nvSpPr>
        <p:spPr>
          <a:xfrm>
            <a:off x="3367278" y="1735074"/>
            <a:ext cx="2318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s" sz="2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DC2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8"/>
          <p:cNvSpPr/>
          <p:nvPr/>
        </p:nvSpPr>
        <p:spPr>
          <a:xfrm>
            <a:off x="4828032" y="1783080"/>
            <a:ext cx="857400" cy="288000"/>
          </a:xfrm>
          <a:prstGeom prst="roundRect">
            <a:avLst>
              <a:gd fmla="val 50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8"/>
          <p:cNvSpPr txBox="1"/>
          <p:nvPr/>
        </p:nvSpPr>
        <p:spPr>
          <a:xfrm>
            <a:off x="4828032" y="1783080"/>
            <a:ext cx="857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4.55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8"/>
          <p:cNvSpPr txBox="1"/>
          <p:nvPr/>
        </p:nvSpPr>
        <p:spPr>
          <a:xfrm>
            <a:off x="3367278" y="2194560"/>
            <a:ext cx="2318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808E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50808E"/>
                </a:solidFill>
                <a:latin typeface="Calibri"/>
                <a:ea typeface="Calibri"/>
                <a:cs typeface="Calibri"/>
                <a:sym typeface="Calibri"/>
              </a:rPr>
              <a:t>E2E-2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8"/>
          <p:cNvSpPr txBox="1"/>
          <p:nvPr/>
        </p:nvSpPr>
        <p:spPr>
          <a:xfrm>
            <a:off x="3367278" y="2434590"/>
            <a:ext cx="2318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100"/>
              <a:buFont typeface="Calibri"/>
              <a:buNone/>
            </a:pPr>
            <a:r>
              <a:rPr b="1" i="0" lang="es" sz="13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Tiempo de resolución y exposición sancionatoria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8"/>
          <p:cNvSpPr txBox="1"/>
          <p:nvPr/>
        </p:nvSpPr>
        <p:spPr>
          <a:xfrm>
            <a:off x="3367278" y="3257550"/>
            <a:ext cx="23181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00"/>
              <a:buFont typeface="Calibri"/>
              <a:buNone/>
            </a:pPr>
            <a:r>
              <a:rPr b="0" i="0" lang="es" sz="11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Integra D5 y D7: la debilidad operativa en reclamos por operaciones no reconocidas y su consecuencia sancionatoria.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8"/>
          <p:cNvSpPr/>
          <p:nvPr/>
        </p:nvSpPr>
        <p:spPr>
          <a:xfrm>
            <a:off x="5980176" y="1543050"/>
            <a:ext cx="2729400" cy="3154800"/>
          </a:xfrm>
          <a:prstGeom prst="roundRect">
            <a:avLst>
              <a:gd fmla="val 25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8"/>
          <p:cNvSpPr txBox="1"/>
          <p:nvPr/>
        </p:nvSpPr>
        <p:spPr>
          <a:xfrm>
            <a:off x="6185916" y="1735074"/>
            <a:ext cx="2318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s" sz="2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DC3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8"/>
          <p:cNvSpPr/>
          <p:nvPr/>
        </p:nvSpPr>
        <p:spPr>
          <a:xfrm>
            <a:off x="7646670" y="1783080"/>
            <a:ext cx="857400" cy="288000"/>
          </a:xfrm>
          <a:prstGeom prst="roundRect">
            <a:avLst>
              <a:gd fmla="val 5000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8"/>
          <p:cNvSpPr txBox="1"/>
          <p:nvPr/>
        </p:nvSpPr>
        <p:spPr>
          <a:xfrm>
            <a:off x="7646670" y="1783080"/>
            <a:ext cx="857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4.40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8"/>
          <p:cNvSpPr txBox="1"/>
          <p:nvPr/>
        </p:nvSpPr>
        <p:spPr>
          <a:xfrm>
            <a:off x="6185916" y="2194560"/>
            <a:ext cx="2318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808E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50808E"/>
                </a:solidFill>
                <a:latin typeface="Calibri"/>
                <a:ea typeface="Calibri"/>
                <a:cs typeface="Calibri"/>
                <a:sym typeface="Calibri"/>
              </a:rPr>
              <a:t>E2E-3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8"/>
          <p:cNvSpPr txBox="1"/>
          <p:nvPr/>
        </p:nvSpPr>
        <p:spPr>
          <a:xfrm>
            <a:off x="6185916" y="2434590"/>
            <a:ext cx="23181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1100"/>
              <a:buFont typeface="Calibri"/>
              <a:buNone/>
            </a:pPr>
            <a:r>
              <a:rPr b="1" i="0" lang="es" sz="13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Penetración digital dispar en contratación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8"/>
          <p:cNvSpPr txBox="1"/>
          <p:nvPr/>
        </p:nvSpPr>
        <p:spPr>
          <a:xfrm>
            <a:off x="6185916" y="3257550"/>
            <a:ext cx="23181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00"/>
              <a:buFont typeface="Calibri"/>
              <a:buNone/>
            </a:pPr>
            <a:r>
              <a:rPr b="0" i="0" lang="es" sz="11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Dos de cada tres cuentas se contratan por canal asistido pese a existir una ruta de apertura íntegramente digital.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9"/>
          <p:cNvSpPr txBox="1"/>
          <p:nvPr/>
        </p:nvSpPr>
        <p:spPr>
          <a:xfrm>
            <a:off x="342900" y="617220"/>
            <a:ext cx="8435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100"/>
              <a:buFont typeface="Cambria"/>
              <a:buNone/>
            </a:pPr>
            <a:r>
              <a:rPr b="1" i="0" lang="es" sz="2100" u="none" cap="none" strike="noStrike">
                <a:solidFill>
                  <a:srgbClr val="141B4D"/>
                </a:solidFill>
                <a:latin typeface="Cambria"/>
                <a:ea typeface="Cambria"/>
                <a:cs typeface="Cambria"/>
                <a:sym typeface="Cambria"/>
              </a:rPr>
              <a:t>Indicadores base: DC1 y DC3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9"/>
          <p:cNvSpPr txBox="1"/>
          <p:nvPr/>
        </p:nvSpPr>
        <p:spPr>
          <a:xfrm>
            <a:off x="342900" y="1062990"/>
            <a:ext cx="8435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1" lang="es" sz="12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Línea base pública, meta propuesta por el equipo (pendiente de validación con la entidad)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9"/>
          <p:cNvSpPr/>
          <p:nvPr/>
        </p:nvSpPr>
        <p:spPr>
          <a:xfrm>
            <a:off x="342900" y="1474470"/>
            <a:ext cx="4080600" cy="308700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9"/>
          <p:cNvSpPr txBox="1"/>
          <p:nvPr/>
        </p:nvSpPr>
        <p:spPr>
          <a:xfrm>
            <a:off x="342900" y="1474470"/>
            <a:ext cx="40806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DC1 · Originación de crédito Pyme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9"/>
          <p:cNvSpPr/>
          <p:nvPr/>
        </p:nvSpPr>
        <p:spPr>
          <a:xfrm>
            <a:off x="342900" y="1837944"/>
            <a:ext cx="4080600" cy="4803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39"/>
          <p:cNvSpPr txBox="1"/>
          <p:nvPr/>
        </p:nvSpPr>
        <p:spPr>
          <a:xfrm>
            <a:off x="445770" y="1879092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Tasa de originación digital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9"/>
          <p:cNvSpPr txBox="1"/>
          <p:nvPr/>
        </p:nvSpPr>
        <p:spPr>
          <a:xfrm>
            <a:off x="445770" y="2084832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1" lang="e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Colocaciones digitales / total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9"/>
          <p:cNvSpPr txBox="1"/>
          <p:nvPr/>
        </p:nvSpPr>
        <p:spPr>
          <a:xfrm>
            <a:off x="2777490" y="1837944"/>
            <a:ext cx="15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33% → 60%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9"/>
          <p:cNvSpPr/>
          <p:nvPr/>
        </p:nvSpPr>
        <p:spPr>
          <a:xfrm>
            <a:off x="342900" y="2372868"/>
            <a:ext cx="4080600" cy="4803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39"/>
          <p:cNvSpPr txBox="1"/>
          <p:nvPr/>
        </p:nvSpPr>
        <p:spPr>
          <a:xfrm>
            <a:off x="445770" y="2414016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Tiempo de ciclo digital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9"/>
          <p:cNvSpPr txBox="1"/>
          <p:nvPr/>
        </p:nvSpPr>
        <p:spPr>
          <a:xfrm>
            <a:off x="445770" y="2619756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1" lang="e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Solicitud a aprobación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9"/>
          <p:cNvSpPr txBox="1"/>
          <p:nvPr/>
        </p:nvSpPr>
        <p:spPr>
          <a:xfrm>
            <a:off x="2777490" y="2372868"/>
            <a:ext cx="15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3 min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9"/>
          <p:cNvSpPr/>
          <p:nvPr/>
        </p:nvSpPr>
        <p:spPr>
          <a:xfrm>
            <a:off x="342900" y="2907792"/>
            <a:ext cx="4080600" cy="4803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9"/>
          <p:cNvSpPr txBox="1"/>
          <p:nvPr/>
        </p:nvSpPr>
        <p:spPr>
          <a:xfrm>
            <a:off x="445770" y="2948940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Transaccionalidad digital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9"/>
          <p:cNvSpPr txBox="1"/>
          <p:nvPr/>
        </p:nvSpPr>
        <p:spPr>
          <a:xfrm>
            <a:off x="445770" y="3154680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1" lang="e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Portafolio que transacciona en digital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9"/>
          <p:cNvSpPr txBox="1"/>
          <p:nvPr/>
        </p:nvSpPr>
        <p:spPr>
          <a:xfrm>
            <a:off x="2777490" y="2907792"/>
            <a:ext cx="15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75% → 85%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9"/>
          <p:cNvSpPr/>
          <p:nvPr/>
        </p:nvSpPr>
        <p:spPr>
          <a:xfrm>
            <a:off x="342900" y="3442716"/>
            <a:ext cx="4080600" cy="4803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9"/>
          <p:cNvSpPr txBox="1"/>
          <p:nvPr/>
        </p:nvSpPr>
        <p:spPr>
          <a:xfrm>
            <a:off x="445770" y="3483864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NPS segmento Pyme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9"/>
          <p:cNvSpPr txBox="1"/>
          <p:nvPr/>
        </p:nvSpPr>
        <p:spPr>
          <a:xfrm>
            <a:off x="445770" y="3689604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1" lang="e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Índice de recomendación neta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 txBox="1"/>
          <p:nvPr/>
        </p:nvSpPr>
        <p:spPr>
          <a:xfrm>
            <a:off x="2777490" y="3442716"/>
            <a:ext cx="15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33.6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9"/>
          <p:cNvSpPr/>
          <p:nvPr/>
        </p:nvSpPr>
        <p:spPr>
          <a:xfrm>
            <a:off x="342900" y="3977640"/>
            <a:ext cx="4080600" cy="4803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9"/>
          <p:cNvSpPr txBox="1"/>
          <p:nvPr/>
        </p:nvSpPr>
        <p:spPr>
          <a:xfrm>
            <a:off x="445770" y="4018788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Clientes Pyme digitales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9"/>
          <p:cNvSpPr txBox="1"/>
          <p:nvPr/>
        </p:nvSpPr>
        <p:spPr>
          <a:xfrm>
            <a:off x="445770" y="4224528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1" lang="e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% que opera por canales digitales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9"/>
          <p:cNvSpPr txBox="1"/>
          <p:nvPr/>
        </p:nvSpPr>
        <p:spPr>
          <a:xfrm>
            <a:off x="2777490" y="3977640"/>
            <a:ext cx="15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74% → 85%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9"/>
          <p:cNvSpPr/>
          <p:nvPr/>
        </p:nvSpPr>
        <p:spPr>
          <a:xfrm>
            <a:off x="4697730" y="1474470"/>
            <a:ext cx="4080600" cy="308700"/>
          </a:xfrm>
          <a:prstGeom prst="roundRect">
            <a:avLst>
              <a:gd fmla="val 11111" name="adj"/>
            </a:avLst>
          </a:prstGeom>
          <a:solidFill>
            <a:srgbClr val="B4791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9"/>
          <p:cNvSpPr txBox="1"/>
          <p:nvPr/>
        </p:nvSpPr>
        <p:spPr>
          <a:xfrm>
            <a:off x="4697730" y="1474470"/>
            <a:ext cx="40806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DC3 · Contratación por canal digital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9"/>
          <p:cNvSpPr/>
          <p:nvPr/>
        </p:nvSpPr>
        <p:spPr>
          <a:xfrm>
            <a:off x="4697730" y="1837944"/>
            <a:ext cx="4080600" cy="4803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9"/>
          <p:cNvSpPr txBox="1"/>
          <p:nvPr/>
        </p:nvSpPr>
        <p:spPr>
          <a:xfrm>
            <a:off x="4800600" y="1879092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Penetración digital en cuentas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9"/>
          <p:cNvSpPr txBox="1"/>
          <p:nvPr/>
        </p:nvSpPr>
        <p:spPr>
          <a:xfrm>
            <a:off x="4800600" y="2084832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1" lang="e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% contratado sin asistencia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9"/>
          <p:cNvSpPr txBox="1"/>
          <p:nvPr/>
        </p:nvSpPr>
        <p:spPr>
          <a:xfrm>
            <a:off x="7132320" y="1837944"/>
            <a:ext cx="15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33% → 55%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9"/>
          <p:cNvSpPr/>
          <p:nvPr/>
        </p:nvSpPr>
        <p:spPr>
          <a:xfrm>
            <a:off x="4697730" y="2372868"/>
            <a:ext cx="4080600" cy="4803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39"/>
          <p:cNvSpPr txBox="1"/>
          <p:nvPr/>
        </p:nvSpPr>
        <p:spPr>
          <a:xfrm>
            <a:off x="4800600" y="2414016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Penetración en tarjetas de crédito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9"/>
          <p:cNvSpPr txBox="1"/>
          <p:nvPr/>
        </p:nvSpPr>
        <p:spPr>
          <a:xfrm>
            <a:off x="4800600" y="2619756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1" lang="e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% contratado sin asistencia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9"/>
          <p:cNvSpPr txBox="1"/>
          <p:nvPr/>
        </p:nvSpPr>
        <p:spPr>
          <a:xfrm>
            <a:off x="7132320" y="2372868"/>
            <a:ext cx="15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50% → 70%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9"/>
          <p:cNvSpPr/>
          <p:nvPr/>
        </p:nvSpPr>
        <p:spPr>
          <a:xfrm>
            <a:off x="4697730" y="2907792"/>
            <a:ext cx="4080600" cy="4803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9"/>
          <p:cNvSpPr txBox="1"/>
          <p:nvPr/>
        </p:nvSpPr>
        <p:spPr>
          <a:xfrm>
            <a:off x="4800600" y="2948940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Penetración en préstamos de consumo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9"/>
          <p:cNvSpPr txBox="1"/>
          <p:nvPr/>
        </p:nvSpPr>
        <p:spPr>
          <a:xfrm>
            <a:off x="4800600" y="3154680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1" lang="e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% contratado sin asistencia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9"/>
          <p:cNvSpPr txBox="1"/>
          <p:nvPr/>
        </p:nvSpPr>
        <p:spPr>
          <a:xfrm>
            <a:off x="7132320" y="2907792"/>
            <a:ext cx="15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54% → 70%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9"/>
          <p:cNvSpPr/>
          <p:nvPr/>
        </p:nvSpPr>
        <p:spPr>
          <a:xfrm>
            <a:off x="4697730" y="3442716"/>
            <a:ext cx="4080600" cy="48030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9"/>
          <p:cNvSpPr txBox="1"/>
          <p:nvPr/>
        </p:nvSpPr>
        <p:spPr>
          <a:xfrm>
            <a:off x="4800600" y="3483864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Ventas digitales totales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9"/>
          <p:cNvSpPr txBox="1"/>
          <p:nvPr/>
        </p:nvSpPr>
        <p:spPr>
          <a:xfrm>
            <a:off x="4800600" y="3689604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1" lang="e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% de ventas totales del banco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9"/>
          <p:cNvSpPr txBox="1"/>
          <p:nvPr/>
        </p:nvSpPr>
        <p:spPr>
          <a:xfrm>
            <a:off x="7132320" y="3442716"/>
            <a:ext cx="15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79.57% → 85%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9"/>
          <p:cNvSpPr/>
          <p:nvPr/>
        </p:nvSpPr>
        <p:spPr>
          <a:xfrm>
            <a:off x="4697730" y="3977640"/>
            <a:ext cx="4080600" cy="480300"/>
          </a:xfrm>
          <a:prstGeom prst="roundRect">
            <a:avLst>
              <a:gd fmla="val 5714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9"/>
          <p:cNvSpPr txBox="1"/>
          <p:nvPr/>
        </p:nvSpPr>
        <p:spPr>
          <a:xfrm>
            <a:off x="4800600" y="4018788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800"/>
              <a:buFont typeface="Calibri"/>
              <a:buNone/>
            </a:pPr>
            <a:r>
              <a:rPr b="1" i="0" lang="es" sz="1000" u="none" cap="none" strike="noStrike">
                <a:solidFill>
                  <a:srgbClr val="141B4D"/>
                </a:solidFill>
                <a:latin typeface="Calibri"/>
                <a:ea typeface="Calibri"/>
                <a:cs typeface="Calibri"/>
                <a:sym typeface="Calibri"/>
              </a:rPr>
              <a:t>Costo de adquisición por canal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9"/>
          <p:cNvSpPr txBox="1"/>
          <p:nvPr/>
        </p:nvSpPr>
        <p:spPr>
          <a:xfrm>
            <a:off x="4800600" y="4224528"/>
            <a:ext cx="22632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1" lang="es" sz="9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Digital vs. asistido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9"/>
          <p:cNvSpPr txBox="1"/>
          <p:nvPr/>
        </p:nvSpPr>
        <p:spPr>
          <a:xfrm>
            <a:off x="7132320" y="3977640"/>
            <a:ext cx="1543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791E"/>
              </a:buClr>
              <a:buSzPts val="1000"/>
              <a:buFont typeface="Calibri"/>
              <a:buNone/>
            </a:pPr>
            <a:r>
              <a:rPr b="1" i="0" lang="es" sz="1200" u="none" cap="none" strike="noStrike">
                <a:solidFill>
                  <a:srgbClr val="B4791E"/>
                </a:solidFill>
                <a:latin typeface="Calibri"/>
                <a:ea typeface="Calibri"/>
                <a:cs typeface="Calibri"/>
                <a:sym typeface="Calibri"/>
              </a:rPr>
              <a:t>Por definir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9"/>
          <p:cNvSpPr txBox="1"/>
          <p:nvPr/>
        </p:nvSpPr>
        <p:spPr>
          <a:xfrm>
            <a:off x="8457971" y="486918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s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0"/>
          <p:cNvSpPr txBox="1"/>
          <p:nvPr/>
        </p:nvSpPr>
        <p:spPr>
          <a:xfrm>
            <a:off x="342900" y="617220"/>
            <a:ext cx="8435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B4D"/>
              </a:buClr>
              <a:buSzPts val="2100"/>
              <a:buFont typeface="Cambria"/>
              <a:buNone/>
            </a:pPr>
            <a:r>
              <a:rPr b="1" i="0" lang="es" sz="2100" u="none" cap="none" strike="noStrike">
                <a:solidFill>
                  <a:srgbClr val="141B4D"/>
                </a:solidFill>
                <a:latin typeface="Cambria"/>
                <a:ea typeface="Cambria"/>
                <a:cs typeface="Cambria"/>
                <a:sym typeface="Cambria"/>
              </a:rPr>
              <a:t>Indicadores base: DC2 · Operaciones no reconocidas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40"/>
          <p:cNvSpPr txBox="1"/>
          <p:nvPr/>
        </p:nvSpPr>
        <p:spPr>
          <a:xfrm>
            <a:off x="342900" y="1062990"/>
            <a:ext cx="8435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00"/>
              <a:buFont typeface="Calibri"/>
              <a:buNone/>
            </a:pPr>
            <a:r>
              <a:rPr b="0" i="1" lang="e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Cálculo propio con base en los reportes mensuales de reclamos (abril–junio 2026)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0"/>
          <p:cNvSpPr/>
          <p:nvPr/>
        </p:nvSpPr>
        <p:spPr>
          <a:xfrm>
            <a:off x="342900" y="1508760"/>
            <a:ext cx="8469600" cy="3429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0"/>
          <p:cNvSpPr txBox="1"/>
          <p:nvPr/>
        </p:nvSpPr>
        <p:spPr>
          <a:xfrm>
            <a:off x="480060" y="1508760"/>
            <a:ext cx="3703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Indicador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0"/>
          <p:cNvSpPr txBox="1"/>
          <p:nvPr/>
        </p:nvSpPr>
        <p:spPr>
          <a:xfrm>
            <a:off x="4320540" y="1508760"/>
            <a:ext cx="2126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Línea base (2T2026)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0"/>
          <p:cNvSpPr txBox="1"/>
          <p:nvPr/>
        </p:nvSpPr>
        <p:spPr>
          <a:xfrm>
            <a:off x="6583680" y="1508760"/>
            <a:ext cx="2091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Referencia comparativa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0"/>
          <p:cNvSpPr/>
          <p:nvPr/>
        </p:nvSpPr>
        <p:spPr>
          <a:xfrm>
            <a:off x="342900" y="1920240"/>
            <a:ext cx="8469600" cy="493800"/>
          </a:xfrm>
          <a:prstGeom prst="roundRect">
            <a:avLst>
              <a:gd fmla="val 5556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40"/>
          <p:cNvSpPr txBox="1"/>
          <p:nvPr/>
        </p:nvSpPr>
        <p:spPr>
          <a:xfrm>
            <a:off x="480060" y="1920240"/>
            <a:ext cx="370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00"/>
              <a:buFont typeface="Calibri"/>
              <a:buNone/>
            </a:pPr>
            <a:r>
              <a:rPr b="0" i="0" lang="es" sz="11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Tiempo promedio de absolución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0"/>
          <p:cNvSpPr txBox="1"/>
          <p:nvPr/>
        </p:nvSpPr>
        <p:spPr>
          <a:xfrm>
            <a:off x="4320540" y="1920240"/>
            <a:ext cx="2126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mbria"/>
              <a:buNone/>
            </a:pPr>
            <a:r>
              <a:rPr b="1" i="0" lang="e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11.29 días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0"/>
          <p:cNvSpPr txBox="1"/>
          <p:nvPr/>
        </p:nvSpPr>
        <p:spPr>
          <a:xfrm>
            <a:off x="6583680" y="1920240"/>
            <a:ext cx="2091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1" lang="e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8.02 días (todos los reclamos)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0"/>
          <p:cNvSpPr/>
          <p:nvPr/>
        </p:nvSpPr>
        <p:spPr>
          <a:xfrm>
            <a:off x="342900" y="2468880"/>
            <a:ext cx="8469600" cy="4938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40"/>
          <p:cNvSpPr txBox="1"/>
          <p:nvPr/>
        </p:nvSpPr>
        <p:spPr>
          <a:xfrm>
            <a:off x="480060" y="2468880"/>
            <a:ext cx="370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00"/>
              <a:buFont typeface="Calibri"/>
              <a:buNone/>
            </a:pPr>
            <a:r>
              <a:rPr b="0" i="0" lang="es" sz="11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Tasa de resolución a favor del usuario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0"/>
          <p:cNvSpPr txBox="1"/>
          <p:nvPr/>
        </p:nvSpPr>
        <p:spPr>
          <a:xfrm>
            <a:off x="4320540" y="2468880"/>
            <a:ext cx="2126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mbria"/>
              <a:buNone/>
            </a:pPr>
            <a:r>
              <a:rPr b="1" i="0" lang="e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21.63%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0"/>
          <p:cNvSpPr txBox="1"/>
          <p:nvPr/>
        </p:nvSpPr>
        <p:spPr>
          <a:xfrm>
            <a:off x="6583680" y="2468880"/>
            <a:ext cx="2091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1" lang="e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29.43% (todos los reclamos)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0"/>
          <p:cNvSpPr/>
          <p:nvPr/>
        </p:nvSpPr>
        <p:spPr>
          <a:xfrm>
            <a:off x="342900" y="3017520"/>
            <a:ext cx="8469600" cy="493800"/>
          </a:xfrm>
          <a:prstGeom prst="roundRect">
            <a:avLst>
              <a:gd fmla="val 5556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40"/>
          <p:cNvSpPr txBox="1"/>
          <p:nvPr/>
        </p:nvSpPr>
        <p:spPr>
          <a:xfrm>
            <a:off x="480060" y="3017520"/>
            <a:ext cx="370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00"/>
              <a:buFont typeface="Calibri"/>
              <a:buNone/>
            </a:pPr>
            <a:r>
              <a:rPr b="0" i="0" lang="es" sz="11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Incidencia de reclamos de la materia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0"/>
          <p:cNvSpPr txBox="1"/>
          <p:nvPr/>
        </p:nvSpPr>
        <p:spPr>
          <a:xfrm>
            <a:off x="4320540" y="3017520"/>
            <a:ext cx="2126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mbria"/>
              <a:buNone/>
            </a:pPr>
            <a:r>
              <a:rPr b="1" i="0" lang="e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3.03 / 100 mil op.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0"/>
          <p:cNvSpPr txBox="1"/>
          <p:nvPr/>
        </p:nvSpPr>
        <p:spPr>
          <a:xfrm>
            <a:off x="6583680" y="3017520"/>
            <a:ext cx="2091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1" lang="e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15.17 / 100 mil (todos)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0"/>
          <p:cNvSpPr/>
          <p:nvPr/>
        </p:nvSpPr>
        <p:spPr>
          <a:xfrm>
            <a:off x="342900" y="3566160"/>
            <a:ext cx="8469600" cy="493800"/>
          </a:xfrm>
          <a:prstGeom prst="roundRect">
            <a:avLst>
              <a:gd fmla="val 555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0"/>
          <p:cNvSpPr txBox="1"/>
          <p:nvPr/>
        </p:nvSpPr>
        <p:spPr>
          <a:xfrm>
            <a:off x="480060" y="3566160"/>
            <a:ext cx="370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00"/>
              <a:buFont typeface="Calibri"/>
              <a:buNone/>
            </a:pPr>
            <a:r>
              <a:rPr b="0" i="0" lang="es" sz="11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Volumen absuelto de la materia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0"/>
          <p:cNvSpPr txBox="1"/>
          <p:nvPr/>
        </p:nvSpPr>
        <p:spPr>
          <a:xfrm>
            <a:off x="4320540" y="3566160"/>
            <a:ext cx="2126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mbria"/>
              <a:buNone/>
            </a:pPr>
            <a:r>
              <a:rPr b="1" i="0" lang="e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13,959 casos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40"/>
          <p:cNvSpPr txBox="1"/>
          <p:nvPr/>
        </p:nvSpPr>
        <p:spPr>
          <a:xfrm>
            <a:off x="6583680" y="3566160"/>
            <a:ext cx="2091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1" lang="e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69,939 total absueltos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0"/>
          <p:cNvSpPr/>
          <p:nvPr/>
        </p:nvSpPr>
        <p:spPr>
          <a:xfrm>
            <a:off x="342900" y="4114800"/>
            <a:ext cx="8469600" cy="493800"/>
          </a:xfrm>
          <a:prstGeom prst="roundRect">
            <a:avLst>
              <a:gd fmla="val 5556" name="adj"/>
            </a:avLst>
          </a:prstGeom>
          <a:solidFill>
            <a:srgbClr val="F4F6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0"/>
          <p:cNvSpPr txBox="1"/>
          <p:nvPr/>
        </p:nvSpPr>
        <p:spPr>
          <a:xfrm>
            <a:off x="480060" y="4114800"/>
            <a:ext cx="3703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1F2B"/>
              </a:buClr>
              <a:buSzPts val="900"/>
              <a:buFont typeface="Calibri"/>
              <a:buNone/>
            </a:pPr>
            <a:r>
              <a:rPr b="0" i="0" lang="es" sz="1100" u="none" cap="none" strike="noStrike">
                <a:solidFill>
                  <a:srgbClr val="1B1F2B"/>
                </a:solidFill>
                <a:latin typeface="Calibri"/>
                <a:ea typeface="Calibri"/>
                <a:cs typeface="Calibri"/>
                <a:sym typeface="Calibri"/>
              </a:rPr>
              <a:t>Trazabilidad en autoservicio (Blue Buddy)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0"/>
          <p:cNvSpPr txBox="1"/>
          <p:nvPr/>
        </p:nvSpPr>
        <p:spPr>
          <a:xfrm>
            <a:off x="4320540" y="4114800"/>
            <a:ext cx="21261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mbria"/>
              <a:buNone/>
            </a:pPr>
            <a:r>
              <a:rPr b="1" i="0" lang="es" sz="13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90% adopción interna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0"/>
          <p:cNvSpPr txBox="1"/>
          <p:nvPr/>
        </p:nvSpPr>
        <p:spPr>
          <a:xfrm>
            <a:off x="6583680" y="4114800"/>
            <a:ext cx="20916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Calibri"/>
              <a:buNone/>
            </a:pPr>
            <a:r>
              <a:rPr b="0" i="1" lang="es" sz="10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Meta: 100% trazable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0"/>
          <p:cNvSpPr txBox="1"/>
          <p:nvPr/>
        </p:nvSpPr>
        <p:spPr>
          <a:xfrm>
            <a:off x="8457971" y="486918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00"/>
              <a:buFont typeface="Calibri"/>
              <a:buNone/>
            </a:pPr>
            <a:r>
              <a:rPr b="0" i="0" lang="es" sz="700" u="none" cap="none" strike="noStrike">
                <a:solidFill>
                  <a:srgbClr val="5B647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1"/>
          <p:cNvSpPr/>
          <p:nvPr/>
        </p:nvSpPr>
        <p:spPr>
          <a:xfrm>
            <a:off x="0" y="0"/>
            <a:ext cx="95400" cy="51435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41"/>
          <p:cNvSpPr/>
          <p:nvPr/>
        </p:nvSpPr>
        <p:spPr>
          <a:xfrm>
            <a:off x="666750" y="1238250"/>
            <a:ext cx="7810500" cy="2667000"/>
          </a:xfrm>
          <a:prstGeom prst="roundRect">
            <a:avLst>
              <a:gd fmla="val 5714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41"/>
          <p:cNvSpPr/>
          <p:nvPr/>
        </p:nvSpPr>
        <p:spPr>
          <a:xfrm>
            <a:off x="1095375" y="2000250"/>
            <a:ext cx="57300" cy="11430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1" name="Google Shape;761;p41"/>
          <p:cNvGrpSpPr/>
          <p:nvPr/>
        </p:nvGrpSpPr>
        <p:grpSpPr>
          <a:xfrm>
            <a:off x="1333500" y="1428750"/>
            <a:ext cx="6762900" cy="2286000"/>
            <a:chOff x="0" y="0"/>
            <a:chExt cx="6762900" cy="2286000"/>
          </a:xfrm>
        </p:grpSpPr>
        <p:sp>
          <p:nvSpPr>
            <p:cNvPr id="762" name="Google Shape;762;p41"/>
            <p:cNvSpPr/>
            <p:nvPr/>
          </p:nvSpPr>
          <p:spPr>
            <a:xfrm>
              <a:off x="0" y="0"/>
              <a:ext cx="67629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1"/>
            <p:cNvSpPr txBox="1"/>
            <p:nvPr/>
          </p:nvSpPr>
          <p:spPr>
            <a:xfrm>
              <a:off x="0" y="0"/>
              <a:ext cx="6762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Hipótesis de las iniciativas a ser desarrolladas y Descripción detallada de los puntos de dolor AS IS</a:t>
              </a:r>
              <a:endParaRPr b="1" sz="2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764" name="Google Shape;764;p41"/>
          <p:cNvPicPr preferRelativeResize="0"/>
          <p:nvPr/>
        </p:nvPicPr>
        <p:blipFill rotWithShape="1">
          <a:blip r:embed="rId4">
            <a:alphaModFix/>
          </a:blip>
          <a:srcRect b="318" l="0" r="0" t="318"/>
          <a:stretch/>
        </p:blipFill>
        <p:spPr>
          <a:xfrm>
            <a:off x="8001000" y="381000"/>
            <a:ext cx="5715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8625" y="4714875"/>
            <a:ext cx="804000" cy="1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42"/>
          <p:cNvSpPr/>
          <p:nvPr/>
        </p:nvSpPr>
        <p:spPr>
          <a:xfrm>
            <a:off x="539875" y="753591"/>
            <a:ext cx="80643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Montserrat"/>
              <a:buNone/>
            </a:pPr>
            <a:r>
              <a:rPr b="1" i="0" lang="es" sz="2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Contexto Competitivo en IA Conversacional (Perú)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2"/>
          <p:cNvSpPr/>
          <p:nvPr/>
        </p:nvSpPr>
        <p:spPr>
          <a:xfrm>
            <a:off x="539875" y="1792263"/>
            <a:ext cx="85215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Implementar un bot conversacional genérico ya no es diferencial. La competencia y el propio banco ya lo ofrecen públicamente.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2"/>
          <p:cNvSpPr/>
          <p:nvPr/>
        </p:nvSpPr>
        <p:spPr>
          <a:xfrm>
            <a:off x="539875" y="2130698"/>
            <a:ext cx="2604900" cy="1614000"/>
          </a:xfrm>
          <a:prstGeom prst="roundRect">
            <a:avLst>
              <a:gd fmla="val 129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2"/>
          <p:cNvSpPr/>
          <p:nvPr/>
        </p:nvSpPr>
        <p:spPr>
          <a:xfrm>
            <a:off x="678657" y="2269480"/>
            <a:ext cx="2327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Mibanco — Julio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2"/>
          <p:cNvSpPr/>
          <p:nvPr/>
        </p:nvSpPr>
        <p:spPr>
          <a:xfrm>
            <a:off x="678657" y="2541612"/>
            <a:ext cx="2327100" cy="10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Agente agéntico (AWS) en WhatsApp para cuentas y desembolsos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60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1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357,000 interacciones</a:t>
            </a: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y </a:t>
            </a:r>
            <a:r>
              <a:rPr b="1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S/ 10.6 millones</a:t>
            </a: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desembolsados en primeros meses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2"/>
          <p:cNvSpPr/>
          <p:nvPr/>
        </p:nvSpPr>
        <p:spPr>
          <a:xfrm>
            <a:off x="3269610" y="2130698"/>
            <a:ext cx="2604900" cy="1614000"/>
          </a:xfrm>
          <a:prstGeom prst="roundRect">
            <a:avLst>
              <a:gd fmla="val 129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42"/>
          <p:cNvSpPr/>
          <p:nvPr/>
        </p:nvSpPr>
        <p:spPr>
          <a:xfrm>
            <a:off x="3408393" y="2269480"/>
            <a:ext cx="2327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BCP — 2024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2"/>
          <p:cNvSpPr/>
          <p:nvPr/>
        </p:nvSpPr>
        <p:spPr>
          <a:xfrm>
            <a:off x="3408393" y="2541612"/>
            <a:ext cx="23271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Voicebot atiende el </a:t>
            </a:r>
            <a:r>
              <a:rPr b="1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30%</a:t>
            </a: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llamadas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60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Circunscrito a consultas informativas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2"/>
          <p:cNvSpPr/>
          <p:nvPr/>
        </p:nvSpPr>
        <p:spPr>
          <a:xfrm>
            <a:off x="5999346" y="2130698"/>
            <a:ext cx="2604900" cy="1614000"/>
          </a:xfrm>
          <a:prstGeom prst="roundRect">
            <a:avLst>
              <a:gd fmla="val 129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42"/>
          <p:cNvSpPr/>
          <p:nvPr/>
        </p:nvSpPr>
        <p:spPr>
          <a:xfrm>
            <a:off x="6138128" y="2269480"/>
            <a:ext cx="2327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BBVA Perú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2"/>
          <p:cNvSpPr/>
          <p:nvPr/>
        </p:nvSpPr>
        <p:spPr>
          <a:xfrm>
            <a:off x="6138128" y="2541612"/>
            <a:ext cx="23271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"Blue" desde 2021: resolvió </a:t>
            </a:r>
            <a:r>
              <a:rPr b="1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&gt;3 millones</a:t>
            </a: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consultas a 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000"/>
              </a:lnSpc>
              <a:spcBef>
                <a:spcPts val="60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"Blue Voicebot" desde 2024 para derivación con validación de DNI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2"/>
          <p:cNvSpPr/>
          <p:nvPr/>
        </p:nvSpPr>
        <p:spPr>
          <a:xfrm>
            <a:off x="539875" y="3885233"/>
            <a:ext cx="8064300" cy="504600"/>
          </a:xfrm>
          <a:prstGeom prst="roundRect">
            <a:avLst>
              <a:gd fmla="val 4127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83" name="Google Shape;78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657" y="4056757"/>
            <a:ext cx="173529" cy="138782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42"/>
          <p:cNvSpPr/>
          <p:nvPr/>
        </p:nvSpPr>
        <p:spPr>
          <a:xfrm>
            <a:off x="990974" y="4044851"/>
            <a:ext cx="79317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Source Sans 3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océano rojo es real: la diferenciación exige pasar de bots informativos a agentes con capacidad de acción y decisión.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3"/>
          <p:cNvSpPr/>
          <p:nvPr/>
        </p:nvSpPr>
        <p:spPr>
          <a:xfrm>
            <a:off x="535796" y="392906"/>
            <a:ext cx="1464600" cy="200100"/>
          </a:xfrm>
          <a:prstGeom prst="roundRect">
            <a:avLst>
              <a:gd fmla="val 10714" name="adj"/>
            </a:avLst>
          </a:prstGeom>
          <a:solidFill>
            <a:srgbClr val="000000">
              <a:alpha val="0"/>
            </a:srgbClr>
          </a:solidFill>
          <a:ln cap="flat" cmpd="sng" w="7150">
            <a:solidFill>
              <a:srgbClr val="2D2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3"/>
          <p:cNvSpPr txBox="1"/>
          <p:nvPr/>
        </p:nvSpPr>
        <p:spPr>
          <a:xfrm>
            <a:off x="607235" y="428625"/>
            <a:ext cx="1428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DC1 — MATRIZ DE DIAGNÓSTICO</a:t>
            </a:r>
            <a:endParaRPr b="0" i="0" sz="800" u="none" cap="none" strike="noStrike">
              <a:solidFill>
                <a:srgbClr val="2D2E34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92" name="Google Shape;792;p43"/>
          <p:cNvSpPr txBox="1"/>
          <p:nvPr/>
        </p:nvSpPr>
        <p:spPr>
          <a:xfrm>
            <a:off x="535796" y="657225"/>
            <a:ext cx="8058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Situación Actual de Originación Pyme (As Is)</a:t>
            </a:r>
            <a:endParaRPr b="1" i="0" sz="2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3" name="Google Shape;793;p43"/>
          <p:cNvSpPr/>
          <p:nvPr/>
        </p:nvSpPr>
        <p:spPr>
          <a:xfrm>
            <a:off x="535796" y="1107281"/>
            <a:ext cx="1893300" cy="1678800"/>
          </a:xfrm>
          <a:prstGeom prst="roundRect">
            <a:avLst>
              <a:gd fmla="val 255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3"/>
          <p:cNvSpPr txBox="1"/>
          <p:nvPr/>
        </p:nvSpPr>
        <p:spPr>
          <a:xfrm>
            <a:off x="642955" y="1200150"/>
            <a:ext cx="16788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Actores Involucrados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Empresario Pyme (PN/PJ), apoderados y avalistas.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Ejecutivo Banca Negocios (ruta asistida).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Motor de decisión y analista de riesgo.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Personal de formalización.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95" name="Google Shape;795;p43"/>
          <p:cNvSpPr/>
          <p:nvPr/>
        </p:nvSpPr>
        <p:spPr>
          <a:xfrm>
            <a:off x="2571819" y="1107281"/>
            <a:ext cx="1893300" cy="1678800"/>
          </a:xfrm>
          <a:prstGeom prst="roundRect">
            <a:avLst>
              <a:gd fmla="val 255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3"/>
          <p:cNvSpPr txBox="1"/>
          <p:nvPr/>
        </p:nvSpPr>
        <p:spPr>
          <a:xfrm>
            <a:off x="2678978" y="1200150"/>
            <a:ext cx="16788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Sistemas Utilizados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Perfil Mi Negocio, App BBVA Empresas 2.0 y Net Cash.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Motor de decisión y ofertas preaprobadas.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Centrales de riesgo y plataforma ADA.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Openpay, QR Empresas y POS.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97" name="Google Shape;797;p43"/>
          <p:cNvSpPr/>
          <p:nvPr/>
        </p:nvSpPr>
        <p:spPr>
          <a:xfrm>
            <a:off x="4607842" y="1107281"/>
            <a:ext cx="1893300" cy="1678800"/>
          </a:xfrm>
          <a:prstGeom prst="roundRect">
            <a:avLst>
              <a:gd fmla="val 255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3"/>
          <p:cNvSpPr txBox="1"/>
          <p:nvPr/>
        </p:nvSpPr>
        <p:spPr>
          <a:xfrm>
            <a:off x="4715001" y="1200150"/>
            <a:ext cx="16788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Canales de Atención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Digital: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App BBVA y Net Cash (solo oferta preaprobada).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Asistido: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Red de oficinas.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Telefónico: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Línea Negocios.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799" name="Google Shape;799;p43"/>
          <p:cNvSpPr/>
          <p:nvPr/>
        </p:nvSpPr>
        <p:spPr>
          <a:xfrm>
            <a:off x="6643865" y="1107281"/>
            <a:ext cx="1893300" cy="1678800"/>
          </a:xfrm>
          <a:prstGeom prst="roundRect">
            <a:avLst>
              <a:gd fmla="val 2553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43"/>
          <p:cNvSpPr txBox="1"/>
          <p:nvPr/>
        </p:nvSpPr>
        <p:spPr>
          <a:xfrm>
            <a:off x="6751024" y="1200150"/>
            <a:ext cx="16788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Actividades Manuales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Entrega presencial de IGV/Renta y EEFF (&lt; 3 meses).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Verificación manual de información no estructurada.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Firma y formalización presencial.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01" name="Google Shape;801;p43"/>
          <p:cNvSpPr/>
          <p:nvPr/>
        </p:nvSpPr>
        <p:spPr>
          <a:xfrm>
            <a:off x="535796" y="2928938"/>
            <a:ext cx="1893300" cy="1750200"/>
          </a:xfrm>
          <a:prstGeom prst="roundRect">
            <a:avLst>
              <a:gd fmla="val 244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43"/>
          <p:cNvSpPr txBox="1"/>
          <p:nvPr/>
        </p:nvSpPr>
        <p:spPr>
          <a:xfrm>
            <a:off x="642955" y="3021806"/>
            <a:ext cx="16788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Tiempos Promedio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Ruta Digital: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~3 min en promedio (Reusche, 2026).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Ruta Asistida: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Sin plazo publicado.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Ciclo Completo: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Sin información pública disponible.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03" name="Google Shape;803;p43"/>
          <p:cNvSpPr/>
          <p:nvPr/>
        </p:nvSpPr>
        <p:spPr>
          <a:xfrm>
            <a:off x="2571819" y="2928938"/>
            <a:ext cx="1893300" cy="1750200"/>
          </a:xfrm>
          <a:prstGeom prst="roundRect">
            <a:avLst>
              <a:gd fmla="val 244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3"/>
          <p:cNvSpPr txBox="1"/>
          <p:nvPr/>
        </p:nvSpPr>
        <p:spPr>
          <a:xfrm>
            <a:off x="2678978" y="3021806"/>
            <a:ext cx="16788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Errores y Fricciones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Crédito digital único y restricción de 45 días tras otro crédito.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Oferta preaprobada obligatoria.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Sectorial: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Solo 1 de cada 4 Mypes accede a crédito.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05" name="Google Shape;805;p43"/>
          <p:cNvSpPr/>
          <p:nvPr/>
        </p:nvSpPr>
        <p:spPr>
          <a:xfrm>
            <a:off x="4607842" y="2928938"/>
            <a:ext cx="1893300" cy="1750200"/>
          </a:xfrm>
          <a:prstGeom prst="roundRect">
            <a:avLst>
              <a:gd fmla="val 2448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43"/>
          <p:cNvSpPr txBox="1"/>
          <p:nvPr/>
        </p:nvSpPr>
        <p:spPr>
          <a:xfrm>
            <a:off x="4715001" y="3021806"/>
            <a:ext cx="16788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Costos Asociados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Tasas: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10% a 75% en soles.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Comisión: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S/ 8.50 por envío de información.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Char char="●"/>
            </a:pP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Referencial: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Ahorro hasta USD 1,500 por crédito automatizado.</a:t>
            </a:r>
            <a:endParaRPr b="0" i="0" sz="800" u="none" cap="none" strike="noStrike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07" name="Google Shape;807;p43"/>
          <p:cNvSpPr/>
          <p:nvPr/>
        </p:nvSpPr>
        <p:spPr>
          <a:xfrm>
            <a:off x="6643865" y="2928938"/>
            <a:ext cx="1893300" cy="1750200"/>
          </a:xfrm>
          <a:prstGeom prst="roundRect">
            <a:avLst>
              <a:gd fmla="val 2448" name="adj"/>
            </a:avLst>
          </a:prstGeom>
          <a:solidFill>
            <a:srgbClr val="2D2E3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3"/>
          <p:cNvSpPr txBox="1"/>
          <p:nvPr/>
        </p:nvSpPr>
        <p:spPr>
          <a:xfrm>
            <a:off x="6751024" y="3021806"/>
            <a:ext cx="16788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Indicadores Clave</a:t>
            </a:r>
            <a:endParaRPr b="1" i="0" sz="10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Créditos Digitales: </a:t>
            </a:r>
            <a:r>
              <a:rPr b="1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33%</a:t>
            </a:r>
            <a:r>
              <a:rPr b="0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del otorgamiento.</a:t>
            </a:r>
            <a:endParaRPr b="0" i="0" sz="8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Portafolio Digital: </a:t>
            </a:r>
            <a:r>
              <a:rPr b="1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75%</a:t>
            </a:r>
            <a:r>
              <a:rPr b="0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| Principalidad: </a:t>
            </a:r>
            <a:r>
              <a:rPr b="1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48%</a:t>
            </a:r>
            <a:r>
              <a:rPr b="0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b="0" i="0" sz="8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Clientes Pyme Digitales: </a:t>
            </a:r>
            <a:r>
              <a:rPr b="1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74%</a:t>
            </a:r>
            <a:r>
              <a:rPr b="0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b="0" i="0" sz="8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Source Sans 3"/>
              <a:buChar char="●"/>
            </a:pPr>
            <a:r>
              <a:rPr b="0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NPS Pyme: </a:t>
            </a:r>
            <a:r>
              <a:rPr b="1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33.6</a:t>
            </a:r>
            <a:r>
              <a:rPr b="0" i="0" lang="es" sz="8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(vs. 52.57 en retail).</a:t>
            </a:r>
            <a:endParaRPr b="0" i="0" sz="800" u="none" cap="none" strike="noStrike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4"/>
          <p:cNvSpPr/>
          <p:nvPr/>
        </p:nvSpPr>
        <p:spPr>
          <a:xfrm>
            <a:off x="539875" y="580579"/>
            <a:ext cx="1048200" cy="175800"/>
          </a:xfrm>
          <a:prstGeom prst="roundRect">
            <a:avLst>
              <a:gd fmla="val 7899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4"/>
          <p:cNvSpPr/>
          <p:nvPr/>
        </p:nvSpPr>
        <p:spPr>
          <a:xfrm>
            <a:off x="609229" y="615256"/>
            <a:ext cx="1366800" cy="1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700"/>
              <a:buFont typeface="Source Sans 3"/>
              <a:buNone/>
            </a:pPr>
            <a:r>
              <a:rPr b="0" i="0" lang="es" sz="7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DC1 — HIPÓTESIS ERRC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44"/>
          <p:cNvSpPr/>
          <p:nvPr/>
        </p:nvSpPr>
        <p:spPr>
          <a:xfrm>
            <a:off x="539875" y="791021"/>
            <a:ext cx="8064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Montserrat"/>
              <a:buNone/>
            </a:pPr>
            <a:r>
              <a:rPr b="1" i="0" lang="e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Agente de Preclasificación Pyme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44"/>
          <p:cNvSpPr/>
          <p:nvPr/>
        </p:nvSpPr>
        <p:spPr>
          <a:xfrm>
            <a:off x="539875" y="1249859"/>
            <a:ext cx="8521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Agente conversacional que lee información no estructurada (fotos de comprobantes) cruzada con data del ecosistema BBVA (Openpay, QR Empresas, Cuenta corriente).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8" name="Google Shape;81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875" y="1596777"/>
            <a:ext cx="578480" cy="69421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44"/>
          <p:cNvSpPr/>
          <p:nvPr/>
        </p:nvSpPr>
        <p:spPr>
          <a:xfrm>
            <a:off x="1205137" y="1712417"/>
            <a:ext cx="4060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Eliminar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44"/>
          <p:cNvSpPr/>
          <p:nvPr/>
        </p:nvSpPr>
        <p:spPr>
          <a:xfrm>
            <a:off x="1205137" y="1963490"/>
            <a:ext cx="4060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Exigencia inicial de documentación financiera estructurada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1" name="Google Shape;82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875" y="2290986"/>
            <a:ext cx="578480" cy="69421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44"/>
          <p:cNvSpPr/>
          <p:nvPr/>
        </p:nvSpPr>
        <p:spPr>
          <a:xfrm>
            <a:off x="1205137" y="2406626"/>
            <a:ext cx="4060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Reducir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44"/>
          <p:cNvSpPr/>
          <p:nvPr/>
        </p:nvSpPr>
        <p:spPr>
          <a:xfrm>
            <a:off x="1205137" y="2657699"/>
            <a:ext cx="4060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Dependencia de "oferta preaprobada" y tiempo "a ciegas" en ruta asistida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4" name="Google Shape;824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875" y="2985194"/>
            <a:ext cx="578480" cy="69421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44"/>
          <p:cNvSpPr/>
          <p:nvPr/>
        </p:nvSpPr>
        <p:spPr>
          <a:xfrm>
            <a:off x="1205137" y="3100834"/>
            <a:ext cx="4060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Elevar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44"/>
          <p:cNvSpPr/>
          <p:nvPr/>
        </p:nvSpPr>
        <p:spPr>
          <a:xfrm>
            <a:off x="1205137" y="3351907"/>
            <a:ext cx="40605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Transparencia de decisión preliminar (cumpliendo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art. 25.3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Ley 31814)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7" name="Google Shape;827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875" y="3679403"/>
            <a:ext cx="578480" cy="785961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44"/>
          <p:cNvSpPr/>
          <p:nvPr/>
        </p:nvSpPr>
        <p:spPr>
          <a:xfrm>
            <a:off x="1205137" y="3795043"/>
            <a:ext cx="4060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Crear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44"/>
          <p:cNvSpPr/>
          <p:nvPr/>
        </p:nvSpPr>
        <p:spPr>
          <a:xfrm>
            <a:off x="1205137" y="4046116"/>
            <a:ext cx="4060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Precalificación bajo demanda sobre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48%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de clientes Pyme con principalidad transaccional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44"/>
          <p:cNvSpPr/>
          <p:nvPr/>
        </p:nvSpPr>
        <p:spPr>
          <a:xfrm>
            <a:off x="5469219" y="1499220"/>
            <a:ext cx="3222900" cy="3063600"/>
          </a:xfrm>
          <a:prstGeom prst="roundRect">
            <a:avLst>
              <a:gd fmla="val 566" name="adj"/>
            </a:avLst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44"/>
          <p:cNvSpPr/>
          <p:nvPr/>
        </p:nvSpPr>
        <p:spPr>
          <a:xfrm>
            <a:off x="5584859" y="1585987"/>
            <a:ext cx="29916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"/>
              <a:buNone/>
            </a:pPr>
            <a:r>
              <a:rPr b="1" i="0" lang="es" sz="1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Meta de Éxito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44"/>
          <p:cNvSpPr/>
          <p:nvPr/>
        </p:nvSpPr>
        <p:spPr>
          <a:xfrm>
            <a:off x="5584859" y="1837060"/>
            <a:ext cx="2991600" cy="6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Montserrat"/>
              <a:buNone/>
            </a:pPr>
            <a:r>
              <a:rPr b="1" i="0" lang="es" sz="4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60%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44"/>
          <p:cNvSpPr/>
          <p:nvPr/>
        </p:nvSpPr>
        <p:spPr>
          <a:xfrm>
            <a:off x="5584859" y="2581127"/>
            <a:ext cx="34488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Originación digital en </a:t>
            </a:r>
            <a:r>
              <a:rPr b="1" i="0" lang="es" sz="9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18 meses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4"/>
          <p:cNvSpPr/>
          <p:nvPr/>
        </p:nvSpPr>
        <p:spPr>
          <a:xfrm>
            <a:off x="5584859" y="2859360"/>
            <a:ext cx="2991600" cy="14400"/>
          </a:xfrm>
          <a:prstGeom prst="roundRect">
            <a:avLst>
              <a:gd fmla="val 49999" name="adj"/>
            </a:avLst>
          </a:prstGeom>
          <a:solidFill>
            <a:srgbClr val="FFFFFF">
              <a:alpha val="5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4"/>
          <p:cNvSpPr/>
          <p:nvPr/>
        </p:nvSpPr>
        <p:spPr>
          <a:xfrm>
            <a:off x="5584859" y="3000077"/>
            <a:ext cx="29916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Desde el </a:t>
            </a:r>
            <a:r>
              <a:rPr b="1" i="0" lang="es" sz="9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33%</a:t>
            </a:r>
            <a:r>
              <a:rPr b="0" i="0" lang="es" sz="9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actual — un incremento de </a:t>
            </a:r>
            <a:r>
              <a:rPr b="1" i="0" lang="es" sz="9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27 puntos porcentuales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" name="Google Shape;841;p45"/>
          <p:cNvGrpSpPr/>
          <p:nvPr/>
        </p:nvGrpSpPr>
        <p:grpSpPr>
          <a:xfrm>
            <a:off x="539875" y="428625"/>
            <a:ext cx="1311075" cy="199125"/>
            <a:chOff x="0" y="0"/>
            <a:chExt cx="1748100" cy="265500"/>
          </a:xfrm>
        </p:grpSpPr>
        <p:sp>
          <p:nvSpPr>
            <p:cNvPr id="842" name="Google Shape;842;p45"/>
            <p:cNvSpPr/>
            <p:nvPr/>
          </p:nvSpPr>
          <p:spPr>
            <a:xfrm>
              <a:off x="0" y="0"/>
              <a:ext cx="1748100" cy="265500"/>
            </a:xfrm>
            <a:prstGeom prst="roundRect">
              <a:avLst>
                <a:gd fmla="val 7899" name="adj"/>
              </a:avLst>
            </a:prstGeom>
            <a:solidFill>
              <a:srgbClr val="000000">
                <a:alpha val="0"/>
              </a:srgbClr>
            </a:solidFill>
            <a:ln cap="flat" cmpd="sng" w="7150">
              <a:solidFill>
                <a:srgbClr val="2D2E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45"/>
            <p:cNvSpPr txBox="1"/>
            <p:nvPr/>
          </p:nvSpPr>
          <p:spPr>
            <a:xfrm>
              <a:off x="104775" y="47625"/>
              <a:ext cx="1571700" cy="17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2D2E3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DC2 — SITUACIÓN ACTUAL</a:t>
              </a:r>
              <a:endParaRPr b="0" i="0" sz="80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sp>
        <p:nvSpPr>
          <p:cNvPr id="844" name="Google Shape;844;p45"/>
          <p:cNvSpPr txBox="1"/>
          <p:nvPr/>
        </p:nvSpPr>
        <p:spPr>
          <a:xfrm>
            <a:off x="539875" y="685800"/>
            <a:ext cx="806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Diagnóstico Operativo As Is — Reclamos y Fraude</a:t>
            </a:r>
            <a:endParaRPr b="1" i="0" sz="2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45" name="Google Shape;845;p45"/>
          <p:cNvGrpSpPr/>
          <p:nvPr/>
        </p:nvGrpSpPr>
        <p:grpSpPr>
          <a:xfrm>
            <a:off x="539875" y="1143000"/>
            <a:ext cx="2586150" cy="3500550"/>
            <a:chOff x="0" y="0"/>
            <a:chExt cx="3448200" cy="4667400"/>
          </a:xfrm>
        </p:grpSpPr>
        <p:sp>
          <p:nvSpPr>
            <p:cNvPr id="846" name="Google Shape;846;p45"/>
            <p:cNvSpPr/>
            <p:nvPr/>
          </p:nvSpPr>
          <p:spPr>
            <a:xfrm>
              <a:off x="0" y="0"/>
              <a:ext cx="3448200" cy="4667400"/>
            </a:xfrm>
            <a:prstGeom prst="roundRect">
              <a:avLst>
                <a:gd fmla="val 1657" name="adj"/>
              </a:avLst>
            </a:prstGeom>
            <a:solidFill>
              <a:srgbClr val="FFFFFF"/>
            </a:solidFill>
            <a:ln cap="flat" cmpd="sng" w="10725">
              <a:solidFill>
                <a:srgbClr val="D8D4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45"/>
            <p:cNvSpPr/>
            <p:nvPr/>
          </p:nvSpPr>
          <p:spPr>
            <a:xfrm>
              <a:off x="0" y="0"/>
              <a:ext cx="3448200" cy="457200"/>
            </a:xfrm>
            <a:prstGeom prst="roundRect">
              <a:avLst>
                <a:gd fmla="val 12500" name="adj"/>
              </a:avLst>
            </a:prstGeom>
            <a:solidFill>
              <a:srgbClr val="1F386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45"/>
            <p:cNvSpPr/>
            <p:nvPr/>
          </p:nvSpPr>
          <p:spPr>
            <a:xfrm>
              <a:off x="0" y="361950"/>
              <a:ext cx="3448200" cy="954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45"/>
            <p:cNvSpPr txBox="1"/>
            <p:nvPr/>
          </p:nvSpPr>
          <p:spPr>
            <a:xfrm>
              <a:off x="190500" y="95250"/>
              <a:ext cx="30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1. Ecosistema y Canales</a:t>
              </a:r>
              <a:endParaRPr b="1" i="0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0" name="Google Shape;850;p45"/>
            <p:cNvSpPr txBox="1"/>
            <p:nvPr/>
          </p:nvSpPr>
          <p:spPr>
            <a:xfrm>
              <a:off x="190500" y="590550"/>
              <a:ext cx="30672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1F386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Actores Involucrados</a:t>
              </a:r>
              <a:endParaRPr b="1" i="0" sz="1100" u="none" cap="none" strike="noStrike">
                <a:solidFill>
                  <a:srgbClr val="1F3864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55555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Cliente, Asesor telefónico/oficina, Analistas de Fraude y Operaciones, Atención al cliente, SBS e Indecopi.</a:t>
              </a:r>
              <a:endParaRPr b="0" i="0" sz="1000" u="none" cap="none" strike="noStrike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1F386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Canales de Atención</a:t>
              </a:r>
              <a:endParaRPr b="1" i="0" sz="1100" u="none" cap="none" strike="noStrike">
                <a:solidFill>
                  <a:srgbClr val="1F3864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55555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App BBVA (registro y alerta), Contact Center, Oficinas físicas y Consulta Web de estado.</a:t>
              </a:r>
              <a:endParaRPr b="0" i="0" sz="1000" u="none" cap="none" strike="noStrike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1F386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Sistemas Principales</a:t>
              </a:r>
              <a:endParaRPr b="1" i="0" sz="1100" u="none" cap="none" strike="noStrike">
                <a:solidFill>
                  <a:srgbClr val="1F3864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28600" lvl="0" marL="34290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Source Sans 3"/>
                <a:buChar char="●"/>
              </a:pPr>
              <a:r>
                <a:rPr b="0" i="0" lang="es" sz="1000" u="none" cap="none" strike="noStrike">
                  <a:solidFill>
                    <a:srgbClr val="222222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Blue Buddy:</a:t>
              </a:r>
              <a:r>
                <a:rPr b="0" i="0" lang="es" sz="1000" u="none" cap="none" strike="noStrike">
                  <a:solidFill>
                    <a:srgbClr val="55555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Flujo de reclamos (90% adopción).</a:t>
              </a:r>
              <a:endParaRPr b="0" i="0" sz="1000" u="none" cap="none" strike="noStrike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28600" lvl="0" marL="34290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Source Sans 3"/>
                <a:buChar char="●"/>
              </a:pPr>
              <a:r>
                <a:rPr b="0" i="0" lang="es" sz="1000" u="none" cap="none" strike="noStrike">
                  <a:solidFill>
                    <a:srgbClr val="222222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Monitoreo:</a:t>
              </a:r>
              <a:r>
                <a:rPr b="0" i="0" lang="es" sz="1000" u="none" cap="none" strike="noStrike">
                  <a:solidFill>
                    <a:srgbClr val="55555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Reglas antifraude transaccionales.</a:t>
              </a:r>
              <a:endParaRPr b="0" i="0" sz="1000" u="none" cap="none" strike="noStrike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28600" lvl="0" marL="34290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555555"/>
                </a:buClr>
                <a:buSzPts val="1000"/>
                <a:buFont typeface="Source Sans 3"/>
                <a:buChar char="●"/>
              </a:pPr>
              <a:r>
                <a:rPr b="0" i="0" lang="es" sz="1000" u="none" cap="none" strike="noStrike">
                  <a:solidFill>
                    <a:srgbClr val="222222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Gestión:</a:t>
              </a:r>
              <a:r>
                <a:rPr b="0" i="0" lang="es" sz="1000" u="none" cap="none" strike="noStrike">
                  <a:solidFill>
                    <a:srgbClr val="55555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Plataforma ADA e incidentes.</a:t>
              </a:r>
              <a:endParaRPr b="0" i="0" sz="1000" u="none" cap="none" strike="noStrike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851" name="Google Shape;851;p45"/>
          <p:cNvGrpSpPr/>
          <p:nvPr/>
        </p:nvGrpSpPr>
        <p:grpSpPr>
          <a:xfrm>
            <a:off x="3278961" y="1143000"/>
            <a:ext cx="2586150" cy="3500550"/>
            <a:chOff x="0" y="0"/>
            <a:chExt cx="3448200" cy="4667400"/>
          </a:xfrm>
        </p:grpSpPr>
        <p:sp>
          <p:nvSpPr>
            <p:cNvPr id="852" name="Google Shape;852;p45"/>
            <p:cNvSpPr/>
            <p:nvPr/>
          </p:nvSpPr>
          <p:spPr>
            <a:xfrm>
              <a:off x="0" y="0"/>
              <a:ext cx="3448200" cy="4667400"/>
            </a:xfrm>
            <a:prstGeom prst="roundRect">
              <a:avLst>
                <a:gd fmla="val 1657" name="adj"/>
              </a:avLst>
            </a:prstGeom>
            <a:solidFill>
              <a:srgbClr val="FFFFFF"/>
            </a:solidFill>
            <a:ln cap="flat" cmpd="sng" w="10725">
              <a:solidFill>
                <a:srgbClr val="D8D4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45"/>
            <p:cNvSpPr/>
            <p:nvPr/>
          </p:nvSpPr>
          <p:spPr>
            <a:xfrm>
              <a:off x="0" y="0"/>
              <a:ext cx="3448200" cy="457200"/>
            </a:xfrm>
            <a:prstGeom prst="roundRect">
              <a:avLst>
                <a:gd fmla="val 12500" name="adj"/>
              </a:avLst>
            </a:prstGeom>
            <a:solidFill>
              <a:srgbClr val="1F386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45"/>
            <p:cNvSpPr/>
            <p:nvPr/>
          </p:nvSpPr>
          <p:spPr>
            <a:xfrm>
              <a:off x="0" y="361950"/>
              <a:ext cx="3448200" cy="9540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45"/>
            <p:cNvSpPr txBox="1"/>
            <p:nvPr/>
          </p:nvSpPr>
          <p:spPr>
            <a:xfrm>
              <a:off x="190500" y="95250"/>
              <a:ext cx="30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2. Carga Manual e Ineficiencia</a:t>
              </a:r>
              <a:endParaRPr b="1" i="0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56" name="Google Shape;856;p45"/>
            <p:cNvSpPr txBox="1"/>
            <p:nvPr/>
          </p:nvSpPr>
          <p:spPr>
            <a:xfrm>
              <a:off x="190500" y="590550"/>
              <a:ext cx="30672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1F386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Actividades Manuales Críticas</a:t>
              </a:r>
              <a:endParaRPr b="1" i="0" sz="1100" u="none" cap="none" strike="noStrike">
                <a:solidFill>
                  <a:srgbClr val="1F3864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28600" lvl="0" marL="34290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Source Sans 3"/>
                <a:buChar char="●"/>
              </a:pPr>
              <a:r>
                <a:rPr b="0" i="0" lang="es" sz="1000" u="none" cap="none" strike="noStrike">
                  <a:solidFill>
                    <a:srgbClr val="55555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Registro y tipificación inicial del reclamo.</a:t>
              </a:r>
              <a:endParaRPr b="0" i="0" sz="1000" u="none" cap="none" strike="noStrike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28600" lvl="0" marL="34290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Source Sans 3"/>
                <a:buChar char="●"/>
              </a:pPr>
              <a:r>
                <a:rPr b="0" i="0" lang="es" sz="1000" u="none" cap="none" strike="noStrike">
                  <a:solidFill>
                    <a:srgbClr val="B91C1C"/>
                  </a:solidFill>
                  <a:latin typeface="Source Sans 3 SemiBold"/>
                  <a:ea typeface="Source Sans 3 SemiBold"/>
                  <a:cs typeface="Source Sans 3 SemiBold"/>
                  <a:sym typeface="Source Sans 3 SemiBold"/>
                </a:rPr>
                <a:t>Revisión manual de trazas</a:t>
              </a:r>
              <a:r>
                <a:rPr b="0" i="0" lang="es" sz="1000" u="none" cap="none" strike="noStrike">
                  <a:solidFill>
                    <a:srgbClr val="55555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operativas en herramientas internas aisladas.</a:t>
              </a:r>
              <a:endParaRPr b="0" i="0" sz="1000" u="none" cap="none" strike="noStrike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28600" lvl="0" marL="34290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Source Sans 3"/>
                <a:buChar char="●"/>
              </a:pPr>
              <a:r>
                <a:rPr b="0" i="0" lang="es" sz="1000" u="none" cap="none" strike="noStrike">
                  <a:solidFill>
                    <a:srgbClr val="55555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Coordinación directa entre Fraude, Operaciones y Atención.</a:t>
              </a:r>
              <a:endParaRPr b="0" i="0" sz="1000" u="none" cap="none" strike="noStrike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-228600" lvl="0" marL="342900" marR="0" rtl="0" algn="l">
                <a:lnSpc>
                  <a:spcPct val="10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555555"/>
                </a:buClr>
                <a:buSzPts val="1000"/>
                <a:buFont typeface="Source Sans 3"/>
                <a:buChar char="●"/>
              </a:pPr>
              <a:r>
                <a:rPr b="0" i="0" lang="es" sz="1000" u="none" cap="none" strike="noStrike">
                  <a:solidFill>
                    <a:srgbClr val="555555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Evaluación y decisión final sobre abono o rechazo.</a:t>
              </a:r>
              <a:endParaRPr b="0" i="0" sz="1000" u="none" cap="none" strike="noStrike">
                <a:solidFill>
                  <a:srgbClr val="555555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1F3864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Brecha de Causa Raíz</a:t>
              </a:r>
              <a:endParaRPr b="1" i="0" sz="1100" u="none" cap="none" strike="noStrike">
                <a:solidFill>
                  <a:srgbClr val="1F3864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1000" u="none" cap="none" strike="noStrike">
                  <a:solidFill>
                    <a:srgbClr val="555555"/>
                  </a:solidFill>
                  <a:highlight>
                    <a:srgbClr val="F8FAFC"/>
                  </a:highlight>
                  <a:latin typeface="Source Sans 3"/>
                  <a:ea typeface="Source Sans 3"/>
                  <a:cs typeface="Source Sans 3"/>
                  <a:sym typeface="Source Sans 3"/>
                </a:rPr>
                <a:t>La resolución a favor del usuario varió dramáticamente de </a:t>
              </a:r>
              <a:r>
                <a:rPr b="1" i="0" lang="es" sz="1000" u="none" cap="none" strike="noStrike">
                  <a:solidFill>
                    <a:srgbClr val="000000"/>
                  </a:solidFill>
                  <a:highlight>
                    <a:srgbClr val="F8FAFC"/>
                  </a:highlight>
                  <a:latin typeface="Source Sans 3"/>
                  <a:ea typeface="Source Sans 3"/>
                  <a:cs typeface="Source Sans 3"/>
                  <a:sym typeface="Source Sans 3"/>
                </a:rPr>
                <a:t>21.63% (2T2026)</a:t>
              </a:r>
              <a:r>
                <a:rPr b="0" i="0" lang="es" sz="1000" u="none" cap="none" strike="noStrike">
                  <a:solidFill>
                    <a:srgbClr val="555555"/>
                  </a:solidFill>
                  <a:highlight>
                    <a:srgbClr val="F8FAFC"/>
                  </a:highlight>
                  <a:latin typeface="Source Sans 3"/>
                  <a:ea typeface="Source Sans 3"/>
                  <a:cs typeface="Source Sans 3"/>
                  <a:sym typeface="Source Sans 3"/>
                </a:rPr>
                <a:t> a </a:t>
              </a:r>
              <a:r>
                <a:rPr b="1" i="0" lang="es" sz="1000" u="none" cap="none" strike="noStrike">
                  <a:solidFill>
                    <a:srgbClr val="000000"/>
                  </a:solidFill>
                  <a:highlight>
                    <a:srgbClr val="F8FAFC"/>
                  </a:highlight>
                  <a:latin typeface="Source Sans 3"/>
                  <a:ea typeface="Source Sans 3"/>
                  <a:cs typeface="Source Sans 3"/>
                  <a:sym typeface="Source Sans 3"/>
                </a:rPr>
                <a:t>84.1% (Jul-Ago 2026)</a:t>
              </a:r>
              <a:r>
                <a:rPr b="0" i="0" lang="es" sz="1000" u="none" cap="none" strike="noStrike">
                  <a:solidFill>
                    <a:srgbClr val="555555"/>
                  </a:solidFill>
                  <a:highlight>
                    <a:srgbClr val="F8FAFC"/>
                  </a:highlight>
                  <a:latin typeface="Source Sans 3"/>
                  <a:ea typeface="Source Sans 3"/>
                  <a:cs typeface="Source Sans 3"/>
                  <a:sym typeface="Source Sans 3"/>
                </a:rPr>
                <a:t>, evidenciando volatilidad operativa no explicada por reportes públicos.</a:t>
              </a:r>
              <a:endParaRPr b="0" i="0" sz="1000" u="none" cap="none" strike="noStrike">
                <a:solidFill>
                  <a:srgbClr val="555555"/>
                </a:solidFill>
                <a:highlight>
                  <a:srgbClr val="F8FAFC"/>
                </a:highlight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857" name="Google Shape;857;p45"/>
          <p:cNvGrpSpPr/>
          <p:nvPr/>
        </p:nvGrpSpPr>
        <p:grpSpPr>
          <a:xfrm>
            <a:off x="6018048" y="1143000"/>
            <a:ext cx="2586150" cy="3500550"/>
            <a:chOff x="0" y="0"/>
            <a:chExt cx="3448200" cy="4667400"/>
          </a:xfrm>
        </p:grpSpPr>
        <p:sp>
          <p:nvSpPr>
            <p:cNvPr id="858" name="Google Shape;858;p45"/>
            <p:cNvSpPr/>
            <p:nvPr/>
          </p:nvSpPr>
          <p:spPr>
            <a:xfrm>
              <a:off x="0" y="0"/>
              <a:ext cx="3448200" cy="4667400"/>
            </a:xfrm>
            <a:prstGeom prst="roundRect">
              <a:avLst>
                <a:gd fmla="val 1657" name="adj"/>
              </a:avLst>
            </a:prstGeom>
            <a:solidFill>
              <a:srgbClr val="2D2E34"/>
            </a:solidFill>
            <a:ln cap="flat" cmpd="sng" w="10725">
              <a:solidFill>
                <a:srgbClr val="2D2E3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45"/>
            <p:cNvSpPr txBox="1"/>
            <p:nvPr/>
          </p:nvSpPr>
          <p:spPr>
            <a:xfrm>
              <a:off x="190500" y="152400"/>
              <a:ext cx="30672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3. Tiempos e Impacto Sectorial</a:t>
              </a:r>
              <a:endParaRPr b="1" i="0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0" name="Google Shape;860;p45"/>
            <p:cNvSpPr txBox="1"/>
            <p:nvPr/>
          </p:nvSpPr>
          <p:spPr>
            <a:xfrm>
              <a:off x="190500" y="552450"/>
              <a:ext cx="3067200" cy="395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s" sz="21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11.29 días</a:t>
              </a:r>
              <a:endParaRPr b="1" i="0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Promedio ops no reconocidas (vs. 8.02 días general). Plazo regulatorio: 15 días.</a:t>
              </a:r>
              <a:endParaRPr b="0" i="0" sz="800" u="none" cap="none" strike="noStrike">
                <a:solidFill>
                  <a:srgbClr val="CBD5E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s" sz="21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13,959</a:t>
              </a:r>
              <a:endParaRPr b="1" i="0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Reclamos absueltos en 2T2026 (20% del total; 3.03 por cada 100k ops).</a:t>
              </a:r>
              <a:endParaRPr b="0" i="0" sz="800" u="none" cap="none" strike="noStrike">
                <a:solidFill>
                  <a:srgbClr val="CBD5E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0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s" sz="1700" u="none" cap="none" strike="noStrike">
                  <a:solidFill>
                    <a:srgbClr val="EF444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3,978.8 UIT</a:t>
              </a:r>
              <a:endParaRPr b="1" i="0" sz="1700" u="none" cap="none" strike="noStrike">
                <a:solidFill>
                  <a:srgbClr val="EF4444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s" sz="700" u="none" cap="none" strike="noStrike">
                  <a:solidFill>
                    <a:srgbClr val="CBD5E1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Multas Indecopi sector financiero (2021-2025). 90% (2,601 sanciones) en la banca.</a:t>
              </a:r>
              <a:endParaRPr b="0" i="0" sz="700" u="none" cap="none" strike="noStrike">
                <a:solidFill>
                  <a:srgbClr val="CBD5E1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46"/>
          <p:cNvSpPr/>
          <p:nvPr/>
        </p:nvSpPr>
        <p:spPr>
          <a:xfrm>
            <a:off x="539875" y="764233"/>
            <a:ext cx="1188600" cy="199200"/>
          </a:xfrm>
          <a:prstGeom prst="roundRect">
            <a:avLst>
              <a:gd fmla="val 7899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6"/>
          <p:cNvSpPr/>
          <p:nvPr/>
        </p:nvSpPr>
        <p:spPr>
          <a:xfrm>
            <a:off x="618531" y="803523"/>
            <a:ext cx="1488300" cy="1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DC2 — HIPÓTESIS ERRC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46"/>
          <p:cNvSpPr/>
          <p:nvPr/>
        </p:nvSpPr>
        <p:spPr>
          <a:xfrm>
            <a:off x="539875" y="1008013"/>
            <a:ext cx="8064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Montserrat"/>
              <a:buNone/>
            </a:pPr>
            <a:r>
              <a:rPr b="1" i="0" lang="es" sz="2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Agente de Investigación de Casos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46"/>
          <p:cNvSpPr/>
          <p:nvPr/>
        </p:nvSpPr>
        <p:spPr>
          <a:xfrm>
            <a:off x="539875" y="1547664"/>
            <a:ext cx="8064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Extender </a:t>
            </a:r>
            <a:r>
              <a:rPr b="1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"Blue Buddy"</a:t>
            </a: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(asistente IA con adopción del </a:t>
            </a:r>
            <a:r>
              <a:rPr b="1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90%</a:t>
            </a: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) hacia investigación automatizada, generando expediente con recomendación explicable.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6"/>
          <p:cNvSpPr/>
          <p:nvPr/>
        </p:nvSpPr>
        <p:spPr>
          <a:xfrm>
            <a:off x="539875" y="2036787"/>
            <a:ext cx="8064300" cy="1758000"/>
          </a:xfrm>
          <a:prstGeom prst="roundRect">
            <a:avLst>
              <a:gd fmla="val 1119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46"/>
          <p:cNvSpPr/>
          <p:nvPr/>
        </p:nvSpPr>
        <p:spPr>
          <a:xfrm>
            <a:off x="539875" y="2036787"/>
            <a:ext cx="4032025" cy="878979"/>
          </a:xfrm>
          <a:custGeom>
            <a:rect b="b" l="l" r="r" t="t"/>
            <a:pathLst>
              <a:path extrusionOk="0" h="1171972" w="5376033">
                <a:moveTo>
                  <a:pt x="21854" y="0"/>
                </a:moveTo>
                <a:lnTo>
                  <a:pt x="5376033" y="0"/>
                </a:lnTo>
                <a:lnTo>
                  <a:pt x="5376033" y="1171972"/>
                </a:lnTo>
                <a:lnTo>
                  <a:pt x="0" y="1171972"/>
                </a:lnTo>
                <a:lnTo>
                  <a:pt x="0" y="21855"/>
                </a:lnTo>
                <a:cubicBezTo>
                  <a:pt x="0" y="9785"/>
                  <a:pt x="9784" y="0"/>
                  <a:pt x="21854" y="0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46"/>
          <p:cNvSpPr/>
          <p:nvPr/>
        </p:nvSpPr>
        <p:spPr>
          <a:xfrm>
            <a:off x="670993" y="2167905"/>
            <a:ext cx="37701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Eliminar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6"/>
          <p:cNvSpPr/>
          <p:nvPr/>
        </p:nvSpPr>
        <p:spPr>
          <a:xfrm>
            <a:off x="670993" y="2420913"/>
            <a:ext cx="3770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Revisión manual secuencial de trazas dispersas entre fraude, atención y operaciones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46"/>
          <p:cNvSpPr/>
          <p:nvPr/>
        </p:nvSpPr>
        <p:spPr>
          <a:xfrm>
            <a:off x="4572008" y="2036787"/>
            <a:ext cx="4032025" cy="878979"/>
          </a:xfrm>
          <a:custGeom>
            <a:rect b="b" l="l" r="r" t="t"/>
            <a:pathLst>
              <a:path extrusionOk="0" h="1171972" w="5376033">
                <a:moveTo>
                  <a:pt x="0" y="0"/>
                </a:moveTo>
                <a:lnTo>
                  <a:pt x="5354179" y="0"/>
                </a:lnTo>
                <a:cubicBezTo>
                  <a:pt x="5359975" y="0"/>
                  <a:pt x="5365534" y="2303"/>
                  <a:pt x="5369632" y="6401"/>
                </a:cubicBezTo>
                <a:cubicBezTo>
                  <a:pt x="5373731" y="10500"/>
                  <a:pt x="5376033" y="16059"/>
                  <a:pt x="5376033" y="21855"/>
                </a:cubicBezTo>
                <a:lnTo>
                  <a:pt x="5376033" y="1171972"/>
                </a:lnTo>
                <a:lnTo>
                  <a:pt x="0" y="1171972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5" name="Google Shape;875;p46"/>
          <p:cNvSpPr/>
          <p:nvPr/>
        </p:nvSpPr>
        <p:spPr>
          <a:xfrm>
            <a:off x="4572008" y="2036787"/>
            <a:ext cx="14400" cy="879000"/>
          </a:xfrm>
          <a:prstGeom prst="roundRect">
            <a:avLst>
              <a:gd fmla="val 49999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46"/>
          <p:cNvSpPr/>
          <p:nvPr/>
        </p:nvSpPr>
        <p:spPr>
          <a:xfrm>
            <a:off x="4703126" y="2167905"/>
            <a:ext cx="37701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Reducir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46"/>
          <p:cNvSpPr/>
          <p:nvPr/>
        </p:nvSpPr>
        <p:spPr>
          <a:xfrm>
            <a:off x="4703126" y="2420913"/>
            <a:ext cx="3770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Intervención humana primaria en reclamos de bajo riesgo y hechos verificables; brecha de información entre cliente y asesor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46"/>
          <p:cNvSpPr/>
          <p:nvPr/>
        </p:nvSpPr>
        <p:spPr>
          <a:xfrm>
            <a:off x="539875" y="2915766"/>
            <a:ext cx="4032025" cy="878979"/>
          </a:xfrm>
          <a:custGeom>
            <a:rect b="b" l="l" r="r" t="t"/>
            <a:pathLst>
              <a:path extrusionOk="0" h="1171972" w="5376033">
                <a:moveTo>
                  <a:pt x="0" y="0"/>
                </a:moveTo>
                <a:lnTo>
                  <a:pt x="5376033" y="0"/>
                </a:lnTo>
                <a:lnTo>
                  <a:pt x="5376033" y="1171972"/>
                </a:lnTo>
                <a:lnTo>
                  <a:pt x="21854" y="1171972"/>
                </a:lnTo>
                <a:cubicBezTo>
                  <a:pt x="9784" y="1171972"/>
                  <a:pt x="0" y="1162187"/>
                  <a:pt x="0" y="1150117"/>
                </a:cubicBez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46"/>
          <p:cNvSpPr/>
          <p:nvPr/>
        </p:nvSpPr>
        <p:spPr>
          <a:xfrm>
            <a:off x="539875" y="2915766"/>
            <a:ext cx="4032000" cy="14400"/>
          </a:xfrm>
          <a:prstGeom prst="roundRect">
            <a:avLst>
              <a:gd fmla="val 49999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6"/>
          <p:cNvSpPr/>
          <p:nvPr/>
        </p:nvSpPr>
        <p:spPr>
          <a:xfrm>
            <a:off x="670993" y="3046884"/>
            <a:ext cx="37701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Elevar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46"/>
          <p:cNvSpPr/>
          <p:nvPr/>
        </p:nvSpPr>
        <p:spPr>
          <a:xfrm>
            <a:off x="670993" y="3299891"/>
            <a:ext cx="3770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Tiempo de absolución de </a:t>
            </a:r>
            <a:r>
              <a:rPr b="1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11.29 días</a:t>
            </a: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hacia el promedio general de </a:t>
            </a:r>
            <a:r>
              <a:rPr b="1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8.02 días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46"/>
          <p:cNvSpPr/>
          <p:nvPr/>
        </p:nvSpPr>
        <p:spPr>
          <a:xfrm>
            <a:off x="4572008" y="2915766"/>
            <a:ext cx="4032025" cy="878979"/>
          </a:xfrm>
          <a:custGeom>
            <a:rect b="b" l="l" r="r" t="t"/>
            <a:pathLst>
              <a:path extrusionOk="0" h="1171972" w="5376033">
                <a:moveTo>
                  <a:pt x="0" y="0"/>
                </a:moveTo>
                <a:lnTo>
                  <a:pt x="5376033" y="0"/>
                </a:lnTo>
                <a:lnTo>
                  <a:pt x="5376033" y="1150117"/>
                </a:lnTo>
                <a:cubicBezTo>
                  <a:pt x="5376033" y="1162187"/>
                  <a:pt x="5366249" y="1171972"/>
                  <a:pt x="5354179" y="1171972"/>
                </a:cubicBezTo>
                <a:lnTo>
                  <a:pt x="0" y="1171972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46"/>
          <p:cNvSpPr/>
          <p:nvPr/>
        </p:nvSpPr>
        <p:spPr>
          <a:xfrm>
            <a:off x="4572008" y="2915766"/>
            <a:ext cx="14400" cy="879000"/>
          </a:xfrm>
          <a:prstGeom prst="roundRect">
            <a:avLst>
              <a:gd fmla="val 49999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46"/>
          <p:cNvSpPr/>
          <p:nvPr/>
        </p:nvSpPr>
        <p:spPr>
          <a:xfrm>
            <a:off x="4572008" y="2915766"/>
            <a:ext cx="4032000" cy="14400"/>
          </a:xfrm>
          <a:prstGeom prst="roundRect">
            <a:avLst>
              <a:gd fmla="val 49999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46"/>
          <p:cNvSpPr/>
          <p:nvPr/>
        </p:nvSpPr>
        <p:spPr>
          <a:xfrm>
            <a:off x="4703126" y="3046884"/>
            <a:ext cx="37701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Crear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46"/>
          <p:cNvSpPr/>
          <p:nvPr/>
        </p:nvSpPr>
        <p:spPr>
          <a:xfrm>
            <a:off x="4703126" y="3299891"/>
            <a:ext cx="3770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Expediente automático con recomendación técnica, sujeto a </a:t>
            </a:r>
            <a:r>
              <a:rPr b="1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veedor humano obligatorio</a:t>
            </a: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antes de decisión final (mitigando riesgo legal)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46"/>
          <p:cNvSpPr/>
          <p:nvPr/>
        </p:nvSpPr>
        <p:spPr>
          <a:xfrm>
            <a:off x="539875" y="3920133"/>
            <a:ext cx="8064300" cy="459000"/>
          </a:xfrm>
          <a:prstGeom prst="roundRect">
            <a:avLst>
              <a:gd fmla="val 4285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88" name="Google Shape;88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993" y="4073351"/>
            <a:ext cx="163855" cy="131117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46"/>
          <p:cNvSpPr/>
          <p:nvPr/>
        </p:nvSpPr>
        <p:spPr>
          <a:xfrm>
            <a:off x="965970" y="4064273"/>
            <a:ext cx="79644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El veedor humano obligatorio es el mecanismo de cumplimiento del art. 31.4 del D.S. N.° 115-2025-PCM en este caso de uso.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7"/>
          <p:cNvSpPr/>
          <p:nvPr/>
        </p:nvSpPr>
        <p:spPr>
          <a:xfrm>
            <a:off x="539875" y="575891"/>
            <a:ext cx="1311000" cy="199200"/>
          </a:xfrm>
          <a:prstGeom prst="roundRect">
            <a:avLst>
              <a:gd fmla="val 7899" name="adj"/>
            </a:avLst>
          </a:prstGeom>
          <a:solidFill>
            <a:srgbClr val="000000">
              <a:alpha val="0"/>
            </a:srgbClr>
          </a:solidFill>
          <a:ln cap="flat" cmpd="sng" w="7150">
            <a:solidFill>
              <a:srgbClr val="2D2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47"/>
          <p:cNvSpPr/>
          <p:nvPr/>
        </p:nvSpPr>
        <p:spPr>
          <a:xfrm>
            <a:off x="618531" y="615181"/>
            <a:ext cx="1610700" cy="120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s" sz="800" u="none" cap="none" strike="noStrike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DC3 — SITUACIÓN ACTUAL</a:t>
            </a:r>
            <a:endParaRPr b="0" i="0" sz="800" u="none" cap="none" strike="noStrike">
              <a:solidFill>
                <a:srgbClr val="2D2E34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897" name="Google Shape;897;p47"/>
          <p:cNvSpPr/>
          <p:nvPr/>
        </p:nvSpPr>
        <p:spPr>
          <a:xfrm>
            <a:off x="539875" y="819674"/>
            <a:ext cx="8064300" cy="37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" sz="2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Contratación Digital — Matriz Diagnóstico (As Is)</a:t>
            </a:r>
            <a:endParaRPr b="1" i="0" sz="2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898" name="Google Shape;898;p47"/>
          <p:cNvGrpSpPr/>
          <p:nvPr/>
        </p:nvGrpSpPr>
        <p:grpSpPr>
          <a:xfrm>
            <a:off x="539875" y="1285875"/>
            <a:ext cx="3929175" cy="785925"/>
            <a:chOff x="0" y="0"/>
            <a:chExt cx="5238900" cy="1047900"/>
          </a:xfrm>
        </p:grpSpPr>
        <p:sp>
          <p:nvSpPr>
            <p:cNvPr id="899" name="Google Shape;899;p47"/>
            <p:cNvSpPr/>
            <p:nvPr/>
          </p:nvSpPr>
          <p:spPr>
            <a:xfrm>
              <a:off x="0" y="0"/>
              <a:ext cx="5238900" cy="1047900"/>
            </a:xfrm>
            <a:prstGeom prst="roundRect">
              <a:avLst>
                <a:gd fmla="val 3636" name="adj"/>
              </a:avLst>
            </a:prstGeom>
            <a:solidFill>
              <a:srgbClr val="F2EE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47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2D2E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47"/>
            <p:cNvSpPr txBox="1"/>
            <p:nvPr/>
          </p:nvSpPr>
          <p:spPr>
            <a:xfrm>
              <a:off x="152400" y="95250"/>
              <a:ext cx="4953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Actores involucrados</a:t>
              </a:r>
              <a:endParaRPr b="1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Cliente o no cliente interesado en contratar un producto; asistente Blue Buddy; personal de oficina que atiende los casos derivados. </a:t>
              </a:r>
              <a:r>
                <a:rPr b="0" i="0" lang="es" sz="800" u="none" cap="none" strike="noStrike">
                  <a:solidFill>
                    <a:srgbClr val="666666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(Tabla 17; Anexo B [F])</a:t>
              </a:r>
              <a:endParaRPr b="0" i="0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902" name="Google Shape;902;p47"/>
          <p:cNvGrpSpPr/>
          <p:nvPr/>
        </p:nvGrpSpPr>
        <p:grpSpPr>
          <a:xfrm>
            <a:off x="539875" y="2128838"/>
            <a:ext cx="3929175" cy="785925"/>
            <a:chOff x="0" y="0"/>
            <a:chExt cx="5238900" cy="1047900"/>
          </a:xfrm>
        </p:grpSpPr>
        <p:sp>
          <p:nvSpPr>
            <p:cNvPr id="903" name="Google Shape;903;p47"/>
            <p:cNvSpPr/>
            <p:nvPr/>
          </p:nvSpPr>
          <p:spPr>
            <a:xfrm>
              <a:off x="0" y="0"/>
              <a:ext cx="5238900" cy="1047900"/>
            </a:xfrm>
            <a:prstGeom prst="roundRect">
              <a:avLst>
                <a:gd fmla="val 3636" name="adj"/>
              </a:avLst>
            </a:prstGeom>
            <a:solidFill>
              <a:srgbClr val="F2EE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47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2D2E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47"/>
            <p:cNvSpPr txBox="1"/>
            <p:nvPr/>
          </p:nvSpPr>
          <p:spPr>
            <a:xfrm>
              <a:off x="152400" y="95250"/>
              <a:ext cx="4953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Sistemas utilizados</a:t>
              </a:r>
              <a:endParaRPr b="1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App BBVA, web, simuladores, flujo digital de contratación (incluido onboarding 100% digital 2026), cajeros, agentes, Plin y QR. </a:t>
              </a:r>
              <a:r>
                <a:rPr b="0" i="0" lang="es" sz="700" u="none" cap="none" strike="noStrike">
                  <a:solidFill>
                    <a:srgbClr val="666666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(Tabla 17; A. Moquillaza, 11/09/2026 [F])</a:t>
              </a:r>
              <a:endParaRPr b="0" i="0" sz="7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906" name="Google Shape;906;p47"/>
          <p:cNvGrpSpPr/>
          <p:nvPr/>
        </p:nvGrpSpPr>
        <p:grpSpPr>
          <a:xfrm>
            <a:off x="539875" y="2971800"/>
            <a:ext cx="3929175" cy="785925"/>
            <a:chOff x="0" y="0"/>
            <a:chExt cx="5238900" cy="1047900"/>
          </a:xfrm>
        </p:grpSpPr>
        <p:sp>
          <p:nvSpPr>
            <p:cNvPr id="907" name="Google Shape;907;p47"/>
            <p:cNvSpPr/>
            <p:nvPr/>
          </p:nvSpPr>
          <p:spPr>
            <a:xfrm>
              <a:off x="0" y="0"/>
              <a:ext cx="5238900" cy="1047900"/>
            </a:xfrm>
            <a:prstGeom prst="roundRect">
              <a:avLst>
                <a:gd fmla="val 3636" name="adj"/>
              </a:avLst>
            </a:prstGeom>
            <a:solidFill>
              <a:srgbClr val="F2EE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47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2D2E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47"/>
            <p:cNvSpPr txBox="1"/>
            <p:nvPr/>
          </p:nvSpPr>
          <p:spPr>
            <a:xfrm>
              <a:off x="152400" y="95250"/>
              <a:ext cx="4953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Canales de atención</a:t>
              </a:r>
              <a:endParaRPr b="1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s" sz="8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App BBVA (</a:t>
              </a:r>
              <a:r>
                <a:rPr b="1" i="0" lang="es" sz="8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85%</a:t>
              </a:r>
              <a:r>
                <a:rPr b="0" i="0" lang="es" sz="8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de operaciones monetarias), web, publicidad, oficina y contact center. </a:t>
              </a:r>
              <a:r>
                <a:rPr b="0" i="0" lang="es" sz="800" u="none" cap="none" strike="noStrike">
                  <a:solidFill>
                    <a:srgbClr val="666666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(Tabla 17; Banco BBVA Perú 2026a, p. 3 [F])</a:t>
              </a:r>
              <a:endParaRPr b="0" i="0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910" name="Google Shape;910;p47"/>
          <p:cNvGrpSpPr/>
          <p:nvPr/>
        </p:nvGrpSpPr>
        <p:grpSpPr>
          <a:xfrm>
            <a:off x="539875" y="3814763"/>
            <a:ext cx="3929175" cy="785925"/>
            <a:chOff x="0" y="0"/>
            <a:chExt cx="5238900" cy="1047900"/>
          </a:xfrm>
        </p:grpSpPr>
        <p:sp>
          <p:nvSpPr>
            <p:cNvPr id="911" name="Google Shape;911;p47"/>
            <p:cNvSpPr/>
            <p:nvPr/>
          </p:nvSpPr>
          <p:spPr>
            <a:xfrm>
              <a:off x="0" y="0"/>
              <a:ext cx="5238900" cy="1047900"/>
            </a:xfrm>
            <a:prstGeom prst="roundRect">
              <a:avLst>
                <a:gd fmla="val 3636" name="adj"/>
              </a:avLst>
            </a:prstGeom>
            <a:solidFill>
              <a:srgbClr val="F2EE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47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2D2E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47"/>
            <p:cNvSpPr txBox="1"/>
            <p:nvPr/>
          </p:nvSpPr>
          <p:spPr>
            <a:xfrm>
              <a:off x="152400" y="95250"/>
              <a:ext cx="4953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Actividades manuales</a:t>
              </a:r>
              <a:endParaRPr b="1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Derivación a oficina física ante perfiles no contemplados (</a:t>
              </a:r>
              <a:r>
                <a:rPr b="1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menores de edad / carné de extranjería</a:t>
              </a:r>
              <a:r>
                <a:rPr b="0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) y formalización presencial. </a:t>
              </a:r>
              <a:r>
                <a:rPr b="0" i="0" lang="es" sz="700" u="none" cap="none" strike="noStrike">
                  <a:solidFill>
                    <a:srgbClr val="666666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(A. Moquillaza, 11/09/2026 [F])</a:t>
              </a:r>
              <a:endParaRPr b="0" i="0" sz="7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914" name="Google Shape;914;p47"/>
          <p:cNvGrpSpPr/>
          <p:nvPr/>
        </p:nvGrpSpPr>
        <p:grpSpPr>
          <a:xfrm>
            <a:off x="4674995" y="1285875"/>
            <a:ext cx="3929175" cy="785925"/>
            <a:chOff x="0" y="0"/>
            <a:chExt cx="5238900" cy="1047900"/>
          </a:xfrm>
        </p:grpSpPr>
        <p:sp>
          <p:nvSpPr>
            <p:cNvPr id="915" name="Google Shape;915;p47"/>
            <p:cNvSpPr/>
            <p:nvPr/>
          </p:nvSpPr>
          <p:spPr>
            <a:xfrm>
              <a:off x="0" y="0"/>
              <a:ext cx="5238900" cy="1047900"/>
            </a:xfrm>
            <a:prstGeom prst="roundRect">
              <a:avLst>
                <a:gd fmla="val 3636" name="adj"/>
              </a:avLst>
            </a:prstGeom>
            <a:solidFill>
              <a:srgbClr val="F2EE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47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2D2E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47"/>
            <p:cNvSpPr txBox="1"/>
            <p:nvPr/>
          </p:nvSpPr>
          <p:spPr>
            <a:xfrm>
              <a:off x="152400" y="95250"/>
              <a:ext cx="4953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Tiempos promedio</a:t>
              </a:r>
              <a:endParaRPr b="1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Proceso 100% digital: </a:t>
              </a:r>
              <a:r>
                <a:rPr b="1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&lt; 5 minutos</a:t>
              </a:r>
              <a:r>
                <a:rPr b="0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. Ruta derivada a oficina: </a:t>
              </a:r>
              <a:r>
                <a:rPr b="1" i="0" lang="es" sz="700" u="none" cap="none" strike="noStrike">
                  <a:solidFill>
                    <a:srgbClr val="C5303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Sin fuentes públicas disponibles [V]</a:t>
              </a:r>
              <a:r>
                <a:rPr b="0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. </a:t>
              </a:r>
              <a:r>
                <a:rPr b="0" i="0" lang="es" sz="700" u="none" cap="none" strike="noStrike">
                  <a:solidFill>
                    <a:srgbClr val="666666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(A. Moquillaza, 11/09/2026 [F])</a:t>
              </a:r>
              <a:endParaRPr b="0" i="0" sz="7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918" name="Google Shape;918;p47"/>
          <p:cNvGrpSpPr/>
          <p:nvPr/>
        </p:nvGrpSpPr>
        <p:grpSpPr>
          <a:xfrm>
            <a:off x="4674995" y="2128838"/>
            <a:ext cx="3929175" cy="785925"/>
            <a:chOff x="0" y="0"/>
            <a:chExt cx="5238900" cy="1047900"/>
          </a:xfrm>
        </p:grpSpPr>
        <p:sp>
          <p:nvSpPr>
            <p:cNvPr id="919" name="Google Shape;919;p47"/>
            <p:cNvSpPr/>
            <p:nvPr/>
          </p:nvSpPr>
          <p:spPr>
            <a:xfrm>
              <a:off x="0" y="0"/>
              <a:ext cx="5238900" cy="1047900"/>
            </a:xfrm>
            <a:prstGeom prst="roundRect">
              <a:avLst>
                <a:gd fmla="val 3636" name="adj"/>
              </a:avLst>
            </a:prstGeom>
            <a:solidFill>
              <a:srgbClr val="F2EE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47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2D2E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47"/>
            <p:cNvSpPr txBox="1"/>
            <p:nvPr/>
          </p:nvSpPr>
          <p:spPr>
            <a:xfrm>
              <a:off x="152400" y="95250"/>
              <a:ext cx="4953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Errores frecuentes</a:t>
              </a:r>
              <a:endParaRPr b="1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s" sz="700" u="none" cap="none" strike="noStrike">
                  <a:solidFill>
                    <a:srgbClr val="C5303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Sin datos de tasa de abandono propios [V]</a:t>
              </a:r>
              <a:r>
                <a:rPr b="0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. Referencia de industria: la automatización conversacional reduce abandono de solicitudes hasta en </a:t>
              </a:r>
              <a:r>
                <a:rPr b="1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18%</a:t>
              </a:r>
              <a:r>
                <a:rPr b="0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(Kore.ai, 2026).</a:t>
              </a:r>
              <a:endParaRPr b="0" i="0" sz="7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922" name="Google Shape;922;p47"/>
          <p:cNvGrpSpPr/>
          <p:nvPr/>
        </p:nvGrpSpPr>
        <p:grpSpPr>
          <a:xfrm>
            <a:off x="4674995" y="2971800"/>
            <a:ext cx="3929175" cy="785925"/>
            <a:chOff x="0" y="0"/>
            <a:chExt cx="5238900" cy="1047900"/>
          </a:xfrm>
        </p:grpSpPr>
        <p:sp>
          <p:nvSpPr>
            <p:cNvPr id="923" name="Google Shape;923;p47"/>
            <p:cNvSpPr/>
            <p:nvPr/>
          </p:nvSpPr>
          <p:spPr>
            <a:xfrm>
              <a:off x="0" y="0"/>
              <a:ext cx="5238900" cy="1047900"/>
            </a:xfrm>
            <a:prstGeom prst="roundRect">
              <a:avLst>
                <a:gd fmla="val 3636" name="adj"/>
              </a:avLst>
            </a:prstGeom>
            <a:solidFill>
              <a:srgbClr val="F2EEE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47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2D2E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47"/>
            <p:cNvSpPr txBox="1"/>
            <p:nvPr/>
          </p:nvSpPr>
          <p:spPr>
            <a:xfrm>
              <a:off x="152400" y="95250"/>
              <a:ext cx="4953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Costos asociados</a:t>
              </a:r>
              <a:endParaRPr b="1" i="0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1" i="0" lang="es" sz="700" u="none" cap="none" strike="noStrike">
                  <a:solidFill>
                    <a:srgbClr val="C5303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NO HAY FUENTES EN INTERNET DISPONIBLES</a:t>
              </a:r>
              <a:r>
                <a:rPr b="0" i="0" lang="es" sz="700" u="none" cap="none" strike="noStrike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sobre el costo de adquisición por canal en BBVA Perú; así consignado en la Tabla 25 del Entregable 2 [V].</a:t>
              </a:r>
              <a:endParaRPr b="0" i="0" sz="7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926" name="Google Shape;926;p47"/>
          <p:cNvGrpSpPr/>
          <p:nvPr/>
        </p:nvGrpSpPr>
        <p:grpSpPr>
          <a:xfrm>
            <a:off x="4674995" y="3814763"/>
            <a:ext cx="3929175" cy="785925"/>
            <a:chOff x="0" y="0"/>
            <a:chExt cx="5238900" cy="1047900"/>
          </a:xfrm>
        </p:grpSpPr>
        <p:sp>
          <p:nvSpPr>
            <p:cNvPr id="927" name="Google Shape;927;p47"/>
            <p:cNvSpPr/>
            <p:nvPr/>
          </p:nvSpPr>
          <p:spPr>
            <a:xfrm>
              <a:off x="0" y="0"/>
              <a:ext cx="5238900" cy="1047900"/>
            </a:xfrm>
            <a:prstGeom prst="roundRect">
              <a:avLst>
                <a:gd fmla="val 3636" name="adj"/>
              </a:avLst>
            </a:prstGeom>
            <a:solidFill>
              <a:srgbClr val="2D2E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47"/>
            <p:cNvSpPr/>
            <p:nvPr/>
          </p:nvSpPr>
          <p:spPr>
            <a:xfrm>
              <a:off x="0" y="0"/>
              <a:ext cx="38100" cy="10479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47"/>
            <p:cNvSpPr txBox="1"/>
            <p:nvPr/>
          </p:nvSpPr>
          <p:spPr>
            <a:xfrm>
              <a:off x="152400" y="95250"/>
              <a:ext cx="4953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s" sz="900" u="none" cap="none" strike="noStrik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Indicadores actuales (2T2026)</a:t>
              </a:r>
              <a:endParaRPr b="1" i="0" sz="9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rPr b="0" i="0" lang="es" sz="700" u="none" cap="none" strike="noStrike">
                  <a:solidFill>
                    <a:srgbClr val="EDEDE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Penetración digital: </a:t>
              </a:r>
              <a:r>
                <a:rPr b="1" i="0" lang="es" sz="700" u="none" cap="none" strike="noStrike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33%</a:t>
              </a:r>
              <a:r>
                <a:rPr b="0" i="0" lang="es" sz="700" u="none" cap="none" strike="noStrike">
                  <a:solidFill>
                    <a:srgbClr val="EDEDE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cuentas, </a:t>
              </a:r>
              <a:r>
                <a:rPr b="1" i="0" lang="es" sz="700" u="none" cap="none" strike="noStrike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50%</a:t>
              </a:r>
              <a:r>
                <a:rPr b="0" i="0" lang="es" sz="700" u="none" cap="none" strike="noStrike">
                  <a:solidFill>
                    <a:srgbClr val="EDEDE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TC, </a:t>
              </a:r>
              <a:r>
                <a:rPr b="1" i="0" lang="es" sz="700" u="none" cap="none" strike="noStrike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54%</a:t>
              </a:r>
              <a:r>
                <a:rPr b="0" i="0" lang="es" sz="700" u="none" cap="none" strike="noStrike">
                  <a:solidFill>
                    <a:srgbClr val="EDEDE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préstamos y </a:t>
              </a:r>
              <a:r>
                <a:rPr b="1" i="0" lang="es" sz="700" u="none" cap="none" strike="noStrike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93%</a:t>
              </a:r>
              <a:r>
                <a:rPr b="0" i="0" lang="es" sz="700" u="none" cap="none" strike="noStrike">
                  <a:solidFill>
                    <a:srgbClr val="EDEDE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 cambio moneda. Ventas digitales totales: </a:t>
              </a:r>
              <a:r>
                <a:rPr b="1" i="0" lang="es" sz="700" u="none" cap="none" strike="noStrike">
                  <a:solidFill>
                    <a:srgbClr val="FFFFFF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79.57%</a:t>
              </a:r>
              <a:r>
                <a:rPr b="0" i="0" lang="es" sz="700" u="none" cap="none" strike="noStrike">
                  <a:solidFill>
                    <a:srgbClr val="EDEDED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. </a:t>
              </a:r>
              <a:r>
                <a:rPr b="0" i="0" lang="es" sz="700" u="none" cap="none" strike="noStrike">
                  <a:solidFill>
                    <a:srgbClr val="A0AEC0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(Banco BBVA Perú 2025, 2026a)</a:t>
              </a:r>
              <a:endParaRPr b="0" i="0" sz="700" u="none" cap="none" strike="noStrike">
                <a:solidFill>
                  <a:srgbClr val="EDEDED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8"/>
          <p:cNvSpPr/>
          <p:nvPr/>
        </p:nvSpPr>
        <p:spPr>
          <a:xfrm>
            <a:off x="539875" y="727175"/>
            <a:ext cx="768300" cy="164100"/>
          </a:xfrm>
          <a:prstGeom prst="roundRect">
            <a:avLst>
              <a:gd fmla="val 7897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48"/>
          <p:cNvSpPr/>
          <p:nvPr/>
        </p:nvSpPr>
        <p:spPr>
          <a:xfrm>
            <a:off x="604615" y="759545"/>
            <a:ext cx="1095900" cy="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700"/>
              <a:buFont typeface="Source Sans 3"/>
              <a:buNone/>
            </a:pPr>
            <a:r>
              <a:rPr b="0" i="0" lang="es" sz="7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DC3 — HIPÓTESIS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48"/>
          <p:cNvSpPr/>
          <p:nvPr/>
        </p:nvSpPr>
        <p:spPr>
          <a:xfrm>
            <a:off x="539875" y="921470"/>
            <a:ext cx="80643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Montserrat"/>
              <a:buNone/>
            </a:pPr>
            <a:r>
              <a:rPr b="1" i="0" lang="es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Agente de Verificación Progresiva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48"/>
          <p:cNvSpPr/>
          <p:nvPr/>
        </p:nvSpPr>
        <p:spPr>
          <a:xfrm>
            <a:off x="539875" y="1417067"/>
            <a:ext cx="43167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Iniciativa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48"/>
          <p:cNvSpPr/>
          <p:nvPr/>
        </p:nvSpPr>
        <p:spPr>
          <a:xfrm>
            <a:off x="539875" y="1645965"/>
            <a:ext cx="43167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Agente conversacional de contratación con </a:t>
            </a: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verificación de identidad progresiva y asíncrona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. En lugar de expulsar del flujo digital a perfiles no contemplados, el agente gestiona verificación en segundo plano.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48"/>
          <p:cNvSpPr/>
          <p:nvPr/>
        </p:nvSpPr>
        <p:spPr>
          <a:xfrm>
            <a:off x="5124830" y="1417067"/>
            <a:ext cx="34839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Viabilidad Normativa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1" name="Google Shape;94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4830" y="1655415"/>
            <a:ext cx="1704189" cy="1177453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48"/>
          <p:cNvSpPr/>
          <p:nvPr/>
        </p:nvSpPr>
        <p:spPr>
          <a:xfrm>
            <a:off x="5304243" y="1777678"/>
            <a:ext cx="14025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Resolución SBS N.° 00908-2025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8"/>
          <p:cNvSpPr/>
          <p:nvPr/>
        </p:nvSpPr>
        <p:spPr>
          <a:xfrm>
            <a:off x="5304243" y="2159942"/>
            <a:ext cx="14025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Avala identificar extranjeros con carné y permite </a:t>
            </a: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validación posterior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con Migraciones o RENIEC para cuentas básicas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4" name="Google Shape;94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4595" y="1655415"/>
            <a:ext cx="1704189" cy="1177453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48"/>
          <p:cNvSpPr/>
          <p:nvPr/>
        </p:nvSpPr>
        <p:spPr>
          <a:xfrm>
            <a:off x="7084007" y="1777678"/>
            <a:ext cx="14025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Ventaja Competitiva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48"/>
          <p:cNvSpPr/>
          <p:nvPr/>
        </p:nvSpPr>
        <p:spPr>
          <a:xfrm>
            <a:off x="7084007" y="2006576"/>
            <a:ext cx="14025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Yape, Scotiabank e Interbank actualmente </a:t>
            </a: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restringen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estos perfiles obligando a presencialidad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48"/>
          <p:cNvSpPr/>
          <p:nvPr/>
        </p:nvSpPr>
        <p:spPr>
          <a:xfrm>
            <a:off x="539875" y="3002831"/>
            <a:ext cx="216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Montserrat Light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48"/>
          <p:cNvSpPr/>
          <p:nvPr/>
        </p:nvSpPr>
        <p:spPr>
          <a:xfrm>
            <a:off x="539875" y="3171974"/>
            <a:ext cx="3994200" cy="144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48"/>
          <p:cNvSpPr/>
          <p:nvPr/>
        </p:nvSpPr>
        <p:spPr>
          <a:xfrm>
            <a:off x="539875" y="3254499"/>
            <a:ext cx="39942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Inicio del Flujo Digital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48"/>
          <p:cNvSpPr/>
          <p:nvPr/>
        </p:nvSpPr>
        <p:spPr>
          <a:xfrm>
            <a:off x="539875" y="3453185"/>
            <a:ext cx="39942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Cliente inicia apertura de cuenta desde cualquier canal digital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48"/>
          <p:cNvSpPr/>
          <p:nvPr/>
        </p:nvSpPr>
        <p:spPr>
          <a:xfrm>
            <a:off x="4609735" y="3002831"/>
            <a:ext cx="216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Montserrat Light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48"/>
          <p:cNvSpPr/>
          <p:nvPr/>
        </p:nvSpPr>
        <p:spPr>
          <a:xfrm>
            <a:off x="4609735" y="3171974"/>
            <a:ext cx="3994200" cy="144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48"/>
          <p:cNvSpPr/>
          <p:nvPr/>
        </p:nvSpPr>
        <p:spPr>
          <a:xfrm>
            <a:off x="4609735" y="3254499"/>
            <a:ext cx="39942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Detección de Perfil Especial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48"/>
          <p:cNvSpPr/>
          <p:nvPr/>
        </p:nvSpPr>
        <p:spPr>
          <a:xfrm>
            <a:off x="4609735" y="3453185"/>
            <a:ext cx="39942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Agente identifica carné de extranjería o minoría de edad sin interrumpir la sesión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48"/>
          <p:cNvSpPr/>
          <p:nvPr/>
        </p:nvSpPr>
        <p:spPr>
          <a:xfrm>
            <a:off x="539875" y="3747343"/>
            <a:ext cx="216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Montserrat Light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48"/>
          <p:cNvSpPr/>
          <p:nvPr/>
        </p:nvSpPr>
        <p:spPr>
          <a:xfrm>
            <a:off x="539875" y="3916487"/>
            <a:ext cx="3994200" cy="144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48"/>
          <p:cNvSpPr/>
          <p:nvPr/>
        </p:nvSpPr>
        <p:spPr>
          <a:xfrm>
            <a:off x="539875" y="3999012"/>
            <a:ext cx="39942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Verificación Asíncrona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48"/>
          <p:cNvSpPr/>
          <p:nvPr/>
        </p:nvSpPr>
        <p:spPr>
          <a:xfrm>
            <a:off x="539875" y="4197698"/>
            <a:ext cx="39942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Contraste con </a:t>
            </a:r>
            <a:r>
              <a:rPr b="1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Migraciones</a:t>
            </a: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o validación con tutores dentro de la misma conversación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48"/>
          <p:cNvSpPr/>
          <p:nvPr/>
        </p:nvSpPr>
        <p:spPr>
          <a:xfrm>
            <a:off x="4609735" y="3747343"/>
            <a:ext cx="2160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Montserrat Light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48"/>
          <p:cNvSpPr/>
          <p:nvPr/>
        </p:nvSpPr>
        <p:spPr>
          <a:xfrm>
            <a:off x="4609735" y="3916487"/>
            <a:ext cx="3994200" cy="144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48"/>
          <p:cNvSpPr/>
          <p:nvPr/>
        </p:nvSpPr>
        <p:spPr>
          <a:xfrm>
            <a:off x="4609735" y="3999012"/>
            <a:ext cx="39942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Montserrat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Apertura Completada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48"/>
          <p:cNvSpPr/>
          <p:nvPr/>
        </p:nvSpPr>
        <p:spPr>
          <a:xfrm>
            <a:off x="4609735" y="4197698"/>
            <a:ext cx="39942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Cuenta básica habilitada sin derivación a agencia física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49"/>
          <p:cNvSpPr/>
          <p:nvPr/>
        </p:nvSpPr>
        <p:spPr>
          <a:xfrm>
            <a:off x="539875" y="782985"/>
            <a:ext cx="1310100" cy="187500"/>
          </a:xfrm>
          <a:prstGeom prst="roundRect">
            <a:avLst>
              <a:gd fmla="val 7897" name="adj"/>
            </a:avLst>
          </a:prstGeom>
          <a:solidFill>
            <a:srgbClr val="E4E4E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49"/>
          <p:cNvSpPr/>
          <p:nvPr/>
        </p:nvSpPr>
        <p:spPr>
          <a:xfrm>
            <a:off x="613917" y="819968"/>
            <a:ext cx="1619100" cy="1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800"/>
              <a:buFont typeface="Source Sans 3"/>
              <a:buNone/>
            </a:pPr>
            <a:r>
              <a:rPr b="0" i="0" lang="es" sz="8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DC3 — FOCO DEL PROYECTO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49"/>
          <p:cNvSpPr/>
          <p:nvPr/>
        </p:nvSpPr>
        <p:spPr>
          <a:xfrm>
            <a:off x="539875" y="1009948"/>
            <a:ext cx="80643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Montserrat"/>
              <a:buNone/>
            </a:pPr>
            <a:r>
              <a:rPr b="1" i="0" lang="es" sz="2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Matriz ERRC e Indicadores — Contratación Digital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49"/>
          <p:cNvSpPr/>
          <p:nvPr/>
        </p:nvSpPr>
        <p:spPr>
          <a:xfrm>
            <a:off x="539875" y="1508597"/>
            <a:ext cx="8064300" cy="1530300"/>
          </a:xfrm>
          <a:prstGeom prst="roundRect">
            <a:avLst>
              <a:gd fmla="val 1210" name="adj"/>
            </a:avLst>
          </a:pr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49"/>
          <p:cNvSpPr/>
          <p:nvPr/>
        </p:nvSpPr>
        <p:spPr>
          <a:xfrm>
            <a:off x="539875" y="1508597"/>
            <a:ext cx="4032025" cy="765125"/>
          </a:xfrm>
          <a:custGeom>
            <a:rect b="b" l="l" r="r" t="t"/>
            <a:pathLst>
              <a:path extrusionOk="0" h="1020167" w="5376033">
                <a:moveTo>
                  <a:pt x="20569" y="0"/>
                </a:moveTo>
                <a:lnTo>
                  <a:pt x="5376033" y="0"/>
                </a:lnTo>
                <a:lnTo>
                  <a:pt x="5376033" y="1020167"/>
                </a:lnTo>
                <a:lnTo>
                  <a:pt x="0" y="1020167"/>
                </a:lnTo>
                <a:lnTo>
                  <a:pt x="0" y="20569"/>
                </a:lnTo>
                <a:cubicBezTo>
                  <a:pt x="0" y="9209"/>
                  <a:pt x="9209" y="0"/>
                  <a:pt x="20569" y="0"/>
                </a:cubicBez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49"/>
          <p:cNvSpPr/>
          <p:nvPr/>
        </p:nvSpPr>
        <p:spPr>
          <a:xfrm>
            <a:off x="638548" y="1607270"/>
            <a:ext cx="36867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Eliminar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49"/>
          <p:cNvSpPr/>
          <p:nvPr/>
        </p:nvSpPr>
        <p:spPr>
          <a:xfrm>
            <a:off x="638548" y="1841822"/>
            <a:ext cx="3686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Interrupción total del flujo y derivación obligatoria a agencia física para perfiles no elegibles (extranjeros / menores)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49"/>
          <p:cNvSpPr/>
          <p:nvPr/>
        </p:nvSpPr>
        <p:spPr>
          <a:xfrm>
            <a:off x="4572008" y="1508597"/>
            <a:ext cx="4032025" cy="765125"/>
          </a:xfrm>
          <a:custGeom>
            <a:rect b="b" l="l" r="r" t="t"/>
            <a:pathLst>
              <a:path extrusionOk="0" h="1020167" w="5376033">
                <a:moveTo>
                  <a:pt x="0" y="0"/>
                </a:moveTo>
                <a:lnTo>
                  <a:pt x="5355465" y="0"/>
                </a:lnTo>
                <a:cubicBezTo>
                  <a:pt x="5360920" y="0"/>
                  <a:pt x="5366152" y="2167"/>
                  <a:pt x="5370009" y="6025"/>
                </a:cubicBezTo>
                <a:cubicBezTo>
                  <a:pt x="5373867" y="9882"/>
                  <a:pt x="5376034" y="15114"/>
                  <a:pt x="5376034" y="20569"/>
                </a:cubicBezTo>
                <a:lnTo>
                  <a:pt x="5376033" y="1020167"/>
                </a:lnTo>
                <a:lnTo>
                  <a:pt x="0" y="102016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49"/>
          <p:cNvSpPr/>
          <p:nvPr/>
        </p:nvSpPr>
        <p:spPr>
          <a:xfrm>
            <a:off x="4572008" y="1508597"/>
            <a:ext cx="14400" cy="765300"/>
          </a:xfrm>
          <a:prstGeom prst="roundRect">
            <a:avLst>
              <a:gd fmla="val 49999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49"/>
          <p:cNvSpPr/>
          <p:nvPr/>
        </p:nvSpPr>
        <p:spPr>
          <a:xfrm>
            <a:off x="4818839" y="1607270"/>
            <a:ext cx="36867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Reducir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49"/>
          <p:cNvSpPr/>
          <p:nvPr/>
        </p:nvSpPr>
        <p:spPr>
          <a:xfrm>
            <a:off x="4818839" y="1841822"/>
            <a:ext cx="3686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Alta proporción de aperturas de cuenta que demandan asistencia humana: actualmente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67%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49"/>
          <p:cNvSpPr/>
          <p:nvPr/>
        </p:nvSpPr>
        <p:spPr>
          <a:xfrm>
            <a:off x="539875" y="2273722"/>
            <a:ext cx="4032025" cy="765125"/>
          </a:xfrm>
          <a:custGeom>
            <a:rect b="b" l="l" r="r" t="t"/>
            <a:pathLst>
              <a:path extrusionOk="0" h="1020167" w="5376033">
                <a:moveTo>
                  <a:pt x="0" y="0"/>
                </a:moveTo>
                <a:lnTo>
                  <a:pt x="5376033" y="0"/>
                </a:lnTo>
                <a:lnTo>
                  <a:pt x="5376033" y="1020167"/>
                </a:lnTo>
                <a:lnTo>
                  <a:pt x="20569" y="1020167"/>
                </a:lnTo>
                <a:cubicBezTo>
                  <a:pt x="9209" y="1020167"/>
                  <a:pt x="0" y="1010958"/>
                  <a:pt x="0" y="999598"/>
                </a:cubicBez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49"/>
          <p:cNvSpPr/>
          <p:nvPr/>
        </p:nvSpPr>
        <p:spPr>
          <a:xfrm>
            <a:off x="539875" y="2273722"/>
            <a:ext cx="4032000" cy="14400"/>
          </a:xfrm>
          <a:prstGeom prst="roundRect">
            <a:avLst>
              <a:gd fmla="val 49999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49"/>
          <p:cNvSpPr/>
          <p:nvPr/>
        </p:nvSpPr>
        <p:spPr>
          <a:xfrm>
            <a:off x="638548" y="2372395"/>
            <a:ext cx="36867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Elevar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9"/>
          <p:cNvSpPr/>
          <p:nvPr/>
        </p:nvSpPr>
        <p:spPr>
          <a:xfrm>
            <a:off x="638548" y="2606948"/>
            <a:ext cx="3686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Cobertura del proceso digital 2026, amparándose en norma SBS de apertura de cuentas básicas para extranjeros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49"/>
          <p:cNvSpPr/>
          <p:nvPr/>
        </p:nvSpPr>
        <p:spPr>
          <a:xfrm>
            <a:off x="4572008" y="2273722"/>
            <a:ext cx="4032025" cy="765125"/>
          </a:xfrm>
          <a:custGeom>
            <a:rect b="b" l="l" r="r" t="t"/>
            <a:pathLst>
              <a:path extrusionOk="0" h="1020167" w="5376033">
                <a:moveTo>
                  <a:pt x="0" y="0"/>
                </a:moveTo>
                <a:lnTo>
                  <a:pt x="5376033" y="0"/>
                </a:lnTo>
                <a:lnTo>
                  <a:pt x="5376033" y="999598"/>
                </a:lnTo>
                <a:cubicBezTo>
                  <a:pt x="5376033" y="1010958"/>
                  <a:pt x="5366824" y="1020167"/>
                  <a:pt x="5355464" y="1020167"/>
                </a:cubicBezTo>
                <a:lnTo>
                  <a:pt x="0" y="102016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49"/>
          <p:cNvSpPr/>
          <p:nvPr/>
        </p:nvSpPr>
        <p:spPr>
          <a:xfrm>
            <a:off x="4572008" y="2273722"/>
            <a:ext cx="14400" cy="765300"/>
          </a:xfrm>
          <a:prstGeom prst="roundRect">
            <a:avLst>
              <a:gd fmla="val 49999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49"/>
          <p:cNvSpPr/>
          <p:nvPr/>
        </p:nvSpPr>
        <p:spPr>
          <a:xfrm>
            <a:off x="4572008" y="2273722"/>
            <a:ext cx="4032000" cy="14400"/>
          </a:xfrm>
          <a:prstGeom prst="roundRect">
            <a:avLst>
              <a:gd fmla="val 49999" name="adj"/>
            </a:avLst>
          </a:prstGeom>
          <a:solidFill>
            <a:srgbClr val="D8D4D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49"/>
          <p:cNvSpPr/>
          <p:nvPr/>
        </p:nvSpPr>
        <p:spPr>
          <a:xfrm>
            <a:off x="4818839" y="2372395"/>
            <a:ext cx="36867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Crear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49"/>
          <p:cNvSpPr/>
          <p:nvPr/>
        </p:nvSpPr>
        <p:spPr>
          <a:xfrm>
            <a:off x="4818839" y="2606948"/>
            <a:ext cx="3686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Verificación de identidad </a:t>
            </a: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asíncrona dentro del chat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atributo inexistente en Yape, Scotiabank o Interbank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49"/>
          <p:cNvSpPr/>
          <p:nvPr/>
        </p:nvSpPr>
        <p:spPr>
          <a:xfrm>
            <a:off x="451025" y="3149873"/>
            <a:ext cx="4059300" cy="1210800"/>
          </a:xfrm>
          <a:prstGeom prst="roundRect">
            <a:avLst>
              <a:gd fmla="val 1529" name="adj"/>
            </a:avLst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49"/>
          <p:cNvSpPr/>
          <p:nvPr/>
        </p:nvSpPr>
        <p:spPr>
          <a:xfrm>
            <a:off x="574403" y="3248546"/>
            <a:ext cx="38124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Meta de Éxito — 18 meses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49"/>
          <p:cNvSpPr/>
          <p:nvPr/>
        </p:nvSpPr>
        <p:spPr>
          <a:xfrm>
            <a:off x="574403" y="3522539"/>
            <a:ext cx="38124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None/>
            </a:pPr>
            <a:r>
              <a:rPr b="1" i="0" lang="es" sz="3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33% → 55%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49"/>
          <p:cNvSpPr/>
          <p:nvPr/>
        </p:nvSpPr>
        <p:spPr>
          <a:xfrm>
            <a:off x="574403" y="4105052"/>
            <a:ext cx="42696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ans 3"/>
              <a:buNone/>
            </a:pPr>
            <a:r>
              <a:rPr b="0" i="0" lang="es" sz="9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Penetración digital en apertura de cuentas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49"/>
          <p:cNvSpPr/>
          <p:nvPr/>
        </p:nvSpPr>
        <p:spPr>
          <a:xfrm>
            <a:off x="4727310" y="3248546"/>
            <a:ext cx="3881700" cy="1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None/>
            </a:pPr>
            <a:r>
              <a:rPr b="1" i="0" lang="es" sz="11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Palanca Normativa Clave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49"/>
          <p:cNvSpPr/>
          <p:nvPr/>
        </p:nvSpPr>
        <p:spPr>
          <a:xfrm>
            <a:off x="4727310" y="3522539"/>
            <a:ext cx="38817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900"/>
              <a:buFont typeface="Source Sans 3"/>
              <a:buNone/>
            </a:pPr>
            <a:r>
              <a:rPr b="1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Resolución SBS N.° 00908-2025</a:t>
            </a:r>
            <a:r>
              <a:rPr b="0" i="0" lang="es" sz="9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habilita la verificación asíncrona para cuentas básicas, convirtiendo una restricción regulatoria en una ventaja competitiva de océano azul.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49"/>
          <p:cNvSpPr/>
          <p:nvPr/>
        </p:nvSpPr>
        <p:spPr>
          <a:xfrm>
            <a:off x="4417747" y="1736899"/>
            <a:ext cx="308400" cy="308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4300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95" name="Google Shape;99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4840" y="1813991"/>
            <a:ext cx="154256" cy="154260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49"/>
          <p:cNvSpPr/>
          <p:nvPr/>
        </p:nvSpPr>
        <p:spPr>
          <a:xfrm>
            <a:off x="4417747" y="2502024"/>
            <a:ext cx="308400" cy="308400"/>
          </a:xfrm>
          <a:prstGeom prst="roundRect">
            <a:avLst>
              <a:gd fmla="val 6000" name="adj"/>
            </a:avLst>
          </a:prstGeom>
          <a:solidFill>
            <a:srgbClr val="FFFFFF"/>
          </a:solidFill>
          <a:ln cap="flat" cmpd="sng" w="14300">
            <a:solidFill>
              <a:srgbClr val="D8D4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97" name="Google Shape;99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4840" y="2579117"/>
            <a:ext cx="154256" cy="154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50"/>
          <p:cNvSpPr/>
          <p:nvPr/>
        </p:nvSpPr>
        <p:spPr>
          <a:xfrm>
            <a:off x="539875" y="485998"/>
            <a:ext cx="8064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Montserrat"/>
              <a:buNone/>
            </a:pPr>
            <a:r>
              <a:rPr b="1" i="0" lang="es" sz="23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Síntesis Estratégica y Arquitectura de Control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50"/>
          <p:cNvSpPr/>
          <p:nvPr/>
        </p:nvSpPr>
        <p:spPr>
          <a:xfrm>
            <a:off x="539875" y="1137047"/>
            <a:ext cx="42912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Vínculo con Objetivos Estratégicos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05" name="Google Shape;1005;p50"/>
          <p:cNvGraphicFramePr/>
          <p:nvPr/>
        </p:nvGraphicFramePr>
        <p:xfrm>
          <a:off x="539875" y="144861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{F231B9C4-D003-4A2D-A93F-B472E9FEB4D8}</a:tableStyleId>
              </a:tblPr>
              <a:tblGrid>
                <a:gridCol w="1430450"/>
                <a:gridCol w="1430450"/>
                <a:gridCol w="1430450"/>
              </a:tblGrid>
              <a:tr h="32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b="1"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Caso de Uso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b="1"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Agente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b="1"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OE Impactados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DC1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Agente Pyme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b="1"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OE3, OE4, OE5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DC2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Agente Reclamos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b="1"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OE1, OE5, OE6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7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DC3 ★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Agente Contratación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D3838"/>
                        </a:buClr>
                        <a:buSzPts val="1000"/>
                        <a:buFont typeface="Source Sans 3"/>
                        <a:buNone/>
                      </a:pPr>
                      <a:r>
                        <a:rPr b="1" lang="es" sz="1000" u="none" cap="none" strike="noStrike">
                          <a:solidFill>
                            <a:srgbClr val="3D3838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OE1, OE4, OE5</a:t>
                      </a:r>
                      <a:endParaRPr sz="1000" u="none" cap="none" strike="noStrike"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4775" marB="4775" marR="131125" marL="131125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4D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6" name="Google Shape;1006;p50"/>
          <p:cNvSpPr/>
          <p:nvPr/>
        </p:nvSpPr>
        <p:spPr>
          <a:xfrm>
            <a:off x="539875" y="2930723"/>
            <a:ext cx="4291200" cy="14400"/>
          </a:xfrm>
          <a:prstGeom prst="roundRect">
            <a:avLst>
              <a:gd fmla="val 49999" name="adj"/>
            </a:avLst>
          </a:prstGeom>
          <a:solidFill>
            <a:srgbClr val="3D3838">
              <a:alpha val="502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50"/>
          <p:cNvSpPr/>
          <p:nvPr/>
        </p:nvSpPr>
        <p:spPr>
          <a:xfrm>
            <a:off x="539875" y="3103141"/>
            <a:ext cx="42912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Principio Arquitectónico Transversal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50"/>
          <p:cNvSpPr/>
          <p:nvPr/>
        </p:nvSpPr>
        <p:spPr>
          <a:xfrm>
            <a:off x="736552" y="3515023"/>
            <a:ext cx="4094700" cy="5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Ningún agente reemplaza la decisión humana en el punto final de riesgo normativo: aprobación crediticia, veredicto de fraude o identidad de menores.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50"/>
          <p:cNvSpPr/>
          <p:nvPr/>
        </p:nvSpPr>
        <p:spPr>
          <a:xfrm>
            <a:off x="539875" y="3414713"/>
            <a:ext cx="14400" cy="746400"/>
          </a:xfrm>
          <a:prstGeom prst="roundRect">
            <a:avLst>
              <a:gd fmla="val 49999" name="adj"/>
            </a:avLst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50"/>
          <p:cNvSpPr/>
          <p:nvPr/>
        </p:nvSpPr>
        <p:spPr>
          <a:xfrm>
            <a:off x="5061504" y="1025649"/>
            <a:ext cx="3641700" cy="3632100"/>
          </a:xfrm>
          <a:prstGeom prst="roundRect">
            <a:avLst>
              <a:gd fmla="val 542" name="adj"/>
            </a:avLst>
          </a:prstGeom>
          <a:solidFill>
            <a:srgbClr val="2D2E3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50"/>
          <p:cNvSpPr/>
          <p:nvPr/>
        </p:nvSpPr>
        <p:spPr>
          <a:xfrm>
            <a:off x="5192622" y="1137047"/>
            <a:ext cx="33795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Cumplimiento Legal — D.S. N.° 115-2025-PCM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2" name="Google Shape;101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2622" y="1634803"/>
            <a:ext cx="3379356" cy="952129"/>
          </a:xfrm>
          <a:prstGeom prst="rect">
            <a:avLst/>
          </a:prstGeom>
          <a:noFill/>
          <a:ln>
            <a:noFill/>
          </a:ln>
        </p:spPr>
      </p:pic>
      <p:sp>
        <p:nvSpPr>
          <p:cNvPr id="1013" name="Google Shape;1013;p50"/>
          <p:cNvSpPr/>
          <p:nvPr/>
        </p:nvSpPr>
        <p:spPr>
          <a:xfrm>
            <a:off x="5395177" y="1780208"/>
            <a:ext cx="30315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Art.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50"/>
          <p:cNvSpPr/>
          <p:nvPr/>
        </p:nvSpPr>
        <p:spPr>
          <a:xfrm>
            <a:off x="5395177" y="2077790"/>
            <a:ext cx="30315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Mitigación directa mediante arquitectura de control humano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5" name="Google Shape;101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2622" y="2698328"/>
            <a:ext cx="3379356" cy="7702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50"/>
          <p:cNvSpPr/>
          <p:nvPr/>
        </p:nvSpPr>
        <p:spPr>
          <a:xfrm>
            <a:off x="5395177" y="2843734"/>
            <a:ext cx="30315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Art. 23.1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50"/>
          <p:cNvSpPr/>
          <p:nvPr/>
        </p:nvSpPr>
        <p:spPr>
          <a:xfrm>
            <a:off x="5395177" y="3141315"/>
            <a:ext cx="30315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Transparencia en sistemas de IA de riesgo alto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8" name="Google Shape;101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2622" y="3579986"/>
            <a:ext cx="3379356" cy="95212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50"/>
          <p:cNvSpPr/>
          <p:nvPr/>
        </p:nvSpPr>
        <p:spPr>
          <a:xfrm>
            <a:off x="5395177" y="3725391"/>
            <a:ext cx="30315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ontserrat"/>
              <a:buNone/>
            </a:pPr>
            <a:r>
              <a:rPr b="1" i="0" lang="e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Art. 31.4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0"/>
          <p:cNvSpPr/>
          <p:nvPr/>
        </p:nvSpPr>
        <p:spPr>
          <a:xfrm>
            <a:off x="5395177" y="4022973"/>
            <a:ext cx="30315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ource Sans 3"/>
              <a:buNone/>
            </a:pPr>
            <a:r>
              <a:rPr b="0" i="0" lang="es" sz="1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Validación humana capacitada capaz de </a:t>
            </a:r>
            <a:r>
              <a:rPr b="1" i="0" lang="es" sz="1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corregir o detener</a:t>
            </a:r>
            <a:r>
              <a:rPr b="0" i="0" lang="es" sz="10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al sistema en todo momento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