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12191675"/>
  <p:embeddedFontLst>
    <p:embeddedFont>
      <p:font typeface="Source Sans 3 SemiBold"/>
      <p:regular r:id="rId17"/>
      <p:bold r:id="rId18"/>
      <p:italic r:id="rId19"/>
      <p:boldItalic r:id="rId20"/>
    </p:embeddedFont>
    <p:embeddedFont>
      <p:font typeface="Montserrat"/>
      <p:bold r:id="rId21"/>
      <p:boldItalic r:id="rId22"/>
    </p:embeddedFont>
    <p:embeddedFont>
      <p:font typeface="Montserrat Black"/>
      <p:bold r:id="rId23"/>
      <p:boldItalic r:id="rId24"/>
    </p:embeddedFont>
    <p:embeddedFont>
      <p:font typeface="Source Sans 3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+5Wy2nWQEYVryhhj9NT1awPdz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SemiBold-boldItalic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Black-boldItalic.fntdata"/><Relationship Id="rId23" Type="http://schemas.openxmlformats.org/officeDocument/2006/relationships/font" Target="fonts/MontserratBlack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SourceSans3-bold.fntdata"/><Relationship Id="rId25" Type="http://schemas.openxmlformats.org/officeDocument/2006/relationships/font" Target="fonts/SourceSans3-regular.fntdata"/><Relationship Id="rId28" Type="http://schemas.openxmlformats.org/officeDocument/2006/relationships/font" Target="fonts/SourceSans3-boldItalic.fntdata"/><Relationship Id="rId27" Type="http://schemas.openxmlformats.org/officeDocument/2006/relationships/font" Target="fonts/SourceSans3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ourceSans3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SourceSans3SemiBold-italic.fntdata"/><Relationship Id="rId18" Type="http://schemas.openxmlformats.org/officeDocument/2006/relationships/font" Target="fonts/SourceSans3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h364eece46de06772_0_71:notes"/>
          <p:cNvSpPr/>
          <p:nvPr>
            <p:ph idx="2" type="sldImg"/>
          </p:nvPr>
        </p:nvSpPr>
        <p:spPr>
          <a:xfrm>
            <a:off x="685800" y="1143000"/>
            <a:ext cx="5486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h364eece46de06772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h364eece46de06772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">
  <p:cSld name="Slide master 1 1 (h29ec4be788841259_45_0)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h364eece46de06772_0_20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">
  <p:cSld name="Slide master 1 1 (h29ec4be788841259_45_0)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h364eece46de06772_0_7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h364eece46de06772_0_71"/>
          <p:cNvSpPr/>
          <p:nvPr/>
        </p:nvSpPr>
        <p:spPr>
          <a:xfrm>
            <a:off x="101597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h364eece46de06772_0_71"/>
          <p:cNvSpPr/>
          <p:nvPr/>
        </p:nvSpPr>
        <p:spPr>
          <a:xfrm>
            <a:off x="0" y="0"/>
            <a:ext cx="101700" cy="68580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h364eece46de06772_0_71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76875" y="6558991"/>
            <a:ext cx="1071816" cy="25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h364eece46de06772_0_71"/>
          <p:cNvGrpSpPr/>
          <p:nvPr/>
        </p:nvGrpSpPr>
        <p:grpSpPr>
          <a:xfrm>
            <a:off x="761980" y="772294"/>
            <a:ext cx="4825879" cy="3654259"/>
            <a:chOff x="0" y="-278036"/>
            <a:chExt cx="3619500" cy="2740763"/>
          </a:xfrm>
        </p:grpSpPr>
        <p:sp>
          <p:nvSpPr>
            <p:cNvPr id="29" name="Google Shape;29;h364eece46de06772_0_71"/>
            <p:cNvSpPr/>
            <p:nvPr/>
          </p:nvSpPr>
          <p:spPr>
            <a:xfrm>
              <a:off x="0" y="-278036"/>
              <a:ext cx="36195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h364eece46de06772_0_71"/>
            <p:cNvSpPr txBox="1"/>
            <p:nvPr/>
          </p:nvSpPr>
          <p:spPr>
            <a:xfrm>
              <a:off x="0" y="-118174"/>
              <a:ext cx="3619500" cy="25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044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Entregable 04</a:t>
              </a:r>
              <a:endParaRPr b="1" sz="1700">
                <a:solidFill>
                  <a:srgbClr val="0044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600">
                  <a:solidFill>
                    <a:schemeClr val="dk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Diseño TO BE del proceso, descripción de las soluciones y business case de las iniciativas priorizadas</a:t>
              </a:r>
              <a:endParaRPr sz="2600">
                <a:solidFill>
                  <a:srgbClr val="0F172A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pic>
        <p:nvPicPr>
          <p:cNvPr id="31" name="Google Shape;31;h364eece46de06772_0_71"/>
          <p:cNvPicPr preferRelativeResize="0"/>
          <p:nvPr/>
        </p:nvPicPr>
        <p:blipFill rotWithShape="1">
          <a:blip r:embed="rId6">
            <a:alphaModFix/>
          </a:blip>
          <a:srcRect b="318" l="0" r="0" t="318"/>
          <a:stretch/>
        </p:blipFill>
        <p:spPr>
          <a:xfrm>
            <a:off x="761980" y="4175900"/>
            <a:ext cx="3769200" cy="21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h364eece46de06772_0_71"/>
          <p:cNvPicPr preferRelativeResize="0"/>
          <p:nvPr/>
        </p:nvPicPr>
        <p:blipFill rotWithShape="1">
          <a:blip r:embed="rId7">
            <a:alphaModFix/>
          </a:blip>
          <a:srcRect b="318" l="0" r="0" t="318"/>
          <a:stretch/>
        </p:blipFill>
        <p:spPr>
          <a:xfrm>
            <a:off x="10693315" y="279400"/>
            <a:ext cx="762000" cy="8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h364eece46de06772_0_71"/>
          <p:cNvSpPr/>
          <p:nvPr/>
        </p:nvSpPr>
        <p:spPr>
          <a:xfrm>
            <a:off x="6248233" y="1333500"/>
            <a:ext cx="5207100" cy="4953300"/>
          </a:xfrm>
          <a:prstGeom prst="roundRect">
            <a:avLst>
              <a:gd fmla="val 4102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" name="Google Shape;34;h364eece46de06772_0_71"/>
          <p:cNvGrpSpPr/>
          <p:nvPr/>
        </p:nvGrpSpPr>
        <p:grpSpPr>
          <a:xfrm>
            <a:off x="6629223" y="1714500"/>
            <a:ext cx="4445089" cy="4191095"/>
            <a:chOff x="0" y="0"/>
            <a:chExt cx="3333900" cy="3143400"/>
          </a:xfrm>
        </p:grpSpPr>
        <p:sp>
          <p:nvSpPr>
            <p:cNvPr id="35" name="Google Shape;35;h364eece46de06772_0_71"/>
            <p:cNvSpPr/>
            <p:nvPr/>
          </p:nvSpPr>
          <p:spPr>
            <a:xfrm>
              <a:off x="0" y="0"/>
              <a:ext cx="33339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/>
            </a:p>
          </p:txBody>
        </p:sp>
        <p:sp>
          <p:nvSpPr>
            <p:cNvPr id="36" name="Google Shape;36;h364eece46de06772_0_71"/>
            <p:cNvSpPr txBox="1"/>
            <p:nvPr/>
          </p:nvSpPr>
          <p:spPr>
            <a:xfrm>
              <a:off x="0" y="0"/>
              <a:ext cx="3333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Presentado por:</a:t>
              </a:r>
              <a:endParaRPr b="1" sz="170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SALAS COHAILA, Gabriel Lucio</a:t>
              </a:r>
              <a:endParaRPr b="0" sz="17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20200606</a:t>
              </a:r>
              <a:endParaRPr sz="15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CHAMORRO CAYETANO, Jorge Josue</a:t>
              </a:r>
              <a:endParaRPr b="0" sz="17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20206234</a:t>
              </a:r>
              <a:endParaRPr sz="15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SANCHEZ PASTOR, Rodrigo Alonso</a:t>
              </a:r>
              <a:endParaRPr b="0" sz="17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20201230</a:t>
              </a:r>
              <a:endParaRPr sz="15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SANTILLÁN HUAMÁN, Aarón Ulises</a:t>
              </a:r>
              <a:endParaRPr b="0" sz="17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20200445</a:t>
              </a:r>
              <a:endParaRPr sz="15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ORIHUELA MONTERO, Johnny Fabricio</a:t>
              </a:r>
              <a:endParaRPr b="0" sz="17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20211000</a:t>
              </a:r>
              <a:endParaRPr sz="15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/>
          <p:nvPr/>
        </p:nvSpPr>
        <p:spPr>
          <a:xfrm>
            <a:off x="719814" y="583303"/>
            <a:ext cx="10752067" cy="431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n-US" spc="-27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Patrón Común del Diseño TO BE en las 3 Iniciativas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719814" y="1222871"/>
            <a:ext cx="11361652" cy="197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50"/>
              <a:buFont typeface="Source Sans 3"/>
              <a:buNone/>
            </a:pPr>
            <a:r>
              <a:rPr b="0" i="0" lang="en-US" sz="11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Arquitectura compartida que sustenta DC1, DC2 y DC3 — bajo un único marco regulatorio y de supervisión humana.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98" y="1546920"/>
            <a:ext cx="8064001" cy="34832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3988084" y="3952987"/>
            <a:ext cx="1197355" cy="396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n-US" spc="-12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Procesamiento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3988084" y="4411441"/>
            <a:ext cx="1197355" cy="303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Agente IA: NLP y 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062584" y="3952987"/>
            <a:ext cx="1197355" cy="396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n-US" spc="-12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Reglas y Supervisión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7062584" y="4411441"/>
            <a:ext cx="1197355" cy="303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Aplicar reglas y revisión humana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2454650" y="1861228"/>
            <a:ext cx="1197355" cy="198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n-US" spc="-12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Solicitud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2454650" y="2121471"/>
            <a:ext cx="1197355" cy="45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Canal conversacional inicial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8550342" y="1861228"/>
            <a:ext cx="1197355" cy="198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n-US" spc="-12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Medición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8550342" y="2121471"/>
            <a:ext cx="1197355" cy="303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Evaluar KPIs y cumplimiento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44415" y="1861228"/>
            <a:ext cx="1197355" cy="198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n-US" spc="-12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Actualización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544415" y="2121471"/>
            <a:ext cx="1197355" cy="303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Sincronizar sistemas y registros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10478" y="5156299"/>
            <a:ext cx="5409469" cy="1134269"/>
          </a:xfrm>
          <a:prstGeom prst="roundRect">
            <a:avLst>
              <a:gd fmla="val 2008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762279" y="5274715"/>
            <a:ext cx="5105868" cy="215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b="1" i="0" lang="en-US" spc="-14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Regulación Ley N.º 31814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762279" y="5595938"/>
            <a:ext cx="5105868" cy="59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Source Sans 3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IA en evaluaciones crediticias = </a:t>
            </a:r>
            <a:r>
              <a:rPr b="1" i="0" lang="en-US" sz="11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riesgo alto.</a:t>
            </a:r>
            <a:r>
              <a:rPr b="0" i="0" lang="en-US" sz="11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Obligatorio: informar finalidad, explicar factores clave (art. 25.3) y supervisión humana capacitada con poder de invalidar decisiones (art. 31.4).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287434" y="5274715"/>
            <a:ext cx="5190797" cy="215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ontserrat"/>
              <a:buNone/>
            </a:pPr>
            <a:r>
              <a:rPr b="1" i="0" lang="en-US" spc="-14" sz="1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Principio Operativo No Negociable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6287434" y="5595938"/>
            <a:ext cx="5190797" cy="59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50"/>
              <a:buFont typeface="Source Sans 3"/>
              <a:buNone/>
            </a:pPr>
            <a:r>
              <a:rPr b="0" i="0" lang="en-US" sz="11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Ninguna IA reemplaza la decisión humana final. Los agentes inteligentes </a:t>
            </a:r>
            <a:r>
              <a:rPr b="1" i="0" lang="en-US" sz="11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reducen drásticamente el trabajo manual previo</a:t>
            </a:r>
            <a:r>
              <a:rPr b="0" i="0" lang="en-US" sz="11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, pero el criterio del analista permanece soberano en cada iniciativa.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719814" y="587573"/>
            <a:ext cx="1613257" cy="296863"/>
          </a:xfrm>
          <a:prstGeom prst="roundRect">
            <a:avLst>
              <a:gd fmla="val 7899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36988" y="648793"/>
            <a:ext cx="1988492" cy="17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DC1 — DISEÑO TO 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19814" y="978617"/>
            <a:ext cx="10752067" cy="555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Montserrat"/>
              <a:buNone/>
            </a:pPr>
            <a:r>
              <a:rPr b="1" i="0" lang="en-US" spc="-35" sz="3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Originación de Crédito Pyme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19814" y="1987710"/>
            <a:ext cx="5137716" cy="27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Cambio de Proceso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19814" y="2440781"/>
            <a:ext cx="5137716" cy="1428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precalificación migra de una oferta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"preaprobada" ciega</a:t>
            </a: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una evaluación preliminar a demanda, sin exigir documentos financieros estructurados previos. El cliente inicia desde un canal conversacional y el agente construye el expediente en tiempo real.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19814" y="4064557"/>
            <a:ext cx="5137716" cy="27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Sistemas Integrados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19814" y="4517628"/>
            <a:ext cx="5137716" cy="1687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4800" lvl="0" marL="3048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Perfil Mi Negocio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 BBVA Empresas 2.0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Motor de decisión crediticio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BBVA Net Cash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Plataforma 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340515" y="2000945"/>
            <a:ext cx="2476041" cy="1710730"/>
          </a:xfrm>
          <a:prstGeom prst="roundRect">
            <a:avLst>
              <a:gd fmla="val 171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535872" y="2196306"/>
            <a:ext cx="2085328" cy="27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Meta Principal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535872" y="2659360"/>
            <a:ext cx="2085328" cy="85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Originación digital Pyme de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33% → 60%</a:t>
            </a: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18 meses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9002090" y="2000945"/>
            <a:ext cx="2476140" cy="1710730"/>
          </a:xfrm>
          <a:prstGeom prst="roundRect">
            <a:avLst>
              <a:gd fmla="val 171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9197447" y="2196306"/>
            <a:ext cx="2085427" cy="27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Nueva Métrica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9197447" y="2659360"/>
            <a:ext cx="2085427" cy="85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Medir por primera vez el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tiempo de ciclo</a:t>
            </a: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ruta asistida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19814" y="611783"/>
            <a:ext cx="1452129" cy="312440"/>
          </a:xfrm>
          <a:prstGeom prst="roundRect">
            <a:avLst>
              <a:gd fmla="val 7900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43140" y="680063"/>
            <a:ext cx="1815062" cy="18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DC1 — SOLUCIÓN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19814" y="1028661"/>
            <a:ext cx="10752067" cy="1168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Montserrat"/>
              <a:buNone/>
            </a:pPr>
            <a:r>
              <a:rPr b="1" i="0" lang="en-US" spc="-37" sz="3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Agente de Precalificación Conversacional Pyme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14" y="2483743"/>
            <a:ext cx="514139" cy="5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719814" y="3254970"/>
            <a:ext cx="3412643" cy="2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00"/>
              <a:buFont typeface="Montserrat"/>
              <a:buNone/>
            </a:pPr>
            <a:r>
              <a:rPr b="1" i="0" lang="en-US" spc="-18" sz="18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Procesamiento NLP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19814" y="3670498"/>
            <a:ext cx="3412643" cy="1233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Interpretación de lenguaje natural y documentación no estructurada, incluyendo </a:t>
            </a: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fotos de comprobantes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sin formularios previos.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526" y="2483743"/>
            <a:ext cx="514139" cy="5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4389526" y="3254970"/>
            <a:ext cx="3412643" cy="2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00"/>
              <a:buFont typeface="Montserrat"/>
              <a:buNone/>
            </a:pPr>
            <a:r>
              <a:rPr b="1" i="0" lang="en-US" spc="-18" sz="18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Consulta en Tiempo Real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389526" y="3670498"/>
            <a:ext cx="3412643" cy="925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Acceso simultáneo a </a:t>
            </a: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centrales de riesgo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motor de decisión durante la conversación con el cliente Pyme.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9238" y="2483743"/>
            <a:ext cx="514139" cy="5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8059238" y="3254970"/>
            <a:ext cx="3412643" cy="584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00"/>
              <a:buFont typeface="Montserrat"/>
              <a:buNone/>
            </a:pPr>
            <a:r>
              <a:rPr b="1" i="0" lang="en-US" spc="-18" sz="18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Supervisión Humana Obligatoria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059238" y="3962698"/>
            <a:ext cx="3412643" cy="925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analista de riesgo mantiene control total. La IA prepara el expediente; </a:t>
            </a:r>
            <a:r>
              <a:rPr b="1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analista decide</a:t>
            </a:r>
            <a:r>
              <a:rPr b="0" i="0" lang="en-US" sz="16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19814" y="5135761"/>
            <a:ext cx="10752067" cy="1110456"/>
          </a:xfrm>
          <a:prstGeom prst="roundRect">
            <a:avLst>
              <a:gd fmla="val 2778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5489" y="5422404"/>
            <a:ext cx="257069" cy="2056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388234" y="5392837"/>
            <a:ext cx="9877972" cy="616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Limitación clave: solo el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48%</a:t>
            </a:r>
            <a:r>
              <a:rPr b="0" i="0" lang="en-US" sz="16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clientes Pyme opera principalmente con BBVA (principalidad transaccional). El agente depende de esta base de datos para su efectividad máxima.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714375" y="428625"/>
            <a:ext cx="1381200" cy="247800"/>
          </a:xfrm>
          <a:prstGeom prst="roundRect">
            <a:avLst>
              <a:gd fmla="val 15384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14375" y="428625"/>
            <a:ext cx="13812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75569"/>
                </a:solidFill>
                <a:latin typeface="Source Sans 3"/>
                <a:ea typeface="Source Sans 3"/>
                <a:cs typeface="Source Sans 3"/>
                <a:sym typeface="Source Sans 3"/>
              </a:rPr>
              <a:t>DC1 — BUSINESS CASE</a:t>
            </a:r>
            <a:endParaRPr b="1" sz="850">
              <a:solidFill>
                <a:srgbClr val="47556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14375" y="762000"/>
            <a:ext cx="10763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ROI y Retorno Financiero — DC1</a:t>
            </a:r>
            <a:endParaRPr b="1" sz="2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6" name="Google Shape;106;p4"/>
          <p:cNvGrpSpPr/>
          <p:nvPr/>
        </p:nvGrpSpPr>
        <p:grpSpPr>
          <a:xfrm>
            <a:off x="714375" y="1333500"/>
            <a:ext cx="1828800" cy="1000200"/>
            <a:chOff x="0" y="0"/>
            <a:chExt cx="1828800" cy="1000200"/>
          </a:xfrm>
        </p:grpSpPr>
        <p:sp>
          <p:nvSpPr>
            <p:cNvPr id="107" name="Google Shape;107;p4"/>
            <p:cNvSpPr/>
            <p:nvPr/>
          </p:nvSpPr>
          <p:spPr>
            <a:xfrm>
              <a:off x="0" y="0"/>
              <a:ext cx="1828800" cy="1000200"/>
            </a:xfrm>
            <a:prstGeom prst="roundRect">
              <a:avLst>
                <a:gd fmla="val 9523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 txBox="1"/>
            <p:nvPr/>
          </p:nvSpPr>
          <p:spPr>
            <a:xfrm>
              <a:off x="0" y="0"/>
              <a:ext cx="18288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665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+236%</a:t>
              </a:r>
              <a:endParaRPr b="1" sz="2600">
                <a:solidFill>
                  <a:srgbClr val="16653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5803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ROI</a:t>
              </a:r>
              <a:endParaRPr b="1" sz="1000">
                <a:solidFill>
                  <a:srgbClr val="15803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9" name="Google Shape;109;p4"/>
          <p:cNvGrpSpPr/>
          <p:nvPr/>
        </p:nvGrpSpPr>
        <p:grpSpPr>
          <a:xfrm>
            <a:off x="2695575" y="1333500"/>
            <a:ext cx="1828800" cy="1000200"/>
            <a:chOff x="0" y="0"/>
            <a:chExt cx="1828800" cy="1000200"/>
          </a:xfrm>
        </p:grpSpPr>
        <p:sp>
          <p:nvSpPr>
            <p:cNvPr id="110" name="Google Shape;110;p4"/>
            <p:cNvSpPr/>
            <p:nvPr/>
          </p:nvSpPr>
          <p:spPr>
            <a:xfrm>
              <a:off x="0" y="0"/>
              <a:ext cx="1828800" cy="10002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 txBox="1"/>
            <p:nvPr/>
          </p:nvSpPr>
          <p:spPr>
            <a:xfrm>
              <a:off x="0" y="0"/>
              <a:ext cx="18288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~12</a:t>
              </a:r>
              <a:endParaRPr b="1" sz="26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Meses de Payback</a:t>
              </a:r>
              <a:endParaRPr b="1" sz="10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2" name="Google Shape;112;p4"/>
          <p:cNvGrpSpPr/>
          <p:nvPr/>
        </p:nvGrpSpPr>
        <p:grpSpPr>
          <a:xfrm>
            <a:off x="714375" y="2476500"/>
            <a:ext cx="3810000" cy="2571900"/>
            <a:chOff x="0" y="0"/>
            <a:chExt cx="3810000" cy="2571900"/>
          </a:xfrm>
        </p:grpSpPr>
        <p:sp>
          <p:nvSpPr>
            <p:cNvPr id="113" name="Google Shape;113;p4"/>
            <p:cNvSpPr/>
            <p:nvPr/>
          </p:nvSpPr>
          <p:spPr>
            <a:xfrm>
              <a:off x="0" y="0"/>
              <a:ext cx="3810000" cy="2571900"/>
            </a:xfrm>
            <a:prstGeom prst="roundRect">
              <a:avLst>
                <a:gd fmla="val 370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 txBox="1"/>
            <p:nvPr/>
          </p:nvSpPr>
          <p:spPr>
            <a:xfrm>
              <a:off x="0" y="0"/>
              <a:ext cx="3810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Inversión Total — 18 meses</a:t>
              </a:r>
              <a:endParaRPr b="1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USD 470,000</a:t>
              </a:r>
              <a:endParaRPr b="1" sz="1600">
                <a:solidFill>
                  <a:srgbClr val="0F172A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(USD 380,000 implementación + USD 90,000 mantenimiento anual)</a:t>
              </a:r>
              <a:endParaRPr sz="950">
                <a:solidFill>
                  <a:srgbClr val="64748B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Ahorros Estimados</a:t>
              </a:r>
              <a:endParaRPr b="1" sz="11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665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USD 1,580,000</a:t>
              </a:r>
              <a:endParaRPr b="1" sz="1600">
                <a:solidFill>
                  <a:srgbClr val="166534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Acumulados, derivados de la migración de </a:t>
              </a:r>
              <a:r>
                <a:rPr b="1" lang="en-US"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162 solicitudes mensuales</a:t>
              </a:r>
              <a:r>
                <a:rPr lang="en-US" sz="95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al canal digital.</a:t>
              </a:r>
              <a:endParaRPr sz="950">
                <a:solidFill>
                  <a:srgbClr val="64748B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sp>
        <p:nvSpPr>
          <p:cNvPr id="115" name="Google Shape;115;p4"/>
          <p:cNvSpPr/>
          <p:nvPr/>
        </p:nvSpPr>
        <p:spPr>
          <a:xfrm>
            <a:off x="4762500" y="1333500"/>
            <a:ext cx="6715200" cy="37149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4">
            <a:alphaModFix/>
          </a:blip>
          <a:srcRect b="2408" l="0" r="0" t="2408"/>
          <a:stretch/>
        </p:blipFill>
        <p:spPr>
          <a:xfrm>
            <a:off x="4905375" y="1476375"/>
            <a:ext cx="64293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714375" y="5238750"/>
            <a:ext cx="10763400" cy="514500"/>
          </a:xfrm>
          <a:prstGeom prst="roundRect">
            <a:avLst>
              <a:gd fmla="val 14814" name="adj"/>
            </a:avLst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5">
            <a:alphaModFix/>
          </a:blip>
          <a:srcRect b="0" l="9376" r="9376" t="0"/>
          <a:stretch/>
        </p:blipFill>
        <p:spPr>
          <a:xfrm>
            <a:off x="904875" y="54006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1219200" y="5238750"/>
            <a:ext cx="100965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4532D"/>
                </a:solidFill>
                <a:latin typeface="Source Sans 3"/>
                <a:ea typeface="Source Sans 3"/>
                <a:cs typeface="Source Sans 3"/>
                <a:sym typeface="Source Sans 3"/>
              </a:rPr>
              <a:t>DC1 es la </a:t>
            </a:r>
            <a:r>
              <a:rPr b="1" lang="en-US" sz="1100">
                <a:solidFill>
                  <a:srgbClr val="14532D"/>
                </a:solidFill>
                <a:latin typeface="Source Sans 3"/>
                <a:ea typeface="Source Sans 3"/>
                <a:cs typeface="Source Sans 3"/>
                <a:sym typeface="Source Sans 3"/>
              </a:rPr>
              <a:t>única iniciativa con retorno financiero positivo estricto</a:t>
            </a:r>
            <a:r>
              <a:rPr b="0" lang="en-US" sz="1100">
                <a:solidFill>
                  <a:srgbClr val="1453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el horizonte de 18 meses.</a:t>
            </a:r>
            <a:endParaRPr b="0" sz="1100">
              <a:solidFill>
                <a:srgbClr val="14532D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719814" y="573286"/>
            <a:ext cx="1398255" cy="257373"/>
          </a:xfrm>
          <a:prstGeom prst="roundRect">
            <a:avLst>
              <a:gd fmla="val 7897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821411" y="626405"/>
            <a:ext cx="1804645" cy="155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DC2 — DISEÑO TO 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19814" y="905825"/>
            <a:ext cx="10752067" cy="481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ontserrat"/>
              <a:buNone/>
            </a:pPr>
            <a:r>
              <a:rPr b="1" i="0" lang="en-US" spc="-30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Operaciones No Reconocidas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19814" y="2683945"/>
            <a:ext cx="5169465" cy="24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pc="-15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Cambio de Proceso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19814" y="3057426"/>
            <a:ext cx="5169465" cy="926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Source Sans 3"/>
              <a:buNone/>
            </a:pPr>
            <a:r>
              <a:rPr b="0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 revisión </a:t>
            </a:r>
            <a:r>
              <a:rPr b="1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humana manual, lenta y secuencial</a:t>
            </a:r>
            <a:r>
              <a:rPr b="0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validación de expediente estructurado automáticamente con </a:t>
            </a:r>
            <a:r>
              <a:rPr b="1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recomendación preliminar explicable</a:t>
            </a:r>
            <a:r>
              <a:rPr b="0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 El agente organiza la evidencia; el analista emite el fallo.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19814" y="4129662"/>
            <a:ext cx="5169465" cy="24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pc="-15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Regla Crítica — SBS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19814" y="4503142"/>
            <a:ext cx="5169465" cy="694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Source Sans 3"/>
              <a:buNone/>
            </a:pPr>
            <a:r>
              <a:rPr b="0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agente señaliza alertas de incumplimiento del plazo regulatorio estricto de </a:t>
            </a:r>
            <a:r>
              <a:rPr b="1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15 días hábiles SBS</a:t>
            </a:r>
            <a:r>
              <a:rPr b="0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 La decisión de procedencia es </a:t>
            </a:r>
            <a:r>
              <a:rPr b="1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100% humana</a:t>
            </a:r>
            <a:r>
              <a:rPr b="0" i="0" lang="en-US" sz="13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sin excepción.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6503" y="1733649"/>
            <a:ext cx="4393991" cy="439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719814" y="888504"/>
            <a:ext cx="1306877" cy="281186"/>
          </a:xfrm>
          <a:prstGeom prst="roundRect">
            <a:avLst>
              <a:gd fmla="val 7900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30837" y="949014"/>
            <a:ext cx="1694415" cy="170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50"/>
              <a:buFont typeface="Source Sans 3"/>
              <a:buNone/>
            </a:pPr>
            <a:r>
              <a:rPr b="0" i="0" lang="en-US" sz="11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DC2 — SOLUCIÓN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19814" y="1254011"/>
            <a:ext cx="10752067" cy="525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Montserrat"/>
              <a:buNone/>
            </a:pPr>
            <a:r>
              <a:rPr b="1" i="0" lang="en-US" spc="-33" sz="3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Blue Buddy — Agente de Investigación de Casos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14" y="2011958"/>
            <a:ext cx="3583989" cy="74047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904852" y="2919016"/>
            <a:ext cx="3213913" cy="2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pc="-17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Usuarios Internos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04852" y="3281859"/>
            <a:ext cx="3213913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Analistas de fraude y operaciones con panel de investigación asistida por 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3803" y="2011958"/>
            <a:ext cx="3583989" cy="74047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4488842" y="2919016"/>
            <a:ext cx="3213913" cy="2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pc="-17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Usuarios Externos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488842" y="3281859"/>
            <a:ext cx="3213913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Clientes reclamantes con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trazabilidad en tiempo real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desde la App BBVA.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7793" y="2011958"/>
            <a:ext cx="3584088" cy="74047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8072831" y="2919016"/>
            <a:ext cx="3214012" cy="2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pc="-17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Dictamen Sugerido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072831" y="3281859"/>
            <a:ext cx="3214012" cy="79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agente recomienda: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Abono provisional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o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Revisión especializada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 El analista aprueba.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19814" y="4518662"/>
            <a:ext cx="10752067" cy="2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1" i="0" lang="en-US" spc="-17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Capacidades del Agente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19814" y="5020965"/>
            <a:ext cx="3472966" cy="948531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253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930252" y="5231408"/>
            <a:ext cx="3052091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Cruce automático de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trazas transaccionales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359364" y="5020965"/>
            <a:ext cx="3472966" cy="948531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253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569802" y="5231408"/>
            <a:ext cx="3052091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Detección de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señales antifraude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tiempo real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998915" y="5020965"/>
            <a:ext cx="3472966" cy="948531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253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8209352" y="5231408"/>
            <a:ext cx="3052091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Consulta de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historial de casos similares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719814" y="603250"/>
            <a:ext cx="1448061" cy="250031"/>
          </a:xfrm>
          <a:prstGeom prst="roundRect">
            <a:avLst>
              <a:gd fmla="val 7897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18534" y="655989"/>
            <a:ext cx="1860206" cy="151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n-U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DC2 — BUSINESS 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19814" y="922346"/>
            <a:ext cx="10752067" cy="467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Montserrat"/>
              <a:buNone/>
            </a:pPr>
            <a:r>
              <a:rPr b="1" i="0" lang="en-US" spc="-29" sz="2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ROI y Justificación Estratégica — DC2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19814" y="1434112"/>
            <a:ext cx="10752067" cy="233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Inversión Total — 18 meses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19814" y="1857077"/>
            <a:ext cx="10752067" cy="444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50"/>
              <a:buFont typeface="Source Sans 3"/>
              <a:buNone/>
            </a:pPr>
            <a:r>
              <a:rPr b="1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640,000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520,000 implementación multisistema + USD 120,000 mantenimiento 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19814" y="2507064"/>
            <a:ext cx="10752067" cy="233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Ahorros Estimados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19814" y="2930029"/>
            <a:ext cx="11361652" cy="22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50"/>
              <a:buFont typeface="Source Sans 3"/>
              <a:buNone/>
            </a:pPr>
            <a:r>
              <a:rPr b="1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151,500</a:t>
            </a: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basado en </a:t>
            </a:r>
            <a:r>
              <a:rPr b="1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13,959 casos reales (2T2026)</a:t>
            </a: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ahorro de </a:t>
            </a:r>
            <a:r>
              <a:rPr b="1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23 minutos por caso</a:t>
            </a: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S/ 45/hora por analista.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19814" y="3341291"/>
            <a:ext cx="10752067" cy="19050"/>
          </a:xfrm>
          <a:prstGeom prst="roundRect">
            <a:avLst>
              <a:gd fmla="val 49999" name="adj"/>
            </a:avLst>
          </a:prstGeom>
          <a:solidFill>
            <a:srgbClr val="3D383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1249232" y="3631704"/>
            <a:ext cx="4234947" cy="54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4250"/>
              <a:buFont typeface="Montserrat"/>
              <a:buNone/>
            </a:pPr>
            <a:r>
              <a:rPr b="1" i="0" lang="en-US" spc="-43" sz="42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-76%</a:t>
            </a:r>
            <a:endParaRPr b="0" i="0" sz="4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19814" y="4355703"/>
            <a:ext cx="5293783" cy="233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ROI Operativo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707516" y="3631704"/>
            <a:ext cx="4234947" cy="54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4250"/>
              <a:buFont typeface="Montserrat"/>
              <a:buNone/>
            </a:pPr>
            <a:r>
              <a:rPr b="1" i="0" lang="en-US" spc="-43" sz="42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55</a:t>
            </a:r>
            <a:endParaRPr b="0" i="0" sz="4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178098" y="4355703"/>
            <a:ext cx="5293783" cy="233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Meses Payback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719814" y="4795147"/>
            <a:ext cx="10752067" cy="233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¿Por Qué Invertir con ROI Negativo?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19814" y="5218113"/>
            <a:ext cx="10752067" cy="103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DC2 no se justifica por retorno operativo inmediato. Su valor reside en la </a:t>
            </a:r>
            <a:r>
              <a:rPr b="1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mitigación de riesgo sancionatorio y reputacional</a:t>
            </a: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ante Indecopi por incumplimiento del plazo SBS de 15 días hábiles.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150"/>
              </a:spcBef>
              <a:spcAft>
                <a:spcPts val="0"/>
              </a:spcAft>
              <a:buClr>
                <a:srgbClr val="3D3838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costo de una sanción regulatoria o crisis reputacional supera con creces la inversión de </a:t>
            </a:r>
            <a:r>
              <a:rPr b="1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640,000</a:t>
            </a: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 La reducción del ciclo de </a:t>
            </a:r>
            <a:r>
              <a:rPr b="1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11.29 → 8.02 días</a:t>
            </a:r>
            <a:r>
              <a:rPr b="0" i="0" lang="en-US" sz="12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es la cobertura operativa del banco.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719814" y="814388"/>
            <a:ext cx="1613257" cy="296863"/>
          </a:xfrm>
          <a:prstGeom prst="roundRect">
            <a:avLst>
              <a:gd fmla="val 7899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36988" y="875608"/>
            <a:ext cx="1988492" cy="17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DC3 — DISEÑO TO 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19814" y="1205431"/>
            <a:ext cx="10752067" cy="555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Montserrat"/>
              <a:buNone/>
            </a:pPr>
            <a:r>
              <a:rPr b="1" i="0" lang="en-US" spc="-35" sz="34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Contratación Digital — Iniciativa Priorizada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19814" y="2214524"/>
            <a:ext cx="5137716" cy="27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Cambio de Proceso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19814" y="2667595"/>
            <a:ext cx="5137716" cy="114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Ante perfiles complejos (extranjeros o menores), el flujo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100% digital NO se interrumpe</a:t>
            </a: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obligando al cliente a ir a una oficina física. La verificación adicional ocurre de forma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asíncrona en segundo plano</a:t>
            </a: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dentro del mismo chat.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19814" y="4005720"/>
            <a:ext cx="5137716" cy="27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Sustento Regulatorio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19814" y="4458791"/>
            <a:ext cx="5747301" cy="28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Resolución SBS N.º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00908-2025</a:t>
            </a: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para "cuentas básicas":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19814" y="4911427"/>
            <a:ext cx="5137716" cy="986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4800" lvl="0" marL="3048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Límite por transacción: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0.6 UIT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Límite de saldo: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1.9 UIT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Operativas mientras se valida con Migraciones / RENIEC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340515" y="2227759"/>
            <a:ext cx="2476041" cy="1996380"/>
          </a:xfrm>
          <a:prstGeom prst="roundRect">
            <a:avLst>
              <a:gd fmla="val 146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6535872" y="2423120"/>
            <a:ext cx="2085328" cy="832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Meta de Penetración Digital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535872" y="3441204"/>
            <a:ext cx="2085328" cy="571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Cuentas digitales: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33% → 55%</a:t>
            </a: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18 meses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002090" y="2227759"/>
            <a:ext cx="2476140" cy="1996380"/>
          </a:xfrm>
          <a:prstGeom prst="roundRect">
            <a:avLst>
              <a:gd fmla="val 146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9197447" y="2423120"/>
            <a:ext cx="2085427" cy="27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Palanca Clave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9197447" y="2886174"/>
            <a:ext cx="2085427" cy="114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Eliminar abandono por fricción en perfiles complejos mediante cuenta básica transitoria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340515" y="4409678"/>
            <a:ext cx="5137716" cy="1425079"/>
          </a:xfrm>
          <a:prstGeom prst="roundRect">
            <a:avLst>
              <a:gd fmla="val 205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535872" y="4605040"/>
            <a:ext cx="4747002" cy="27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"/>
              <a:buNone/>
            </a:pPr>
            <a:r>
              <a:rPr b="1" i="0" lang="en-US" spc="-17" sz="17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Marco Legal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535872" y="5068094"/>
            <a:ext cx="4747002" cy="571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Verificación biométrica obligatoria bajo </a:t>
            </a:r>
            <a:r>
              <a:rPr b="1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Ley 31814</a:t>
            </a:r>
            <a:r>
              <a:rPr b="0" i="0" lang="en-US" sz="15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integrada al flujo conversacional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719814" y="833636"/>
            <a:ext cx="1306877" cy="281186"/>
          </a:xfrm>
          <a:prstGeom prst="roundRect">
            <a:avLst>
              <a:gd fmla="val 7900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830837" y="894146"/>
            <a:ext cx="1694415" cy="170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50"/>
              <a:buFont typeface="Source Sans 3"/>
              <a:buNone/>
            </a:pPr>
            <a:r>
              <a:rPr b="0" i="0" lang="en-US" sz="11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DC3 — SOLUCIÓN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719814" y="1199143"/>
            <a:ext cx="10752067" cy="1051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Montserrat"/>
              <a:buNone/>
            </a:pPr>
            <a:r>
              <a:rPr b="1" i="0" lang="en-US" spc="-33" sz="3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Agente Conversacional con Verificación de Identidad Progresiva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19814" y="2482949"/>
            <a:ext cx="370176" cy="2313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19814" y="2772172"/>
            <a:ext cx="5292692" cy="254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719814" y="2915444"/>
            <a:ext cx="5292692" cy="2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pc="-17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Inicio Conversacional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19814" y="3278287"/>
            <a:ext cx="5292692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Cliente inicia apertura de cuenta desde la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 BBVA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sin interrupciones por tipo de perfil.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179090" y="2482949"/>
            <a:ext cx="370176" cy="2313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179090" y="2772172"/>
            <a:ext cx="5292791" cy="254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179090" y="2915444"/>
            <a:ext cx="5292791" cy="2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pc="-17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Verificación Biométrica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179090" y="3278287"/>
            <a:ext cx="5292791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Motor biométrico valida identidad conforme a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Ley 31814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 Para extranjeros, conecta con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Migraciones y RR.EE.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segundo plano.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19814" y="4111327"/>
            <a:ext cx="370176" cy="2313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19814" y="4400550"/>
            <a:ext cx="5292692" cy="254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19814" y="4543822"/>
            <a:ext cx="5292692" cy="2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pc="-17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Apertura de Cuenta Básica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19814" y="4906665"/>
            <a:ext cx="5292692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Cuenta transitoria operativa con límites SBS (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0.6 UIT / transacción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) mientras validación con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RENIEC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concluye asincrónamente.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179090" y="4111327"/>
            <a:ext cx="370176" cy="2313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Montserrat"/>
              <a:buNone/>
            </a:pPr>
            <a:r>
              <a:rPr b="1" i="0" lang="en-US" spc="-15" sz="14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179090" y="4400550"/>
            <a:ext cx="5292791" cy="254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179090" y="4543822"/>
            <a:ext cx="5292791" cy="2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50"/>
              <a:buFont typeface="Montserrat"/>
              <a:buNone/>
            </a:pPr>
            <a:r>
              <a:rPr b="1" i="0" lang="en-US" spc="-17" sz="16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Gestión de Tutores Legales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179090" y="4906665"/>
            <a:ext cx="5292791" cy="5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Para menores: autorización del tutor legal gestionada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 cerrar la conversación</a:t>
            </a: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 Flujo continuo hasta cuenta operativa plena.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719814" y="5760541"/>
            <a:ext cx="11361652" cy="263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Integraciones: </a:t>
            </a:r>
            <a:r>
              <a:rPr b="1" i="0" lang="en-US" sz="14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 BBVA · Core bancario · Motor biométrico · RENIEC · Migraciones · RR.EE.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719814" y="596702"/>
            <a:ext cx="1955057" cy="234355"/>
          </a:xfrm>
          <a:prstGeom prst="roundRect">
            <a:avLst>
              <a:gd fmla="val 7899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812284" y="645555"/>
            <a:ext cx="2379702" cy="141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DC3 — BUSINESS CASE &amp; SÍNTESIS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19814" y="891550"/>
            <a:ext cx="10752067" cy="438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Montserrat"/>
              <a:buNone/>
            </a:pPr>
            <a:r>
              <a:rPr b="1" i="0" lang="en-US" spc="-28" sz="2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Síntesis Ejecutiva: Portafolio de Transformación Digital IA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14" y="1619151"/>
            <a:ext cx="3890865" cy="2801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0311" y="1619151"/>
            <a:ext cx="5187919" cy="1086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6539741" y="1792387"/>
            <a:ext cx="47652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Montserrat"/>
              <a:buNone/>
            </a:pPr>
            <a:r>
              <a:rPr b="1" i="0" lang="en-US" spc="-14" sz="13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DC1 · ROI </a:t>
            </a:r>
            <a:r>
              <a:rPr b="1" i="0" lang="en-US" spc="-14" sz="1350" u="none" cap="none" strike="noStrike">
                <a:solidFill>
                  <a:srgbClr val="2D2E34"/>
                </a:solidFill>
                <a:latin typeface="Montserrat"/>
                <a:ea typeface="Montserrat"/>
                <a:cs typeface="Montserrat"/>
                <a:sym typeface="Montserrat"/>
              </a:rPr>
              <a:t>+236%</a:t>
            </a:r>
            <a:r>
              <a:rPr b="1" i="0" lang="en-US" spc="-14" sz="13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 · Payback ~12 meses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539741" y="2127151"/>
            <a:ext cx="4765258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1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470K</a:t>
            </a: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inversión → </a:t>
            </a:r>
            <a:r>
              <a:rPr b="1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1,580K</a:t>
            </a: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ahorros. Genera caja inmediata. Motor financiero del portafolio.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0311" y="2820888"/>
            <a:ext cx="5187919" cy="1086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6539741" y="2994124"/>
            <a:ext cx="47652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Montserrat"/>
              <a:buNone/>
            </a:pPr>
            <a:r>
              <a:rPr b="1" i="0" lang="en-US" spc="-14" sz="13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DC2 · ROI -76% · Payback mes 55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539741" y="3328888"/>
            <a:ext cx="4765258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1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640K</a:t>
            </a: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inversión → </a:t>
            </a:r>
            <a:r>
              <a:rPr b="1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151.5K</a:t>
            </a: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ahorros. Valor real: blindaje regulatorio ante </a:t>
            </a:r>
            <a:r>
              <a:rPr b="1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Indecopi y SBS</a:t>
            </a: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0311" y="4022626"/>
            <a:ext cx="5187919" cy="1086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6539741" y="4195862"/>
            <a:ext cx="47652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Montserrat"/>
              <a:buNone/>
            </a:pPr>
            <a:r>
              <a:rPr b="1" i="0" lang="en-US" spc="-14" sz="13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DC3 · ROI -94% · </a:t>
            </a:r>
            <a:r>
              <a:rPr b="1" i="0" lang="en-US" spc="-14" sz="1350" u="none" cap="none" strike="noStrike">
                <a:solidFill>
                  <a:srgbClr val="2D2E34"/>
                </a:solidFill>
                <a:latin typeface="Montserrat"/>
                <a:ea typeface="Montserrat"/>
                <a:cs typeface="Montserrat"/>
                <a:sym typeface="Montserrat"/>
              </a:rPr>
              <a:t>PRIORIZADA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539741" y="4530626"/>
            <a:ext cx="4765258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1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800K</a:t>
            </a: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inversión → </a:t>
            </a:r>
            <a:r>
              <a:rPr b="1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USD 47.8K</a:t>
            </a: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ahorros. Proceso ancla de penetración digital: </a:t>
            </a:r>
            <a:r>
              <a:rPr b="1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33% → 55%</a:t>
            </a:r>
            <a:r>
              <a:rPr b="0" i="0" lang="en-U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cuentas digitales.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290311" y="5238750"/>
            <a:ext cx="5187919" cy="892373"/>
          </a:xfrm>
          <a:prstGeom prst="roundRect">
            <a:avLst>
              <a:gd fmla="val 2593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4493" y="5404048"/>
            <a:ext cx="192777" cy="15418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6791453" y="5381327"/>
            <a:ext cx="4532596" cy="607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ource Sans 3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DC1 financia la visión; DC2 y DC3 construyen la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escalabilidad, reducción de abandono y mitigación de multas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que justifican la inversión tecnológica total del banco.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2026-10-08T01:44:16Z</dcterms:created>
</cp:coreProperties>
</file>