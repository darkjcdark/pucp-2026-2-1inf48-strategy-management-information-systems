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8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98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58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26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41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57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09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629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67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72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68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8976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981201"/>
            <a:ext cx="10972800" cy="4144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CA93574B-4B58-4DCE-B54F-182BE2378CDD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6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3C317-502D-4D67-967C-433A2C88865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 userDrawn="1"/>
        </p:nvSpPr>
        <p:spPr bwMode="auto">
          <a:xfrm>
            <a:off x="76200" y="1365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FACULTAD DE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CIENCIAS 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INGENIERÍA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1.png"/>
          <p:cNvPicPr/>
          <p:nvPr userDrawn="1"/>
        </p:nvPicPr>
        <p:blipFill>
          <a:blip r:embed="rId14"/>
          <a:srcRect l="9422" t="21345" r="9526" b="20691"/>
          <a:stretch>
            <a:fillRect/>
          </a:stretch>
        </p:blipFill>
        <p:spPr>
          <a:xfrm>
            <a:off x="10807700" y="68104"/>
            <a:ext cx="1289050" cy="45910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377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ESTRATEGIA Y GESTION DE SISTEMAS DE INFORMACION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1INF48</a:t>
            </a:r>
          </a:p>
          <a:p>
            <a:r>
              <a:rPr lang="es-ES" dirty="0"/>
              <a:t>Capítulo 8 – Infraestructura de TI como habilitador de servicios y aplicaciones</a:t>
            </a:r>
          </a:p>
          <a:p>
            <a:endParaRPr lang="es-ES" dirty="0"/>
          </a:p>
          <a:p>
            <a:r>
              <a:rPr lang="es-ES" dirty="0"/>
              <a:t>Orlando Núñez Melgar</a:t>
            </a:r>
          </a:p>
          <a:p>
            <a:r>
              <a:rPr lang="es-ES" dirty="0"/>
              <a:t>orlando.nunez@pucp.edu.pe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4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¿Dónde estamos en el PETI?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02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Esta clase continúa la cadena del PETI: ya analizamos las aplicaciones; hoy analizamos la infraestructura que las hace posibles.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Entendimiento del negocio</a:t>
            </a:r>
          </a:p>
        </p:txBody>
      </p:sp>
      <p:sp>
        <p:nvSpPr>
          <p:cNvPr id="9" name="Shape 9"/>
          <p:cNvSpPr/>
          <p:nvPr/>
        </p:nvSpPr>
        <p:spPr>
          <a:xfrm>
            <a:off x="202996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Influencias externas</a:t>
            </a:r>
          </a:p>
        </p:txBody>
      </p:sp>
      <p:sp>
        <p:nvSpPr>
          <p:cNvPr id="10" name="Shape 10"/>
          <p:cNvSpPr/>
          <p:nvPr/>
        </p:nvSpPr>
        <p:spPr>
          <a:xfrm>
            <a:off x="349300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Estrategia de TI</a:t>
            </a:r>
          </a:p>
        </p:txBody>
      </p:sp>
      <p:sp>
        <p:nvSpPr>
          <p:cNvPr id="11" name="Shape 11"/>
          <p:cNvSpPr/>
          <p:nvPr/>
        </p:nvSpPr>
        <p:spPr>
          <a:xfrm>
            <a:off x="495604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Demanda de TI actual y futura</a:t>
            </a:r>
          </a:p>
        </p:txBody>
      </p:sp>
      <p:sp>
        <p:nvSpPr>
          <p:cNvPr id="12" name="Shape 12"/>
          <p:cNvSpPr/>
          <p:nvPr/>
        </p:nvSpPr>
        <p:spPr>
          <a:xfrm>
            <a:off x="6419088" y="1828800"/>
            <a:ext cx="1371600" cy="77724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1" i="0" dirty="0">
                <a:solidFill>
                  <a:srgbClr val="182B46"/>
                </a:solidFill>
                <a:latin typeface="Calibri"/>
              </a:rPr>
              <a:t>Oferta de TI actual y requerida</a:t>
            </a:r>
          </a:p>
        </p:txBody>
      </p:sp>
      <p:sp>
        <p:nvSpPr>
          <p:cNvPr id="13" name="Shape 13"/>
          <p:cNvSpPr/>
          <p:nvPr/>
        </p:nvSpPr>
        <p:spPr>
          <a:xfrm>
            <a:off x="788212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Roadmap de proyectos de TI</a:t>
            </a:r>
          </a:p>
        </p:txBody>
      </p:sp>
      <p:sp>
        <p:nvSpPr>
          <p:cNvPr id="14" name="Shape 14"/>
          <p:cNvSpPr/>
          <p:nvPr/>
        </p:nvSpPr>
        <p:spPr>
          <a:xfrm>
            <a:off x="934516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Modelo operativo de TI</a:t>
            </a:r>
          </a:p>
        </p:txBody>
      </p:sp>
      <p:sp>
        <p:nvSpPr>
          <p:cNvPr id="15" name="Shape 15"/>
          <p:cNvSpPr/>
          <p:nvPr/>
        </p:nvSpPr>
        <p:spPr>
          <a:xfrm>
            <a:off x="566928" y="3261360"/>
            <a:ext cx="2834640" cy="288036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Lo ya trabajado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Negocio, estrategia y demanda de TI.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Portafolio de aplicaciones: AS IS y TO BE.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Sistemas de registro y racionalización.</a:t>
            </a:r>
          </a:p>
        </p:txBody>
      </p:sp>
      <p:sp>
        <p:nvSpPr>
          <p:cNvPr id="16" name="Shape 16"/>
          <p:cNvSpPr/>
          <p:nvPr/>
        </p:nvSpPr>
        <p:spPr>
          <a:xfrm>
            <a:off x="4011168" y="3261360"/>
            <a:ext cx="2834640" cy="288036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Lo que hacemos hoy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Infraestructura como habilitador.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Modelos existentes de infraestructura.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Criterios para elegir por carga de trabajo.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Ejercicio: Andina Retail S.A.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Infraestructura • Habilitador de servicios y aplicaciones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03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La infraestructura no es “los fierros del sótano”: determina qué puede prometer el negocio y cuán rápido puede cumplirlo.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1737360" cy="91440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182B46"/>
                </a:solidFill>
                <a:latin typeface="Calibri"/>
              </a:rPr>
              <a:t>Estrategia de negocio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66928" y="2743200"/>
            <a:ext cx="173736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526070"/>
                </a:solidFill>
                <a:latin typeface="Calibri"/>
              </a:rPr>
              <a:t>¿Qué queremos lograr?</a:t>
            </a:r>
          </a:p>
        </p:txBody>
      </p:sp>
      <p:sp>
        <p:nvSpPr>
          <p:cNvPr id="10" name="Shape 10"/>
          <p:cNvSpPr/>
          <p:nvPr/>
        </p:nvSpPr>
        <p:spPr>
          <a:xfrm>
            <a:off x="2368296" y="2103120"/>
            <a:ext cx="237744" cy="274320"/>
          </a:xfrm>
          <a:prstGeom prst="rightArrow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1" name="Shape 11"/>
          <p:cNvSpPr/>
          <p:nvPr/>
        </p:nvSpPr>
        <p:spPr>
          <a:xfrm>
            <a:off x="2670048" y="1783080"/>
            <a:ext cx="1737360" cy="91440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182B46"/>
                </a:solidFill>
                <a:latin typeface="Calibri"/>
              </a:rPr>
              <a:t>Capacidades de negocio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2670048" y="2743200"/>
            <a:ext cx="173736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526070"/>
                </a:solidFill>
                <a:latin typeface="Calibri"/>
              </a:rPr>
              <a:t>¿Qué debe poder hacer la empresa?</a:t>
            </a:r>
          </a:p>
        </p:txBody>
      </p:sp>
      <p:sp>
        <p:nvSpPr>
          <p:cNvPr id="13" name="Shape 13"/>
          <p:cNvSpPr/>
          <p:nvPr/>
        </p:nvSpPr>
        <p:spPr>
          <a:xfrm>
            <a:off x="4471416" y="2103120"/>
            <a:ext cx="237744" cy="274320"/>
          </a:xfrm>
          <a:prstGeom prst="rightArrow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4" name="Shape 14"/>
          <p:cNvSpPr/>
          <p:nvPr/>
        </p:nvSpPr>
        <p:spPr>
          <a:xfrm>
            <a:off x="4773168" y="1783080"/>
            <a:ext cx="1737360" cy="91440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182B46"/>
                </a:solidFill>
                <a:latin typeface="Calibri"/>
              </a:rPr>
              <a:t>Aplicaciones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773168" y="2743200"/>
            <a:ext cx="173736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526070"/>
                </a:solidFill>
                <a:latin typeface="Calibri"/>
              </a:rPr>
              <a:t>¿Qué sistemas lo soportan?</a:t>
            </a:r>
          </a:p>
        </p:txBody>
      </p:sp>
      <p:sp>
        <p:nvSpPr>
          <p:cNvPr id="16" name="Shape 16"/>
          <p:cNvSpPr/>
          <p:nvPr/>
        </p:nvSpPr>
        <p:spPr>
          <a:xfrm>
            <a:off x="6574536" y="2103120"/>
            <a:ext cx="237744" cy="274320"/>
          </a:xfrm>
          <a:prstGeom prst="rightArrow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7" name="Shape 17"/>
          <p:cNvSpPr/>
          <p:nvPr/>
        </p:nvSpPr>
        <p:spPr>
          <a:xfrm>
            <a:off x="6876288" y="1783080"/>
            <a:ext cx="1737360" cy="91440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182B46"/>
                </a:solidFill>
                <a:latin typeface="Calibri"/>
              </a:rPr>
              <a:t>Servicios de TI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876288" y="2743200"/>
            <a:ext cx="173736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526070"/>
                </a:solidFill>
                <a:latin typeface="Calibri"/>
              </a:rPr>
              <a:t>¿Qué niveles de servicio (SLA/SLO)?</a:t>
            </a:r>
          </a:p>
        </p:txBody>
      </p:sp>
      <p:sp>
        <p:nvSpPr>
          <p:cNvPr id="19" name="Shape 19"/>
          <p:cNvSpPr/>
          <p:nvPr/>
        </p:nvSpPr>
        <p:spPr>
          <a:xfrm>
            <a:off x="8677656" y="2103120"/>
            <a:ext cx="237744" cy="274320"/>
          </a:xfrm>
          <a:prstGeom prst="rightArrow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20" name="Shape 20"/>
          <p:cNvSpPr/>
          <p:nvPr/>
        </p:nvSpPr>
        <p:spPr>
          <a:xfrm>
            <a:off x="8979408" y="1783080"/>
            <a:ext cx="1737360" cy="9144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</a:rPr>
              <a:t>Infraestructura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8979408" y="2743200"/>
            <a:ext cx="173736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526070"/>
                </a:solidFill>
                <a:latin typeface="Calibri"/>
              </a:rPr>
              <a:t>¿Con qué recursos técnicos?</a:t>
            </a:r>
          </a:p>
        </p:txBody>
      </p:sp>
      <p:sp>
        <p:nvSpPr>
          <p:cNvPr id="22" name="Shape 22"/>
          <p:cNvSpPr/>
          <p:nvPr/>
        </p:nvSpPr>
        <p:spPr>
          <a:xfrm>
            <a:off x="566928" y="3337560"/>
            <a:ext cx="10149840" cy="164592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Ejemplo: “Vender 24/7 en toda la región”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Requisitos de negocio → atributos: disponibilidad, latencia, escalabilidad y seguridad de pagos.</a:t>
            </a:r>
          </a:p>
          <a:p>
            <a:pPr marL="171450" indent="-171450" algn="l">
              <a:spcAft>
                <a:spcPts val="4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Atributos → SLAs/SLOs medibles → decisiones de infraestructura: multizona, autoescalado, CDN y cifrado.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166360"/>
            <a:ext cx="10149840" cy="64008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</a:rPr>
              <a:t>Principio: cada capa depende de la inferior y le impone requisitos.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Del requisito de negocio al requisito técnico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04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Los atributos de calidad (requisitos no funcionales) son el puente entre lo que pide el negocio y lo que exige a la infraestructura.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3108960" cy="41148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00" b="1" i="0" dirty="0">
                <a:solidFill>
                  <a:srgbClr val="FFFFFF"/>
                </a:solidFill>
                <a:latin typeface="Calibri"/>
              </a:rPr>
              <a:t>Lo que pide el negocio</a:t>
            </a:r>
          </a:p>
        </p:txBody>
      </p:sp>
      <p:sp>
        <p:nvSpPr>
          <p:cNvPr id="9" name="Shape 9"/>
          <p:cNvSpPr/>
          <p:nvPr/>
        </p:nvSpPr>
        <p:spPr>
          <a:xfrm>
            <a:off x="3767328" y="1783080"/>
            <a:ext cx="2194560" cy="41148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00" b="1" i="0" dirty="0">
                <a:solidFill>
                  <a:srgbClr val="FFFFFF"/>
                </a:solidFill>
                <a:latin typeface="Calibri"/>
              </a:rPr>
              <a:t>Atributo de calidad</a:t>
            </a:r>
          </a:p>
        </p:txBody>
      </p:sp>
      <p:sp>
        <p:nvSpPr>
          <p:cNvPr id="10" name="Shape 10"/>
          <p:cNvSpPr/>
          <p:nvPr/>
        </p:nvSpPr>
        <p:spPr>
          <a:xfrm>
            <a:off x="6053328" y="1783080"/>
            <a:ext cx="4663440" cy="41148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00" b="1" i="0" dirty="0">
                <a:solidFill>
                  <a:srgbClr val="FFFFFF"/>
                </a:solidFill>
                <a:latin typeface="Calibri"/>
              </a:rPr>
              <a:t>Lo que exige a la infraestructura</a:t>
            </a:r>
          </a:p>
        </p:txBody>
      </p:sp>
      <p:sp>
        <p:nvSpPr>
          <p:cNvPr id="11" name="Shape 11"/>
          <p:cNvSpPr/>
          <p:nvPr/>
        </p:nvSpPr>
        <p:spPr>
          <a:xfrm>
            <a:off x="566928" y="2286000"/>
            <a:ext cx="3108960" cy="603504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1" dirty="0">
                <a:solidFill>
                  <a:srgbClr val="2A3542"/>
                </a:solidFill>
                <a:latin typeface="Calibri"/>
              </a:rPr>
              <a:t>“No podemos parar de vender”</a:t>
            </a:r>
          </a:p>
        </p:txBody>
      </p:sp>
      <p:sp>
        <p:nvSpPr>
          <p:cNvPr id="12" name="Shape 12"/>
          <p:cNvSpPr/>
          <p:nvPr/>
        </p:nvSpPr>
        <p:spPr>
          <a:xfrm>
            <a:off x="3767328" y="2286000"/>
            <a:ext cx="2194560" cy="603504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182B46"/>
                </a:solidFill>
                <a:latin typeface="Calibri"/>
              </a:rPr>
              <a:t>Disponibilidad</a:t>
            </a:r>
          </a:p>
        </p:txBody>
      </p:sp>
      <p:sp>
        <p:nvSpPr>
          <p:cNvPr id="13" name="Shape 13"/>
          <p:cNvSpPr/>
          <p:nvPr/>
        </p:nvSpPr>
        <p:spPr>
          <a:xfrm>
            <a:off x="6053328" y="2286000"/>
            <a:ext cx="4663440" cy="60350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Redundancia, multizona y DR</a:t>
            </a:r>
          </a:p>
        </p:txBody>
      </p:sp>
      <p:sp>
        <p:nvSpPr>
          <p:cNvPr id="14" name="Shape 14"/>
          <p:cNvSpPr/>
          <p:nvPr/>
        </p:nvSpPr>
        <p:spPr>
          <a:xfrm>
            <a:off x="566928" y="2980944"/>
            <a:ext cx="3108960" cy="603504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1" dirty="0">
                <a:solidFill>
                  <a:srgbClr val="2A3542"/>
                </a:solidFill>
                <a:latin typeface="Calibri"/>
              </a:rPr>
              <a:t>“Campañas con picos x10”</a:t>
            </a:r>
          </a:p>
        </p:txBody>
      </p:sp>
      <p:sp>
        <p:nvSpPr>
          <p:cNvPr id="15" name="Shape 15"/>
          <p:cNvSpPr/>
          <p:nvPr/>
        </p:nvSpPr>
        <p:spPr>
          <a:xfrm>
            <a:off x="3767328" y="2980944"/>
            <a:ext cx="2194560" cy="603504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182B46"/>
                </a:solidFill>
                <a:latin typeface="Calibri"/>
              </a:rPr>
              <a:t>Elasticidad</a:t>
            </a:r>
          </a:p>
        </p:txBody>
      </p:sp>
      <p:sp>
        <p:nvSpPr>
          <p:cNvPr id="16" name="Shape 16"/>
          <p:cNvSpPr/>
          <p:nvPr/>
        </p:nvSpPr>
        <p:spPr>
          <a:xfrm>
            <a:off x="6053328" y="2980944"/>
            <a:ext cx="4663440" cy="60350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Autoescalado y pago por uso</a:t>
            </a:r>
          </a:p>
        </p:txBody>
      </p:sp>
      <p:sp>
        <p:nvSpPr>
          <p:cNvPr id="17" name="Shape 17"/>
          <p:cNvSpPr/>
          <p:nvPr/>
        </p:nvSpPr>
        <p:spPr>
          <a:xfrm>
            <a:off x="566928" y="3675888"/>
            <a:ext cx="3108960" cy="603504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1" dirty="0">
                <a:solidFill>
                  <a:srgbClr val="2A3542"/>
                </a:solidFill>
                <a:latin typeface="Calibri"/>
              </a:rPr>
              <a:t>“Lanzar rápido nuevas funciones”</a:t>
            </a:r>
          </a:p>
        </p:txBody>
      </p:sp>
      <p:sp>
        <p:nvSpPr>
          <p:cNvPr id="18" name="Shape 18"/>
          <p:cNvSpPr/>
          <p:nvPr/>
        </p:nvSpPr>
        <p:spPr>
          <a:xfrm>
            <a:off x="3767328" y="3675888"/>
            <a:ext cx="2194560" cy="603504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182B46"/>
                </a:solidFill>
                <a:latin typeface="Calibri"/>
              </a:rPr>
              <a:t>Agilidad</a:t>
            </a:r>
          </a:p>
        </p:txBody>
      </p:sp>
      <p:sp>
        <p:nvSpPr>
          <p:cNvPr id="19" name="Shape 19"/>
          <p:cNvSpPr/>
          <p:nvPr/>
        </p:nvSpPr>
        <p:spPr>
          <a:xfrm>
            <a:off x="6053328" y="3675888"/>
            <a:ext cx="4663440" cy="60350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Automatización y entornos bajo demanda</a:t>
            </a:r>
          </a:p>
        </p:txBody>
      </p:sp>
      <p:sp>
        <p:nvSpPr>
          <p:cNvPr id="20" name="Shape 20"/>
          <p:cNvSpPr/>
          <p:nvPr/>
        </p:nvSpPr>
        <p:spPr>
          <a:xfrm>
            <a:off x="566928" y="4370832"/>
            <a:ext cx="3108960" cy="603504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1" dirty="0">
                <a:solidFill>
                  <a:srgbClr val="2A3542"/>
                </a:solidFill>
                <a:latin typeface="Calibri"/>
              </a:rPr>
              <a:t>“Cumplir con la ley de datos”</a:t>
            </a:r>
          </a:p>
        </p:txBody>
      </p:sp>
      <p:sp>
        <p:nvSpPr>
          <p:cNvPr id="21" name="Shape 21"/>
          <p:cNvSpPr/>
          <p:nvPr/>
        </p:nvSpPr>
        <p:spPr>
          <a:xfrm>
            <a:off x="3767328" y="4370832"/>
            <a:ext cx="2194560" cy="603504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182B46"/>
                </a:solidFill>
                <a:latin typeface="Calibri"/>
              </a:rPr>
              <a:t>Seguridad y cumplimiento</a:t>
            </a:r>
          </a:p>
        </p:txBody>
      </p:sp>
      <p:sp>
        <p:nvSpPr>
          <p:cNvPr id="22" name="Shape 22"/>
          <p:cNvSpPr/>
          <p:nvPr/>
        </p:nvSpPr>
        <p:spPr>
          <a:xfrm>
            <a:off x="6053328" y="4370832"/>
            <a:ext cx="4663440" cy="60350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Localización de datos, cifrado y auditoría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065776"/>
            <a:ext cx="3108960" cy="603504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1" dirty="0">
                <a:solidFill>
                  <a:srgbClr val="2A3542"/>
                </a:solidFill>
                <a:latin typeface="Calibri"/>
              </a:rPr>
              <a:t>“Controlar el gasto”</a:t>
            </a:r>
          </a:p>
        </p:txBody>
      </p:sp>
      <p:sp>
        <p:nvSpPr>
          <p:cNvPr id="24" name="Shape 24"/>
          <p:cNvSpPr/>
          <p:nvPr/>
        </p:nvSpPr>
        <p:spPr>
          <a:xfrm>
            <a:off x="3767328" y="5065776"/>
            <a:ext cx="2194560" cy="603504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182B46"/>
                </a:solidFill>
                <a:latin typeface="Calibri"/>
              </a:rPr>
              <a:t>Eficiencia de costos</a:t>
            </a:r>
          </a:p>
        </p:txBody>
      </p:sp>
      <p:sp>
        <p:nvSpPr>
          <p:cNvPr id="25" name="Shape 25"/>
          <p:cNvSpPr/>
          <p:nvPr/>
        </p:nvSpPr>
        <p:spPr>
          <a:xfrm>
            <a:off x="6053328" y="5065776"/>
            <a:ext cx="4663440" cy="60350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Visibilidad, FinOps y dimensionamiento correcto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Capas de la infraestructura moderna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05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Seis capas que, combinadas, definen cuán rápido, seguro y resiliente puede ser un servicio.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3261360" cy="182880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Cómputo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Servidores físicos y virtualización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Contenedores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Serverless</a:t>
            </a:r>
          </a:p>
        </p:txBody>
      </p:sp>
      <p:sp>
        <p:nvSpPr>
          <p:cNvPr id="9" name="Shape 9"/>
          <p:cNvSpPr/>
          <p:nvPr/>
        </p:nvSpPr>
        <p:spPr>
          <a:xfrm>
            <a:off x="4011168" y="1783080"/>
            <a:ext cx="3261360" cy="182880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Almacenamiento y datos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Bloques, archivos y objetos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Bases de datos gestionadas</a:t>
            </a:r>
          </a:p>
        </p:txBody>
      </p:sp>
      <p:sp>
        <p:nvSpPr>
          <p:cNvPr id="10" name="Shape 10"/>
          <p:cNvSpPr/>
          <p:nvPr/>
        </p:nvSpPr>
        <p:spPr>
          <a:xfrm>
            <a:off x="7455408" y="1783080"/>
            <a:ext cx="3261360" cy="182880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Red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LAN/WAN y SD-WAN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Conectividad a nube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CDN</a:t>
            </a:r>
          </a:p>
        </p:txBody>
      </p:sp>
      <p:sp>
        <p:nvSpPr>
          <p:cNvPr id="11" name="Shape 11"/>
          <p:cNvSpPr/>
          <p:nvPr/>
        </p:nvSpPr>
        <p:spPr>
          <a:xfrm>
            <a:off x="566928" y="3794760"/>
            <a:ext cx="3261360" cy="182880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Seguridad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Identidad y accesos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Segmentación y cifrado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Zero Trust</a:t>
            </a:r>
          </a:p>
        </p:txBody>
      </p:sp>
      <p:sp>
        <p:nvSpPr>
          <p:cNvPr id="12" name="Shape 12"/>
          <p:cNvSpPr/>
          <p:nvPr/>
        </p:nvSpPr>
        <p:spPr>
          <a:xfrm>
            <a:off x="4011168" y="3794760"/>
            <a:ext cx="3261360" cy="182880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Plataforma y automatización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Infraestructura como código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CI/CD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Orquestación (Kubernetes)</a:t>
            </a:r>
          </a:p>
        </p:txBody>
      </p:sp>
      <p:sp>
        <p:nvSpPr>
          <p:cNvPr id="13" name="Shape 13"/>
          <p:cNvSpPr/>
          <p:nvPr/>
        </p:nvSpPr>
        <p:spPr>
          <a:xfrm>
            <a:off x="7455408" y="3794760"/>
            <a:ext cx="3261360" cy="1828800"/>
          </a:xfrm>
          <a:prstGeom prst="roundRect">
            <a:avLst/>
          </a:prstGeom>
          <a:solidFill>
            <a:srgbClr val="FCF0E0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Observabilidad y operación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Monitoreo y logging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SRE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Continuidad (DR/BCP)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Infraestructura que frena vs. que habilita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06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No toda la infraestructura debe ser igual: se diseña según el ritmo de cambio de cada tipo de sistema.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3771900"/>
            <a:ext cx="4105656" cy="2011680"/>
          </a:xfrm>
          <a:prstGeom prst="roundRect">
            <a:avLst/>
          </a:prstGeom>
          <a:solidFill>
            <a:srgbClr val="FCF0E0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A44545"/>
                </a:solidFill>
                <a:latin typeface="Calibri"/>
              </a:rPr>
              <a:t>FRENA al negocio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Semanas para aprovisionar un servidor.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Entornos de prueba distintos de producción.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Deuda técnica y caídas recurrentes.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Proyectos limitados por capacidad.</a:t>
            </a:r>
          </a:p>
        </p:txBody>
      </p:sp>
      <p:sp>
        <p:nvSpPr>
          <p:cNvPr id="9" name="Shape 9"/>
          <p:cNvSpPr/>
          <p:nvPr/>
        </p:nvSpPr>
        <p:spPr>
          <a:xfrm>
            <a:off x="6096000" y="3771900"/>
            <a:ext cx="4099560" cy="201168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HABILITA al negocio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Aprovisionamiento en minutos.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Despliegues frecuentes y seguros.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Costos visibles por servicio.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Resiliencia probada.</a:t>
            </a:r>
          </a:p>
        </p:txBody>
      </p:sp>
      <p:sp>
        <p:nvSpPr>
          <p:cNvPr id="10" name="Shape 10"/>
          <p:cNvSpPr/>
          <p:nvPr/>
        </p:nvSpPr>
        <p:spPr>
          <a:xfrm>
            <a:off x="630936" y="1773936"/>
            <a:ext cx="3977640" cy="178308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Métricas DORA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Frecuencia de despliegue y tiempo de entrega.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Tasa de fallos de cambios.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Tiempo de recuperación.</a:t>
            </a:r>
          </a:p>
        </p:txBody>
      </p:sp>
      <p:sp>
        <p:nvSpPr>
          <p:cNvPr id="11" name="Shape 11"/>
          <p:cNvSpPr/>
          <p:nvPr/>
        </p:nvSpPr>
        <p:spPr>
          <a:xfrm>
            <a:off x="6096000" y="1737360"/>
            <a:ext cx="3977640" cy="178308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TI de dos velocidades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Sistemas de registro (ERP, core): estabilidad.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Sistemas de diferenciación (apps, canales): agilidad.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Modelos de infraestructura: el espectro disponible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07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A mayor nivel de servicio (IaaS → SaaS) el proveedor asume más capas, pero datos, identidad y cumplimiento siguen siendo tuyos.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On-premise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Control y soberanía; CapEx alto y escalado lento.</a:t>
            </a:r>
          </a:p>
        </p:txBody>
      </p:sp>
      <p:sp>
        <p:nvSpPr>
          <p:cNvPr id="9" name="Shape 9"/>
          <p:cNvSpPr/>
          <p:nvPr/>
        </p:nvSpPr>
        <p:spPr>
          <a:xfrm>
            <a:off x="4011168" y="178308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Colocation / hosting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Sin construir datacenter; sigues operando el hardware.</a:t>
            </a:r>
          </a:p>
        </p:txBody>
      </p:sp>
      <p:sp>
        <p:nvSpPr>
          <p:cNvPr id="10" name="Shape 10"/>
          <p:cNvSpPr/>
          <p:nvPr/>
        </p:nvSpPr>
        <p:spPr>
          <a:xfrm>
            <a:off x="7455408" y="178308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Nube privada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Control con autoservicio; costo y complejidad de operarla.</a:t>
            </a:r>
          </a:p>
        </p:txBody>
      </p:sp>
      <p:sp>
        <p:nvSpPr>
          <p:cNvPr id="11" name="Shape 11"/>
          <p:cNvSpPr/>
          <p:nvPr/>
        </p:nvSpPr>
        <p:spPr>
          <a:xfrm>
            <a:off x="566928" y="3154680"/>
            <a:ext cx="3261360" cy="123444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Nube pública (IaaS)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Elasticidad y OpEx; costos variables y gobierno propio.</a:t>
            </a:r>
          </a:p>
        </p:txBody>
      </p:sp>
      <p:sp>
        <p:nvSpPr>
          <p:cNvPr id="12" name="Shape 12"/>
          <p:cNvSpPr/>
          <p:nvPr/>
        </p:nvSpPr>
        <p:spPr>
          <a:xfrm>
            <a:off x="4011168" y="3154680"/>
            <a:ext cx="3261360" cy="123444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PaaS / serverless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Máxima velocidad y menos operación; mayor dependencia.</a:t>
            </a:r>
          </a:p>
        </p:txBody>
      </p:sp>
      <p:sp>
        <p:nvSpPr>
          <p:cNvPr id="13" name="Shape 13"/>
          <p:cNvSpPr/>
          <p:nvPr/>
        </p:nvSpPr>
        <p:spPr>
          <a:xfrm>
            <a:off x="7455408" y="3154680"/>
            <a:ext cx="3261360" cy="123444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SaaS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Time-to-market inmediato; poca personalización.</a:t>
            </a:r>
          </a:p>
        </p:txBody>
      </p:sp>
      <p:sp>
        <p:nvSpPr>
          <p:cNvPr id="14" name="Shape 14"/>
          <p:cNvSpPr/>
          <p:nvPr/>
        </p:nvSpPr>
        <p:spPr>
          <a:xfrm>
            <a:off x="566928" y="4526280"/>
            <a:ext cx="3261360" cy="123444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Híbrida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Flexibilidad y migración gradual; complejidad de integración.</a:t>
            </a:r>
          </a:p>
        </p:txBody>
      </p:sp>
      <p:sp>
        <p:nvSpPr>
          <p:cNvPr id="15" name="Shape 15"/>
          <p:cNvSpPr/>
          <p:nvPr/>
        </p:nvSpPr>
        <p:spPr>
          <a:xfrm>
            <a:off x="4011168" y="4526280"/>
            <a:ext cx="3261360" cy="123444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Multicloud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Menor lock-in; habilidades duplicadas.</a:t>
            </a:r>
          </a:p>
        </p:txBody>
      </p:sp>
      <p:sp>
        <p:nvSpPr>
          <p:cNvPr id="16" name="Shape 16"/>
          <p:cNvSpPr/>
          <p:nvPr/>
        </p:nvSpPr>
        <p:spPr>
          <a:xfrm>
            <a:off x="7455408" y="4526280"/>
            <a:ext cx="3261360" cy="123444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Edge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Baja latencia y operación offline; gestión distribuida.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Criterios de selección: decidir por carga de trabajo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08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La decisión se toma por carga de trabajo, no por organización; casi siempre el resultado es un portafolio mixto.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4983480" cy="56692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Patrón de carga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¿demanda estable o variable?</a:t>
            </a:r>
          </a:p>
        </p:txBody>
      </p:sp>
      <p:sp>
        <p:nvSpPr>
          <p:cNvPr id="9" name="Shape 9"/>
          <p:cNvSpPr/>
          <p:nvPr/>
        </p:nvSpPr>
        <p:spPr>
          <a:xfrm>
            <a:off x="566928" y="2450592"/>
            <a:ext cx="4983480" cy="56692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Latencia y ubicación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¿dónde están usuarios y datos?</a:t>
            </a:r>
          </a:p>
        </p:txBody>
      </p:sp>
      <p:sp>
        <p:nvSpPr>
          <p:cNvPr id="10" name="Shape 10"/>
          <p:cNvSpPr/>
          <p:nvPr/>
        </p:nvSpPr>
        <p:spPr>
          <a:xfrm>
            <a:off x="566928" y="3118104"/>
            <a:ext cx="4983480" cy="56692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Seguridad y cumplimiento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¿qué regulación y residencia de datos?</a:t>
            </a:r>
          </a:p>
        </p:txBody>
      </p:sp>
      <p:sp>
        <p:nvSpPr>
          <p:cNvPr id="11" name="Shape 11"/>
          <p:cNvSpPr/>
          <p:nvPr/>
        </p:nvSpPr>
        <p:spPr>
          <a:xfrm>
            <a:off x="566928" y="3785616"/>
            <a:ext cx="4983480" cy="56692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Costo total (TCO 3–5 años)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¿incluye talento, migración y salida?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4453128"/>
            <a:ext cx="4983480" cy="56692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Habilidades y madurez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¿podemos operar este modelo bien?</a:t>
            </a:r>
          </a:p>
        </p:txBody>
      </p:sp>
      <p:sp>
        <p:nvSpPr>
          <p:cNvPr id="13" name="Shape 13"/>
          <p:cNvSpPr/>
          <p:nvPr/>
        </p:nvSpPr>
        <p:spPr>
          <a:xfrm>
            <a:off x="5733288" y="1783080"/>
            <a:ext cx="4983480" cy="566928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Integración y legado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¿qué dependencias técnicas tiene?</a:t>
            </a:r>
          </a:p>
        </p:txBody>
      </p:sp>
      <p:sp>
        <p:nvSpPr>
          <p:cNvPr id="14" name="Shape 14"/>
          <p:cNvSpPr/>
          <p:nvPr/>
        </p:nvSpPr>
        <p:spPr>
          <a:xfrm>
            <a:off x="5733288" y="2450592"/>
            <a:ext cx="4983480" cy="566928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Agilidad / time-to-market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¿qué tan rápido debe llegar?</a:t>
            </a:r>
          </a:p>
        </p:txBody>
      </p:sp>
      <p:sp>
        <p:nvSpPr>
          <p:cNvPr id="15" name="Shape 15"/>
          <p:cNvSpPr/>
          <p:nvPr/>
        </p:nvSpPr>
        <p:spPr>
          <a:xfrm>
            <a:off x="5733288" y="3118104"/>
            <a:ext cx="4983480" cy="566928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Riesgo y lock-in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¿cuánto cuesta equivocarnos o salir?</a:t>
            </a:r>
          </a:p>
        </p:txBody>
      </p:sp>
      <p:sp>
        <p:nvSpPr>
          <p:cNvPr id="16" name="Shape 16"/>
          <p:cNvSpPr/>
          <p:nvPr/>
        </p:nvSpPr>
        <p:spPr>
          <a:xfrm>
            <a:off x="5733288" y="3785616"/>
            <a:ext cx="4983480" cy="566928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Resiliencia y continuidad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¿qué RTO y RPO exige el negocio?</a:t>
            </a:r>
          </a:p>
        </p:txBody>
      </p:sp>
      <p:sp>
        <p:nvSpPr>
          <p:cNvPr id="17" name="Shape 17"/>
          <p:cNvSpPr/>
          <p:nvPr/>
        </p:nvSpPr>
        <p:spPr>
          <a:xfrm>
            <a:off x="5733288" y="4453128"/>
            <a:ext cx="4983480" cy="566928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Sostenibilidad • 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¿hay metas ESG o de huella de carbono?</a:t>
            </a:r>
          </a:p>
        </p:txBody>
      </p:sp>
      <p:sp>
        <p:nvSpPr>
          <p:cNvPr id="18" name="Shape 18"/>
          <p:cNvSpPr/>
          <p:nvPr/>
        </p:nvSpPr>
        <p:spPr>
          <a:xfrm>
            <a:off x="566928" y="5193792"/>
            <a:ext cx="10149840" cy="6858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PE" sz="1250" b="1" i="0" dirty="0">
                <a:solidFill>
                  <a:srgbClr val="FFFFFF"/>
                </a:solidFill>
                <a:latin typeface="Calibri"/>
              </a:rPr>
              <a:t>Matriz ponderada: pesos que suman 100 % y puntaje 1–5 por alternativa.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FFFFFF"/>
                </a:solidFill>
                <a:latin typeface="Calibri"/>
              </a:rPr>
              <a:t>Estrategias 6R: Rehost • Replatform • Refactor • Repurchase • Retire • Retain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Caso • Andina Retail S.A.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09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Empresa ficticia para el ejercicio: ¿qué modelo de infraestructura conviene para cada aplicación?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4114800" cy="402336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Contexto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120 tiendas en 3 países; e-commerce crece 25 % anual.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Datacenter de 12 años: renovarlo cuesta USD 2,5 M + USD 1,8 M/año de operación.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Picos de hasta 8 veces la carga normal.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TI de 25 personas, poca experiencia en nube.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App móvil omnicanal exigida en 9 meses.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Leyes de protección de datos en los 3 países.</a:t>
            </a:r>
          </a:p>
        </p:txBody>
      </p:sp>
      <p:sp>
        <p:nvSpPr>
          <p:cNvPr id="9" name="Shape 9"/>
          <p:cNvSpPr/>
          <p:nvPr/>
        </p:nvSpPr>
        <p:spPr>
          <a:xfrm>
            <a:off x="4864608" y="1783080"/>
            <a:ext cx="5852160" cy="402336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Portafolio de aplicaciones a evaluar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1. ERP financiero e inventarios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12 años, personalizado, crítico, carga estable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2. E-commerce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picos extremos, crecimiento rápido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3. App móvil omnicanal (nueva)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9 meses, APIs hacia ERP y tiendas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4. POS de tiendas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debe operar aun sin internet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5. Data warehouse / BI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volumen creciente, cargas intermitentes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6. CRM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producto estándar, pocas personalizaciones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7. Correo y colaboración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commodity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250" b="1" i="0" dirty="0">
                <a:solidFill>
                  <a:srgbClr val="2A3542"/>
                </a:solidFill>
                <a:latin typeface="Calibri"/>
              </a:rPr>
              <a:t>8. Nómina</a:t>
            </a: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 — datos muy sensibles, carga estable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Ejercicio práctico • Comité de infraestructura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10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Trabajo en grupos de 4 o 5 personas durante 50 minutos; cada grupo presenta su recomendación al comité.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1920240" cy="228600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100" b="1" i="0" dirty="0">
                <a:solidFill>
                  <a:srgbClr val="2467AB"/>
                </a:solidFill>
                <a:latin typeface="Calibri"/>
              </a:rPr>
              <a:t>Paso 1 • 5 min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Lanzamiento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Roles: CIO, CFO, CISO y líder de negocio.</a:t>
            </a:r>
          </a:p>
        </p:txBody>
      </p:sp>
      <p:sp>
        <p:nvSpPr>
          <p:cNvPr id="9" name="Shape 9"/>
          <p:cNvSpPr/>
          <p:nvPr/>
        </p:nvSpPr>
        <p:spPr>
          <a:xfrm>
            <a:off x="2624328" y="1783080"/>
            <a:ext cx="1920240" cy="228600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100" b="1" i="0" dirty="0">
                <a:solidFill>
                  <a:srgbClr val="2467AB"/>
                </a:solidFill>
                <a:latin typeface="Calibri"/>
              </a:rPr>
              <a:t>Paso 2 • 15 min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Clasificación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Modelo de destino y 6R por aplicación, con 2 criterios.</a:t>
            </a:r>
          </a:p>
        </p:txBody>
      </p:sp>
      <p:sp>
        <p:nvSpPr>
          <p:cNvPr id="10" name="Shape 10"/>
          <p:cNvSpPr/>
          <p:nvPr/>
        </p:nvSpPr>
        <p:spPr>
          <a:xfrm>
            <a:off x="4681728" y="1783080"/>
            <a:ext cx="1920240" cy="228600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100" b="1" i="0" dirty="0">
                <a:solidFill>
                  <a:srgbClr val="2467AB"/>
                </a:solidFill>
                <a:latin typeface="Calibri"/>
              </a:rPr>
              <a:t>Paso 3 • 10 min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Matriz ponderada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ERP, e-commerce y app: 3 alternativas, 6 criterios.</a:t>
            </a:r>
          </a:p>
        </p:txBody>
      </p:sp>
      <p:sp>
        <p:nvSpPr>
          <p:cNvPr id="11" name="Shape 11"/>
          <p:cNvSpPr/>
          <p:nvPr/>
        </p:nvSpPr>
        <p:spPr>
          <a:xfrm>
            <a:off x="6739128" y="1783080"/>
            <a:ext cx="1920240" cy="228600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100" b="1" i="0" dirty="0">
                <a:solidFill>
                  <a:srgbClr val="2467AB"/>
                </a:solidFill>
                <a:latin typeface="Calibri"/>
              </a:rPr>
              <a:t>Paso 4 • 5 min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Hoja de ruta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3 fases (0–6, 6–12, 12–18 meses) y 3 riesgos.</a:t>
            </a:r>
          </a:p>
        </p:txBody>
      </p:sp>
      <p:sp>
        <p:nvSpPr>
          <p:cNvPr id="12" name="Shape 12"/>
          <p:cNvSpPr/>
          <p:nvPr/>
        </p:nvSpPr>
        <p:spPr>
          <a:xfrm>
            <a:off x="8796528" y="1783080"/>
            <a:ext cx="1920240" cy="2286000"/>
          </a:xfrm>
          <a:prstGeom prst="roundRect">
            <a:avLst/>
          </a:prstGeom>
          <a:solidFill>
            <a:srgbClr val="FCF0E0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100" b="1" i="0" dirty="0">
                <a:solidFill>
                  <a:srgbClr val="2467AB"/>
                </a:solidFill>
                <a:latin typeface="Calibri"/>
              </a:rPr>
              <a:t>Paso 5 • 15 min</a:t>
            </a:r>
          </a:p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Comité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3 min de presentación y 2 de preguntas.</a:t>
            </a:r>
          </a:p>
        </p:txBody>
      </p:sp>
      <p:sp>
        <p:nvSpPr>
          <p:cNvPr id="13" name="Shape 13"/>
          <p:cNvSpPr/>
          <p:nvPr/>
        </p:nvSpPr>
        <p:spPr>
          <a:xfrm>
            <a:off x="566928" y="4983480"/>
            <a:ext cx="4297680" cy="150876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Entregable (una página o slide)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Portafolio clasificado y matriz de decisión.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Hoja de ruta y principales riesgos.</a:t>
            </a:r>
          </a:p>
        </p:txBody>
      </p:sp>
      <p:sp>
        <p:nvSpPr>
          <p:cNvPr id="14" name="Shape 14"/>
          <p:cNvSpPr/>
          <p:nvPr/>
        </p:nvSpPr>
        <p:spPr>
          <a:xfrm>
            <a:off x="5733288" y="4983480"/>
            <a:ext cx="4297680" cy="150876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Rúbrica • 100 puntos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Vínculo negocio–decisión 25 • Matriz coherente 25.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Realismo del plan 20 • Trade-offs 15 • Presentación 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Cierre: de modelos a decisiones explícitas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Capa de Infraestructura • Oferta de TI actual y requerida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201168"/>
            <a:ext cx="411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s-PE" sz="950" b="1" i="0" dirty="0">
                <a:solidFill>
                  <a:srgbClr val="182B46"/>
                </a:solidFill>
                <a:latin typeface="Calibri"/>
              </a:rPr>
              <a:t>11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No existe un modelo ganador universal: la decisión debe ser explícita, ponderada y revisable.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783080"/>
            <a:ext cx="4983480" cy="141732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Por necesidad, no por tecnología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La infraestructura se elige por lo que el negocio necesita.</a:t>
            </a:r>
          </a:p>
        </p:txBody>
      </p:sp>
      <p:sp>
        <p:nvSpPr>
          <p:cNvPr id="9" name="Shape 9"/>
          <p:cNvSpPr/>
          <p:nvPr/>
        </p:nvSpPr>
        <p:spPr>
          <a:xfrm>
            <a:off x="5733288" y="1783080"/>
            <a:ext cx="4983480" cy="141732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Portafolio mixto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Se decide por carga de trabajo, no por organización.</a:t>
            </a:r>
          </a:p>
        </p:txBody>
      </p:sp>
      <p:sp>
        <p:nvSpPr>
          <p:cNvPr id="10" name="Shape 10"/>
          <p:cNvSpPr/>
          <p:nvPr/>
        </p:nvSpPr>
        <p:spPr>
          <a:xfrm>
            <a:off x="566928" y="3383280"/>
            <a:ext cx="4983480" cy="141732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Decisión explícita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Ponderada, documentada y revisable cuando cambie el contexto.</a:t>
            </a:r>
          </a:p>
        </p:txBody>
      </p:sp>
      <p:sp>
        <p:nvSpPr>
          <p:cNvPr id="11" name="Shape 11"/>
          <p:cNvSpPr/>
          <p:nvPr/>
        </p:nvSpPr>
        <p:spPr>
          <a:xfrm>
            <a:off x="5733288" y="3383280"/>
            <a:ext cx="4983480" cy="141732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400" b="1" i="0" dirty="0">
                <a:solidFill>
                  <a:srgbClr val="182B46"/>
                </a:solidFill>
                <a:latin typeface="Calibri"/>
              </a:rPr>
              <a:t>Más que tecnología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Talento, gobierno y costo operativo pesan tanto como la plataforma.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5029200"/>
            <a:ext cx="10149840" cy="8229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</a:rPr>
              <a:t>Retomen su frase inicial: ¿qué cambiarían hoy?</a:t>
            </a:r>
          </a:p>
          <a:p>
            <a:pPr algn="l"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FFFFFF"/>
                </a:solidFill>
                <a:latin typeface="Calibri"/>
              </a:rPr>
              <a:t>Tarea opcional: aplicar la matriz a una aplicación real de su organización y traer una recomendación en una página.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1541</Words>
  <Application>Microsoft Office PowerPoint</Application>
  <PresentationFormat>Panorámica</PresentationFormat>
  <Paragraphs>221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Tema de Office</vt:lpstr>
      <vt:lpstr>ESTRATEGIA Y GESTION DE SISTEMAS DE INFORMACION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Alberto Morales Barrera</cp:lastModifiedBy>
  <cp:revision>7</cp:revision>
  <dcterms:created xsi:type="dcterms:W3CDTF">2013-01-27T09:14:16Z</dcterms:created>
  <dcterms:modified xsi:type="dcterms:W3CDTF">2026-10-22T00:24:39Z</dcterms:modified>
  <cp:category/>
</cp:coreProperties>
</file>