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1675"/>
  <p:notesSz cx="6858000" cy="12191675"/>
  <p:embeddedFontLst>
    <p:embeddedFont>
      <p:font typeface="Source Sans 3 SemiBold"/>
      <p:regular r:id="rId20"/>
      <p:bold r:id="rId21"/>
      <p:italic r:id="rId22"/>
      <p:boldItalic r:id="rId23"/>
    </p:embeddedFont>
    <p:embeddedFont>
      <p:font typeface="Montserrat"/>
      <p:bold r:id="rId24"/>
      <p:boldItalic r:id="rId25"/>
    </p:embeddedFont>
    <p:embeddedFont>
      <p:font typeface="Source Sans 3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30gqSgyMrWGas860aE7HJp1Yk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EBD527-03DD-4C24-BC11-2293BA3C391B}">
  <a:tblStyle styleId="{83EBD527-03DD-4C24-BC11-2293BA3C391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Sans3SemiBold-regular.fntdata"/><Relationship Id="rId22" Type="http://schemas.openxmlformats.org/officeDocument/2006/relationships/font" Target="fonts/SourceSans3SemiBold-italic.fntdata"/><Relationship Id="rId21" Type="http://schemas.openxmlformats.org/officeDocument/2006/relationships/font" Target="fonts/SourceSans3SemiBold-bold.fntdata"/><Relationship Id="rId24" Type="http://schemas.openxmlformats.org/officeDocument/2006/relationships/font" Target="fonts/Montserrat-bold.fntdata"/><Relationship Id="rId23" Type="http://schemas.openxmlformats.org/officeDocument/2006/relationships/font" Target="fonts/SourceSans3SemiBold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SourceSans3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SourceSans3-italic.fntdata"/><Relationship Id="rId27" Type="http://schemas.openxmlformats.org/officeDocument/2006/relationships/font" Target="fonts/SourceSans3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SourceSans3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f8d29873df_0_418:notes"/>
          <p:cNvSpPr/>
          <p:nvPr>
            <p:ph idx="2" type="sldImg"/>
          </p:nvPr>
        </p:nvSpPr>
        <p:spPr>
          <a:xfrm>
            <a:off x="40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g3f8d29873df_0_4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g3f8d29873df_0_4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8d29873df_0_435:notes"/>
          <p:cNvSpPr/>
          <p:nvPr>
            <p:ph idx="2" type="sldImg"/>
          </p:nvPr>
        </p:nvSpPr>
        <p:spPr>
          <a:xfrm>
            <a:off x="40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g3f8d29873df_0_4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f8d29873df_0_4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8d29873df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f8d29873df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f8d29873df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8d29873df_0_481:notes"/>
          <p:cNvSpPr/>
          <p:nvPr>
            <p:ph idx="2" type="sldImg"/>
          </p:nvPr>
        </p:nvSpPr>
        <p:spPr>
          <a:xfrm>
            <a:off x="40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g3f8d29873df_0_48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f8d29873df_0_48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8d29873df_0_553:notes"/>
          <p:cNvSpPr/>
          <p:nvPr>
            <p:ph idx="2" type="sldImg"/>
          </p:nvPr>
        </p:nvSpPr>
        <p:spPr>
          <a:xfrm>
            <a:off x="40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g3f8d29873df_0_5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f8d29873df_0_5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8d29873df_0_708:notes"/>
          <p:cNvSpPr/>
          <p:nvPr>
            <p:ph idx="2" type="sldImg"/>
          </p:nvPr>
        </p:nvSpPr>
        <p:spPr>
          <a:xfrm>
            <a:off x="40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g3f8d29873df_0_70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f8d29873df_0_70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8d29873df_0_303:notes"/>
          <p:cNvSpPr/>
          <p:nvPr>
            <p:ph idx="2" type="sldImg"/>
          </p:nvPr>
        </p:nvSpPr>
        <p:spPr>
          <a:xfrm>
            <a:off x="40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g3f8d29873df_0_30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f8d29873df_0_30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8d29873df_0_357:notes"/>
          <p:cNvSpPr/>
          <p:nvPr>
            <p:ph idx="2" type="sldImg"/>
          </p:nvPr>
        </p:nvSpPr>
        <p:spPr>
          <a:xfrm>
            <a:off x="40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g3f8d29873df_0_35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f8d29873df_0_35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8d29873df_0_391:notes"/>
          <p:cNvSpPr/>
          <p:nvPr>
            <p:ph idx="2" type="sldImg"/>
          </p:nvPr>
        </p:nvSpPr>
        <p:spPr>
          <a:xfrm>
            <a:off x="40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1" name="Google Shape;461;g3f8d29873df_0_39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f8d29873df_0_39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f8d29873df_0_80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g3f8d29873df_0_80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g3f8d29873df_0_80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4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 (g3f8d29873df_35_0)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f8d29873df_0_418"/>
          <p:cNvSpPr/>
          <p:nvPr/>
        </p:nvSpPr>
        <p:spPr>
          <a:xfrm>
            <a:off x="9692382" y="-1371600"/>
            <a:ext cx="4572000" cy="4572000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f8d29873df_0_418"/>
          <p:cNvSpPr/>
          <p:nvPr/>
        </p:nvSpPr>
        <p:spPr>
          <a:xfrm>
            <a:off x="10606757" y="4114800"/>
            <a:ext cx="2926200" cy="2926200"/>
          </a:xfrm>
          <a:prstGeom prst="ellipse">
            <a:avLst/>
          </a:prstGeom>
          <a:solidFill>
            <a:srgbClr val="2731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g3f8d29873df_0_418"/>
          <p:cNvSpPr/>
          <p:nvPr/>
        </p:nvSpPr>
        <p:spPr>
          <a:xfrm>
            <a:off x="-1097251" y="5029200"/>
            <a:ext cx="3200400" cy="3200400"/>
          </a:xfrm>
          <a:prstGeom prst="ellipse">
            <a:avLst/>
          </a:prstGeom>
          <a:solidFill>
            <a:srgbClr val="2731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g3f8d29873df_0_418"/>
          <p:cNvSpPr txBox="1"/>
          <p:nvPr/>
        </p:nvSpPr>
        <p:spPr>
          <a:xfrm>
            <a:off x="731500" y="1554480"/>
            <a:ext cx="8686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ESTRATEGIAS Y GESTIÓN DE SISTEMAS DE INFORMACIÓN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f8d29873df_0_418"/>
          <p:cNvSpPr txBox="1"/>
          <p:nvPr/>
        </p:nvSpPr>
        <p:spPr>
          <a:xfrm>
            <a:off x="731500" y="2011680"/>
            <a:ext cx="96009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Identificación y priorización de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los dolores de negocio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f8d29873df_0_418"/>
          <p:cNvSpPr txBox="1"/>
          <p:nvPr/>
        </p:nvSpPr>
        <p:spPr>
          <a:xfrm>
            <a:off x="731500" y="3703320"/>
            <a:ext cx="731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Práctica 2 · Caso BBVA Perú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g3f8d29873df_0_418"/>
          <p:cNvCxnSpPr/>
          <p:nvPr/>
        </p:nvCxnSpPr>
        <p:spPr>
          <a:xfrm>
            <a:off x="731501" y="4343400"/>
            <a:ext cx="4755000" cy="0"/>
          </a:xfrm>
          <a:prstGeom prst="straightConnector1">
            <a:avLst/>
          </a:prstGeom>
          <a:noFill/>
          <a:ln cap="flat" cmpd="sng" w="12700">
            <a:solidFill>
              <a:srgbClr val="3D47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g3f8d29873df_0_418"/>
          <p:cNvSpPr txBox="1"/>
          <p:nvPr/>
        </p:nvSpPr>
        <p:spPr>
          <a:xfrm>
            <a:off x="731501" y="457200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Autores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g3f8d29873df_0_418"/>
          <p:cNvSpPr txBox="1"/>
          <p:nvPr/>
        </p:nvSpPr>
        <p:spPr>
          <a:xfrm>
            <a:off x="731500" y="4846320"/>
            <a:ext cx="59433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Salas Cohaila, Gabriel Lucio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Chamorro Cayetano, Jorge Josue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Sanchez Pastor, Rodrigo Alonso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Santillán Huamán, Aarón Ulises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Orihuela Montero, Johnny Fabricio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f8d29873df_0_418"/>
          <p:cNvSpPr txBox="1"/>
          <p:nvPr/>
        </p:nvSpPr>
        <p:spPr>
          <a:xfrm>
            <a:off x="6949255" y="45720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Profesor: Morales Barrera, Luis Alberto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f8d29873df_0_418"/>
          <p:cNvSpPr txBox="1"/>
          <p:nvPr/>
        </p:nvSpPr>
        <p:spPr>
          <a:xfrm>
            <a:off x="6949255" y="4846320"/>
            <a:ext cx="4572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Pontificia Universidad Católica del Perú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Facultad de Ciencias e Ingeniería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Lima, setiembre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8096250" y="-1905000"/>
            <a:ext cx="5715000" cy="5715000"/>
          </a:xfrm>
          <a:prstGeom prst="ellipse">
            <a:avLst/>
          </a:prstGeom>
          <a:solidFill>
            <a:srgbClr val="0A3366">
              <a:alpha val="5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-1428750" y="3810000"/>
            <a:ext cx="4762500" cy="4762500"/>
          </a:xfrm>
          <a:prstGeom prst="ellipse">
            <a:avLst/>
          </a:prstGeom>
          <a:solidFill>
            <a:srgbClr val="051833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2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76875" y="6558991"/>
            <a:ext cx="1071844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714375" y="428625"/>
            <a:ext cx="10763400" cy="8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Identificación y priorización de los dolores de negocio</a:t>
            </a:r>
            <a:endParaRPr b="1" sz="2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14375" y="1285875"/>
            <a:ext cx="10763400" cy="809700"/>
          </a:xfrm>
          <a:prstGeom prst="rect">
            <a:avLst/>
          </a:prstGeom>
          <a:solidFill>
            <a:srgbClr val="0E2A52"/>
          </a:solidFill>
          <a:ln cap="flat" cmpd="sng" w="14300">
            <a:solidFill>
              <a:srgbClr val="1E4D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28600" spcFirstLastPara="1" rIns="22860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rPr>
              <a:t>ENFOQUE METODOLÓGICO</a:t>
            </a:r>
            <a:endParaRPr b="1" sz="1000">
              <a:solidFill>
                <a:srgbClr val="00D2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E0F2FE"/>
                </a:solidFill>
                <a:latin typeface="Source Sans 3"/>
                <a:ea typeface="Source Sans 3"/>
                <a:cs typeface="Source Sans 3"/>
                <a:sym typeface="Source Sans 3"/>
              </a:rPr>
              <a:t>Un problema de negocio es </a:t>
            </a:r>
            <a:r>
              <a:rPr b="1" lang="en-US" sz="12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accionable</a:t>
            </a:r>
            <a:r>
              <a:rPr b="0" lang="en-US" sz="1200">
                <a:solidFill>
                  <a:srgbClr val="E0F2FE"/>
                </a:solidFill>
                <a:latin typeface="Source Sans 3"/>
                <a:ea typeface="Source Sans 3"/>
                <a:cs typeface="Source Sans 3"/>
                <a:sym typeface="Source Sans 3"/>
              </a:rPr>
              <a:t> cuando se observa sobre un proceso extremo a extremo (E2E), se sustenta en evidencia verificable y admite medición antes/después.</a:t>
            </a:r>
            <a:endParaRPr b="0" sz="1200">
              <a:solidFill>
                <a:srgbClr val="E0F2FE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grpSp>
        <p:nvGrpSpPr>
          <p:cNvPr id="50" name="Google Shape;50;p2"/>
          <p:cNvGrpSpPr/>
          <p:nvPr/>
        </p:nvGrpSpPr>
        <p:grpSpPr>
          <a:xfrm>
            <a:off x="714375" y="2333625"/>
            <a:ext cx="3333900" cy="3810000"/>
            <a:chOff x="0" y="0"/>
            <a:chExt cx="3333900" cy="3810000"/>
          </a:xfrm>
        </p:grpSpPr>
        <p:sp>
          <p:nvSpPr>
            <p:cNvPr id="51" name="Google Shape;51;p2"/>
            <p:cNvSpPr/>
            <p:nvPr/>
          </p:nvSpPr>
          <p:spPr>
            <a:xfrm>
              <a:off x="0" y="0"/>
              <a:ext cx="3333900" cy="3810000"/>
            </a:xfrm>
            <a:prstGeom prst="roundRect">
              <a:avLst>
                <a:gd fmla="val 4571" name="adj"/>
              </a:avLst>
            </a:prstGeom>
            <a:solidFill>
              <a:srgbClr val="0C2340"/>
            </a:solidFill>
            <a:ln cap="flat" cmpd="sng" w="14300">
              <a:solidFill>
                <a:srgbClr val="1D4E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28600" y="228600"/>
              <a:ext cx="1047900" cy="2667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 txBox="1"/>
            <p:nvPr/>
          </p:nvSpPr>
          <p:spPr>
            <a:xfrm>
              <a:off x="228600" y="228600"/>
              <a:ext cx="10479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ETAPA 01</a:t>
              </a:r>
              <a:endParaRPr b="1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" name="Google Shape;54;p2"/>
            <p:cNvSpPr txBox="1"/>
            <p:nvPr/>
          </p:nvSpPr>
          <p:spPr>
            <a:xfrm>
              <a:off x="228600" y="647700"/>
              <a:ext cx="28767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Customer Journey Map</a:t>
              </a:r>
              <a:endPara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8BDF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DÓNDE DUELE</a:t>
              </a:r>
              <a:endParaRPr b="1" sz="1200">
                <a:solidFill>
                  <a:srgbClr val="38BDF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94A3B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Localiza </a:t>
              </a:r>
              <a:r>
                <a:rPr b="0" lang="en-US" sz="1200">
                  <a:solidFill>
                    <a:srgbClr val="FFFFFF"/>
                  </a:solidFill>
                  <a:latin typeface="Source Sans 3 SemiBold"/>
                  <a:ea typeface="Source Sans 3 SemiBold"/>
                  <a:cs typeface="Source Sans 3 SemiBold"/>
                  <a:sym typeface="Source Sans 3 SemiBold"/>
                </a:rPr>
                <a:t>DÓNDE duele</a:t>
              </a:r>
              <a:r>
                <a:rPr lang="en-US" sz="1200">
                  <a:solidFill>
                    <a:srgbClr val="94A3B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, organizando la experiencia del cliente en etapas.</a:t>
              </a:r>
              <a:endParaRPr sz="1200">
                <a:solidFill>
                  <a:srgbClr val="94A3B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i="1" lang="en-US" sz="1000">
                  <a:solidFill>
                    <a:srgbClr val="CBD5E1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Lemon &amp; Verhoef, 2016</a:t>
              </a:r>
              <a:endParaRPr i="1" sz="1000">
                <a:solidFill>
                  <a:srgbClr val="CBD5E1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4429125" y="2333625"/>
            <a:ext cx="3333900" cy="3810000"/>
            <a:chOff x="0" y="0"/>
            <a:chExt cx="3333900" cy="3810000"/>
          </a:xfrm>
        </p:grpSpPr>
        <p:sp>
          <p:nvSpPr>
            <p:cNvPr id="56" name="Google Shape;56;p2"/>
            <p:cNvSpPr/>
            <p:nvPr/>
          </p:nvSpPr>
          <p:spPr>
            <a:xfrm>
              <a:off x="0" y="0"/>
              <a:ext cx="3333900" cy="3810000"/>
            </a:xfrm>
            <a:prstGeom prst="roundRect">
              <a:avLst>
                <a:gd fmla="val 4571" name="adj"/>
              </a:avLst>
            </a:prstGeom>
            <a:solidFill>
              <a:srgbClr val="0C2340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228600" y="228600"/>
              <a:ext cx="1047900" cy="2667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 txBox="1"/>
            <p:nvPr/>
          </p:nvSpPr>
          <p:spPr>
            <a:xfrm>
              <a:off x="228600" y="228600"/>
              <a:ext cx="10479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ETAPA 02</a:t>
              </a:r>
              <a:endParaRPr b="1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" name="Google Shape;59;p2"/>
            <p:cNvSpPr txBox="1"/>
            <p:nvPr/>
          </p:nvSpPr>
          <p:spPr>
            <a:xfrm>
              <a:off x="228600" y="647700"/>
              <a:ext cx="28767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Service Blueprint</a:t>
              </a:r>
              <a:endPara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8BDF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POR QUÉ DUELE</a:t>
              </a:r>
              <a:endParaRPr b="1" sz="1200">
                <a:solidFill>
                  <a:srgbClr val="38BDF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94A3B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Explica </a:t>
              </a:r>
              <a:r>
                <a:rPr b="0" lang="en-US" sz="1200">
                  <a:solidFill>
                    <a:srgbClr val="FFFFFF"/>
                  </a:solidFill>
                  <a:latin typeface="Source Sans 3 SemiBold"/>
                  <a:ea typeface="Source Sans 3 SemiBold"/>
                  <a:cs typeface="Source Sans 3 SemiBold"/>
                  <a:sym typeface="Source Sans 3 SemiBold"/>
                </a:rPr>
                <a:t>POR QUÉ duele</a:t>
              </a:r>
              <a:r>
                <a:rPr lang="en-US" sz="1200">
                  <a:solidFill>
                    <a:srgbClr val="94A3B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, separando lo visible para el cliente de las actividades de soporte interno.</a:t>
              </a:r>
              <a:endParaRPr sz="1200">
                <a:solidFill>
                  <a:srgbClr val="94A3B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i="1" lang="en-US" sz="1000">
                  <a:solidFill>
                    <a:srgbClr val="CBD5E1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Bitner et al., 2008</a:t>
              </a:r>
              <a:endParaRPr i="1" sz="1000">
                <a:solidFill>
                  <a:srgbClr val="CBD5E1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  <p:grpSp>
        <p:nvGrpSpPr>
          <p:cNvPr id="60" name="Google Shape;60;p2"/>
          <p:cNvGrpSpPr/>
          <p:nvPr/>
        </p:nvGrpSpPr>
        <p:grpSpPr>
          <a:xfrm>
            <a:off x="8143875" y="2333625"/>
            <a:ext cx="3333900" cy="3810000"/>
            <a:chOff x="0" y="0"/>
            <a:chExt cx="3333900" cy="3810000"/>
          </a:xfrm>
        </p:grpSpPr>
        <p:sp>
          <p:nvSpPr>
            <p:cNvPr id="61" name="Google Shape;61;p2"/>
            <p:cNvSpPr/>
            <p:nvPr/>
          </p:nvSpPr>
          <p:spPr>
            <a:xfrm>
              <a:off x="0" y="0"/>
              <a:ext cx="3333900" cy="3810000"/>
            </a:xfrm>
            <a:prstGeom prst="roundRect">
              <a:avLst>
                <a:gd fmla="val 4571" name="adj"/>
              </a:avLst>
            </a:prstGeom>
            <a:solidFill>
              <a:srgbClr val="0C2340"/>
            </a:solidFill>
            <a:ln cap="flat" cmpd="sng" w="14300">
              <a:solidFill>
                <a:srgbClr val="0D9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28600" y="228600"/>
              <a:ext cx="1047900" cy="2667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 txBox="1"/>
            <p:nvPr/>
          </p:nvSpPr>
          <p:spPr>
            <a:xfrm>
              <a:off x="228600" y="228600"/>
              <a:ext cx="10479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ETAPA 03</a:t>
              </a:r>
              <a:endParaRPr b="1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4" name="Google Shape;64;p2"/>
            <p:cNvSpPr txBox="1"/>
            <p:nvPr/>
          </p:nvSpPr>
          <p:spPr>
            <a:xfrm>
              <a:off x="228600" y="647700"/>
              <a:ext cx="28767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Evaluación Ponderada</a:t>
              </a:r>
              <a:endPara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D4B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6 CRITERIOS (ESCALA 1–5)</a:t>
              </a:r>
              <a:endParaRPr b="1" sz="1200">
                <a:solidFill>
                  <a:srgbClr val="2DD4BF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Source Sans 3"/>
                <a:buChar char="●"/>
              </a:pPr>
              <a:r>
                <a:rPr lang="en-US" sz="11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Impacto estratégico</a:t>
              </a:r>
              <a:endParaRPr sz="1100">
                <a:solidFill>
                  <a:srgbClr val="94A3B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Source Sans 3"/>
                <a:buChar char="●"/>
              </a:pPr>
              <a:r>
                <a:rPr lang="en-US" sz="11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Impacto económico</a:t>
              </a:r>
              <a:endParaRPr sz="1100">
                <a:solidFill>
                  <a:srgbClr val="94A3B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Source Sans 3"/>
                <a:buChar char="●"/>
              </a:pPr>
              <a:r>
                <a:rPr lang="en-US" sz="11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Impacto en experiencia</a:t>
              </a:r>
              <a:endParaRPr sz="1100">
                <a:solidFill>
                  <a:srgbClr val="94A3B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Source Sans 3"/>
                <a:buChar char="●"/>
              </a:pPr>
              <a:r>
                <a:rPr lang="en-US" sz="11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Viabilidad tecnológica</a:t>
              </a:r>
              <a:endParaRPr sz="1100">
                <a:solidFill>
                  <a:srgbClr val="94A3B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Source Sans 3"/>
                <a:buChar char="●"/>
              </a:pPr>
              <a:r>
                <a:rPr lang="en-US" sz="11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Urgencia</a:t>
              </a:r>
              <a:endParaRPr sz="1100">
                <a:solidFill>
                  <a:srgbClr val="94A3B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Source Sans 3"/>
                <a:buChar char="●"/>
              </a:pPr>
              <a:r>
                <a:rPr lang="en-US" sz="11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Capacidad de medición</a:t>
              </a:r>
              <a:endParaRPr sz="1100">
                <a:solidFill>
                  <a:srgbClr val="94A3B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/>
          <p:nvPr/>
        </p:nvSpPr>
        <p:spPr>
          <a:xfrm>
            <a:off x="719814" y="813594"/>
            <a:ext cx="10752067" cy="1022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Montserrat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Delimitación de los procesos extremo a extremo analizados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19814" y="2196009"/>
            <a:ext cx="11361652" cy="269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Se identificaron tres procesos E2E como unidades de análisis, vinculados a los objetivos estratégicos (OE) declarados en el Entregable 1.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2" name="Google Shape;72;p3"/>
          <p:cNvGraphicFramePr/>
          <p:nvPr/>
        </p:nvGraphicFramePr>
        <p:xfrm>
          <a:off x="719814" y="26683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{83EBD527-03DD-4C24-BC11-2293BA3C391B}</a:tableStyleId>
              </a:tblPr>
              <a:tblGrid>
                <a:gridCol w="1075200"/>
                <a:gridCol w="2365450"/>
                <a:gridCol w="4300825"/>
                <a:gridCol w="3010575"/>
              </a:tblGrid>
              <a:tr h="50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Source Sans 3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Código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79975" marL="179975" anchor="ctr">
                    <a:lnL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Source Sans 3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Proceso E2E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79975" marL="179975" anchor="ctr">
                    <a:lnL cap="flat" cmpd="sng" w="12700">
                      <a:solidFill>
                        <a:srgbClr val="00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Source Sans 3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Alcance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79975" marL="179975" anchor="ctr">
                    <a:lnL cap="flat" cmpd="sng" w="12700">
                      <a:solidFill>
                        <a:srgbClr val="00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Source Sans 3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Obj. Estratégicos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79975" marL="179975" anchor="ctr">
                    <a:lnL cap="flat" cmpd="sng" w="12700">
                      <a:solidFill>
                        <a:srgbClr val="00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77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400"/>
                        <a:buFont typeface="Source Sans 3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E2E-1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79975" marL="179975" anchor="ctr">
                    <a:lnL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Originación de crédito Pyme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79975" marL="179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Desde la necesidad de liquidez del empresario hasta el desembolso y la primera cuota.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79975" marL="179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OE3, OE4, OE5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79975" marL="179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400"/>
                        <a:buFont typeface="Source Sans 3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E2E-2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79975" marL="179975" anchor="ctr">
                    <a:lnL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Operaciones no reconocidas y fraude digital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79975" marL="179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Desde la transacción no autorizada hasta la resolución del reclamo y la eventual devolución.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79975" marL="179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OE1, OE5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79975" marL="179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400"/>
                        <a:buFont typeface="Source Sans 3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E2E-3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79975" marL="179975" anchor="ctr">
                    <a:lnL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Contratación de productos por canal digital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79975" marL="179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Desde el interés del cliente hasta la contratación efectiva y el primer uso del producto.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79975" marL="179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OE1, OE4, OE5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79975" marL="1799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571500" y="381000"/>
            <a:ext cx="1104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Customer Journey Map E2E-1: Originación de crédito Pyme</a:t>
            </a:r>
            <a:endParaRPr b="1" sz="20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9" name="Google Shape;79;p4"/>
          <p:cNvGrpSpPr/>
          <p:nvPr/>
        </p:nvGrpSpPr>
        <p:grpSpPr>
          <a:xfrm>
            <a:off x="571500" y="904875"/>
            <a:ext cx="3905400" cy="5524500"/>
            <a:chOff x="0" y="0"/>
            <a:chExt cx="3905400" cy="5524500"/>
          </a:xfrm>
        </p:grpSpPr>
        <p:sp>
          <p:nvSpPr>
            <p:cNvPr id="80" name="Google Shape;80;p4"/>
            <p:cNvSpPr/>
            <p:nvPr/>
          </p:nvSpPr>
          <p:spPr>
            <a:xfrm>
              <a:off x="0" y="0"/>
              <a:ext cx="3905400" cy="5524500"/>
            </a:xfrm>
            <a:prstGeom prst="roundRect">
              <a:avLst>
                <a:gd fmla="val 2926" name="adj"/>
              </a:avLst>
            </a:prstGeom>
            <a:solidFill>
              <a:srgbClr val="0F2C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4"/>
            <p:cNvSpPr txBox="1"/>
            <p:nvPr/>
          </p:nvSpPr>
          <p:spPr>
            <a:xfrm>
              <a:off x="228600" y="190500"/>
              <a:ext cx="3448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93C5F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CIFRAS CLAVE DEL CONTEXTO</a:t>
              </a:r>
              <a:endParaRPr b="1" sz="1000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82" name="Google Shape;82;p4"/>
            <p:cNvGrpSpPr/>
            <p:nvPr/>
          </p:nvGrpSpPr>
          <p:grpSpPr>
            <a:xfrm>
              <a:off x="228600" y="495300"/>
              <a:ext cx="3448200" cy="1485900"/>
              <a:chOff x="0" y="0"/>
              <a:chExt cx="3448200" cy="1485900"/>
            </a:xfrm>
          </p:grpSpPr>
          <p:sp>
            <p:nvSpPr>
              <p:cNvPr id="83" name="Google Shape;83;p4"/>
              <p:cNvSpPr/>
              <p:nvPr/>
            </p:nvSpPr>
            <p:spPr>
              <a:xfrm>
                <a:off x="0" y="0"/>
                <a:ext cx="3448200" cy="1485900"/>
              </a:xfrm>
              <a:prstGeom prst="roundRect">
                <a:avLst>
                  <a:gd fmla="val 5128" name="adj"/>
                </a:avLst>
              </a:prstGeom>
              <a:solidFill>
                <a:srgbClr val="1E3A8A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4"/>
              <p:cNvSpPr txBox="1"/>
              <p:nvPr/>
            </p:nvSpPr>
            <p:spPr>
              <a:xfrm>
                <a:off x="190500" y="152400"/>
                <a:ext cx="3067200" cy="11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32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+48%</a:t>
                </a:r>
                <a:endParaRPr b="1" sz="3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93C5FD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Facturación trimestral</a:t>
                </a:r>
                <a:endParaRPr b="1" sz="1100">
                  <a:solidFill>
                    <a:srgbClr val="93C5FD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CBD5E1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vs. 2T2025 (Reusche, 2026)</a:t>
                </a:r>
                <a:endParaRPr b="0" sz="950">
                  <a:solidFill>
                    <a:srgbClr val="CBD5E1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85" name="Google Shape;85;p4"/>
            <p:cNvGrpSpPr/>
            <p:nvPr/>
          </p:nvGrpSpPr>
          <p:grpSpPr>
            <a:xfrm>
              <a:off x="228600" y="2133600"/>
              <a:ext cx="3448200" cy="1485900"/>
              <a:chOff x="0" y="0"/>
              <a:chExt cx="3448200" cy="1485900"/>
            </a:xfrm>
          </p:grpSpPr>
          <p:sp>
            <p:nvSpPr>
              <p:cNvPr id="86" name="Google Shape;86;p4"/>
              <p:cNvSpPr/>
              <p:nvPr/>
            </p:nvSpPr>
            <p:spPr>
              <a:xfrm>
                <a:off x="0" y="0"/>
                <a:ext cx="3448200" cy="1485900"/>
              </a:xfrm>
              <a:prstGeom prst="roundRect">
                <a:avLst>
                  <a:gd fmla="val 5128" name="adj"/>
                </a:avLst>
              </a:prstGeom>
              <a:solidFill>
                <a:srgbClr val="1E3A8A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4"/>
              <p:cNvSpPr txBox="1"/>
              <p:nvPr/>
            </p:nvSpPr>
            <p:spPr>
              <a:xfrm>
                <a:off x="190500" y="152400"/>
                <a:ext cx="3067200" cy="11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32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33.6</a:t>
                </a:r>
                <a:endParaRPr b="1" sz="3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93C5FD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NPS Pyme</a:t>
                </a:r>
                <a:endParaRPr b="1" sz="1100">
                  <a:solidFill>
                    <a:srgbClr val="93C5FD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CBD5E1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vs. 52.57 en retail (BBVA Perú, 2026b)</a:t>
                </a:r>
                <a:endParaRPr b="0" sz="950">
                  <a:solidFill>
                    <a:srgbClr val="CBD5E1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88" name="Google Shape;88;p4"/>
            <p:cNvGrpSpPr/>
            <p:nvPr/>
          </p:nvGrpSpPr>
          <p:grpSpPr>
            <a:xfrm>
              <a:off x="228600" y="3771900"/>
              <a:ext cx="3448200" cy="1485900"/>
              <a:chOff x="0" y="0"/>
              <a:chExt cx="3448200" cy="1485900"/>
            </a:xfrm>
          </p:grpSpPr>
          <p:sp>
            <p:nvSpPr>
              <p:cNvPr id="89" name="Google Shape;89;p4"/>
              <p:cNvSpPr/>
              <p:nvPr/>
            </p:nvSpPr>
            <p:spPr>
              <a:xfrm>
                <a:off x="0" y="0"/>
                <a:ext cx="3448200" cy="1485900"/>
              </a:xfrm>
              <a:prstGeom prst="roundRect">
                <a:avLst>
                  <a:gd fmla="val 5128" name="adj"/>
                </a:avLst>
              </a:prstGeom>
              <a:solidFill>
                <a:srgbClr val="1E3A8A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4"/>
              <p:cNvSpPr txBox="1"/>
              <p:nvPr/>
            </p:nvSpPr>
            <p:spPr>
              <a:xfrm>
                <a:off x="190500" y="152400"/>
                <a:ext cx="3067200" cy="11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32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1/3</a:t>
                </a:r>
                <a:endParaRPr b="1" sz="3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93C5FD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Colocaciones digitales</a:t>
                </a:r>
                <a:endParaRPr b="1" sz="1100">
                  <a:solidFill>
                    <a:srgbClr val="93C5FD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CBD5E1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pese a ciclo de 3 minutos (Reusche, 2026)</a:t>
                </a:r>
                <a:endParaRPr b="0" sz="950">
                  <a:solidFill>
                    <a:srgbClr val="CBD5E1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</p:grpSp>
      <p:grpSp>
        <p:nvGrpSpPr>
          <p:cNvPr id="91" name="Google Shape;91;p4"/>
          <p:cNvGrpSpPr/>
          <p:nvPr/>
        </p:nvGrpSpPr>
        <p:grpSpPr>
          <a:xfrm>
            <a:off x="4762500" y="904875"/>
            <a:ext cx="6858000" cy="5448450"/>
            <a:chOff x="0" y="0"/>
            <a:chExt cx="6858000" cy="5448450"/>
          </a:xfrm>
        </p:grpSpPr>
        <p:sp>
          <p:nvSpPr>
            <p:cNvPr id="92" name="Google Shape;92;p4"/>
            <p:cNvSpPr txBox="1"/>
            <p:nvPr/>
          </p:nvSpPr>
          <p:spPr>
            <a:xfrm>
              <a:off x="0" y="0"/>
              <a:ext cx="68580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Etapas del journey y dolores observados</a:t>
              </a:r>
              <a:endParaRPr b="1" sz="12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93" name="Google Shape;93;p4"/>
            <p:cNvGrpSpPr/>
            <p:nvPr/>
          </p:nvGrpSpPr>
          <p:grpSpPr>
            <a:xfrm>
              <a:off x="0" y="333375"/>
              <a:ext cx="6858000" cy="781200"/>
              <a:chOff x="0" y="0"/>
              <a:chExt cx="6858000" cy="781200"/>
            </a:xfrm>
          </p:grpSpPr>
          <p:sp>
            <p:nvSpPr>
              <p:cNvPr id="94" name="Google Shape;94;p4"/>
              <p:cNvSpPr/>
              <p:nvPr/>
            </p:nvSpPr>
            <p:spPr>
              <a:xfrm>
                <a:off x="0" y="0"/>
                <a:ext cx="6858000" cy="781200"/>
              </a:xfrm>
              <a:prstGeom prst="roundRect">
                <a:avLst>
                  <a:gd fmla="val 1219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0" y="0"/>
                <a:ext cx="57300" cy="781200"/>
              </a:xfrm>
              <a:prstGeom prst="roundRect">
                <a:avLst>
                  <a:gd fmla="val 5000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200025" y="247650"/>
                <a:ext cx="285900" cy="285900"/>
              </a:xfrm>
              <a:prstGeom prst="ellipse">
                <a:avLst/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4"/>
              <p:cNvSpPr txBox="1"/>
              <p:nvPr/>
            </p:nvSpPr>
            <p:spPr>
              <a:xfrm>
                <a:off x="200025" y="2476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</a:t>
                </a:r>
                <a:endParaRPr b="1" sz="1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98" name="Google Shape;98;p4"/>
              <p:cNvSpPr txBox="1"/>
              <p:nvPr/>
            </p:nvSpPr>
            <p:spPr>
              <a:xfrm>
                <a:off x="609600" y="95250"/>
                <a:ext cx="60579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Necesidad y búsqueda</a:t>
                </a:r>
                <a:endParaRPr b="1" sz="105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Empresario desconoce para qué producto califica antes de iniciar el proceso.</a:t>
                </a:r>
                <a:endParaRPr b="0" sz="950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99" name="Google Shape;99;p4"/>
            <p:cNvGrpSpPr/>
            <p:nvPr/>
          </p:nvGrpSpPr>
          <p:grpSpPr>
            <a:xfrm>
              <a:off x="0" y="1200150"/>
              <a:ext cx="6858000" cy="781200"/>
              <a:chOff x="0" y="0"/>
              <a:chExt cx="6858000" cy="781200"/>
            </a:xfrm>
          </p:grpSpPr>
          <p:sp>
            <p:nvSpPr>
              <p:cNvPr id="100" name="Google Shape;100;p4"/>
              <p:cNvSpPr/>
              <p:nvPr/>
            </p:nvSpPr>
            <p:spPr>
              <a:xfrm>
                <a:off x="0" y="0"/>
                <a:ext cx="6858000" cy="781200"/>
              </a:xfrm>
              <a:prstGeom prst="roundRect">
                <a:avLst>
                  <a:gd fmla="val 1219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0" y="0"/>
                <a:ext cx="57300" cy="781200"/>
              </a:xfrm>
              <a:prstGeom prst="roundRect">
                <a:avLst>
                  <a:gd fmla="val 5000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200025" y="247650"/>
                <a:ext cx="285900" cy="285900"/>
              </a:xfrm>
              <a:prstGeom prst="ellipse">
                <a:avLst/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4"/>
              <p:cNvSpPr txBox="1"/>
              <p:nvPr/>
            </p:nvSpPr>
            <p:spPr>
              <a:xfrm>
                <a:off x="200025" y="2476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</a:t>
                </a:r>
                <a:endParaRPr b="1" sz="1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04" name="Google Shape;104;p4"/>
              <p:cNvSpPr txBox="1"/>
              <p:nvPr/>
            </p:nvSpPr>
            <p:spPr>
              <a:xfrm>
                <a:off x="609600" y="95250"/>
                <a:ext cx="60579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Solicitud</a:t>
                </a:r>
                <a:endParaRPr b="1" sz="105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Ruta asistida exige documentación financiera que la microempresa no produce de forma estructurada (Melo, 2026).</a:t>
                </a:r>
                <a:endParaRPr b="0" sz="950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105" name="Google Shape;105;p4"/>
            <p:cNvGrpSpPr/>
            <p:nvPr/>
          </p:nvGrpSpPr>
          <p:grpSpPr>
            <a:xfrm>
              <a:off x="0" y="2066925"/>
              <a:ext cx="6858000" cy="781200"/>
              <a:chOff x="0" y="0"/>
              <a:chExt cx="6858000" cy="781200"/>
            </a:xfrm>
          </p:grpSpPr>
          <p:sp>
            <p:nvSpPr>
              <p:cNvPr id="106" name="Google Shape;106;p4"/>
              <p:cNvSpPr/>
              <p:nvPr/>
            </p:nvSpPr>
            <p:spPr>
              <a:xfrm>
                <a:off x="0" y="0"/>
                <a:ext cx="6858000" cy="781200"/>
              </a:xfrm>
              <a:prstGeom prst="roundRect">
                <a:avLst>
                  <a:gd fmla="val 1219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0" y="0"/>
                <a:ext cx="57300" cy="781200"/>
              </a:xfrm>
              <a:prstGeom prst="roundRect">
                <a:avLst>
                  <a:gd fmla="val 5000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200025" y="247650"/>
                <a:ext cx="285900" cy="285900"/>
              </a:xfrm>
              <a:prstGeom prst="ellipse">
                <a:avLst/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4"/>
              <p:cNvSpPr txBox="1"/>
              <p:nvPr/>
            </p:nvSpPr>
            <p:spPr>
              <a:xfrm>
                <a:off x="200025" y="2476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3</a:t>
                </a:r>
                <a:endParaRPr b="1" sz="1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0" name="Google Shape;110;p4"/>
              <p:cNvSpPr txBox="1"/>
              <p:nvPr/>
            </p:nvSpPr>
            <p:spPr>
              <a:xfrm>
                <a:off x="609600" y="95250"/>
                <a:ext cx="60579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Evaluación crediticia</a:t>
                </a:r>
                <a:endParaRPr b="1" sz="105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Información no verificable eleva costos trasladados al cliente vía tasa o restricción (Melo, 2026).</a:t>
                </a:r>
                <a:endParaRPr b="0" sz="950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111" name="Google Shape;111;p4"/>
            <p:cNvGrpSpPr/>
            <p:nvPr/>
          </p:nvGrpSpPr>
          <p:grpSpPr>
            <a:xfrm>
              <a:off x="0" y="2933700"/>
              <a:ext cx="6858000" cy="781200"/>
              <a:chOff x="0" y="0"/>
              <a:chExt cx="6858000" cy="781200"/>
            </a:xfrm>
          </p:grpSpPr>
          <p:sp>
            <p:nvSpPr>
              <p:cNvPr id="112" name="Google Shape;112;p4"/>
              <p:cNvSpPr/>
              <p:nvPr/>
            </p:nvSpPr>
            <p:spPr>
              <a:xfrm>
                <a:off x="0" y="0"/>
                <a:ext cx="6858000" cy="781200"/>
              </a:xfrm>
              <a:prstGeom prst="roundRect">
                <a:avLst>
                  <a:gd fmla="val 1219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4"/>
              <p:cNvSpPr/>
              <p:nvPr/>
            </p:nvSpPr>
            <p:spPr>
              <a:xfrm>
                <a:off x="0" y="0"/>
                <a:ext cx="57300" cy="781200"/>
              </a:xfrm>
              <a:prstGeom prst="roundRect">
                <a:avLst>
                  <a:gd fmla="val 5000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4"/>
              <p:cNvSpPr/>
              <p:nvPr/>
            </p:nvSpPr>
            <p:spPr>
              <a:xfrm>
                <a:off x="200025" y="247650"/>
                <a:ext cx="285900" cy="285900"/>
              </a:xfrm>
              <a:prstGeom prst="ellipse">
                <a:avLst/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4"/>
              <p:cNvSpPr txBox="1"/>
              <p:nvPr/>
            </p:nvSpPr>
            <p:spPr>
              <a:xfrm>
                <a:off x="200025" y="2476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4</a:t>
                </a:r>
                <a:endParaRPr b="1" sz="1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6" name="Google Shape;116;p4"/>
              <p:cNvSpPr txBox="1"/>
              <p:nvPr/>
            </p:nvSpPr>
            <p:spPr>
              <a:xfrm>
                <a:off x="609600" y="95250"/>
                <a:ext cx="60579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Aprobación y formalización</a:t>
                </a:r>
                <a:endParaRPr b="1" sz="105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Brecha de experiencia: 3 minutos en canal digital vs. solo 1/3 de créditos por esa vía (Reusche, 2026).</a:t>
                </a:r>
                <a:endParaRPr b="0" sz="950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117" name="Google Shape;117;p4"/>
            <p:cNvGrpSpPr/>
            <p:nvPr/>
          </p:nvGrpSpPr>
          <p:grpSpPr>
            <a:xfrm>
              <a:off x="0" y="3800475"/>
              <a:ext cx="6858000" cy="781200"/>
              <a:chOff x="0" y="0"/>
              <a:chExt cx="6858000" cy="781200"/>
            </a:xfrm>
          </p:grpSpPr>
          <p:sp>
            <p:nvSpPr>
              <p:cNvPr id="118" name="Google Shape;118;p4"/>
              <p:cNvSpPr/>
              <p:nvPr/>
            </p:nvSpPr>
            <p:spPr>
              <a:xfrm>
                <a:off x="0" y="0"/>
                <a:ext cx="6858000" cy="781200"/>
              </a:xfrm>
              <a:prstGeom prst="roundRect">
                <a:avLst>
                  <a:gd fmla="val 1219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4"/>
              <p:cNvSpPr/>
              <p:nvPr/>
            </p:nvSpPr>
            <p:spPr>
              <a:xfrm>
                <a:off x="0" y="0"/>
                <a:ext cx="57300" cy="781200"/>
              </a:xfrm>
              <a:prstGeom prst="roundRect">
                <a:avLst>
                  <a:gd fmla="val 5000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200025" y="247650"/>
                <a:ext cx="285900" cy="285900"/>
              </a:xfrm>
              <a:prstGeom prst="ellipse">
                <a:avLst/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4"/>
              <p:cNvSpPr txBox="1"/>
              <p:nvPr/>
            </p:nvSpPr>
            <p:spPr>
              <a:xfrm>
                <a:off x="200025" y="2476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5</a:t>
                </a:r>
                <a:endParaRPr b="1" sz="1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2" name="Google Shape;122;p4"/>
              <p:cNvSpPr txBox="1"/>
              <p:nvPr/>
            </p:nvSpPr>
            <p:spPr>
              <a:xfrm>
                <a:off x="609600" y="95250"/>
                <a:ext cx="60579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Desembolso y primer uso</a:t>
                </a:r>
                <a:endParaRPr b="1" sz="105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Desembolso inmediato solo con oferta o línea previamente aprobada (BBVA Perú, s.f.-b, s.f.-c).</a:t>
                </a:r>
                <a:endParaRPr b="0" sz="950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123" name="Google Shape;123;p4"/>
            <p:cNvGrpSpPr/>
            <p:nvPr/>
          </p:nvGrpSpPr>
          <p:grpSpPr>
            <a:xfrm>
              <a:off x="0" y="4667250"/>
              <a:ext cx="6858000" cy="781200"/>
              <a:chOff x="0" y="0"/>
              <a:chExt cx="6858000" cy="781200"/>
            </a:xfrm>
          </p:grpSpPr>
          <p:sp>
            <p:nvSpPr>
              <p:cNvPr id="124" name="Google Shape;124;p4"/>
              <p:cNvSpPr/>
              <p:nvPr/>
            </p:nvSpPr>
            <p:spPr>
              <a:xfrm>
                <a:off x="0" y="0"/>
                <a:ext cx="6858000" cy="781200"/>
              </a:xfrm>
              <a:prstGeom prst="roundRect">
                <a:avLst>
                  <a:gd fmla="val 1219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0" y="0"/>
                <a:ext cx="57300" cy="781200"/>
              </a:xfrm>
              <a:prstGeom prst="roundRect">
                <a:avLst>
                  <a:gd fmla="val 5000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200025" y="247650"/>
                <a:ext cx="285900" cy="285900"/>
              </a:xfrm>
              <a:prstGeom prst="ellipse">
                <a:avLst/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4"/>
              <p:cNvSpPr txBox="1"/>
              <p:nvPr/>
            </p:nvSpPr>
            <p:spPr>
              <a:xfrm>
                <a:off x="200025" y="2476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6</a:t>
                </a:r>
                <a:endParaRPr b="1" sz="1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8" name="Google Shape;128;p4"/>
              <p:cNvSpPr txBox="1"/>
              <p:nvPr/>
            </p:nvSpPr>
            <p:spPr>
              <a:xfrm>
                <a:off x="609600" y="95250"/>
                <a:ext cx="60579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Uso y seguimiento</a:t>
                </a:r>
                <a:endParaRPr b="1" sz="105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0F2C59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26%</a:t>
                </a:r>
                <a:r>
                  <a:rPr b="0" lang="en-US" sz="950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 de cartera Pyme aún no opera por canales digitales (BBVA, 2026b).</a:t>
                </a:r>
                <a:endParaRPr b="0" sz="950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8d29873df_0_435"/>
          <p:cNvSpPr txBox="1"/>
          <p:nvPr/>
        </p:nvSpPr>
        <p:spPr>
          <a:xfrm>
            <a:off x="457188" y="134549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791E"/>
              </a:buClr>
              <a:buSzPts val="1000"/>
              <a:buFont typeface="Calibri"/>
              <a:buNone/>
            </a:pPr>
            <a:r>
              <a:rPr b="1" i="1" lang="en-US" sz="1000">
                <a:solidFill>
                  <a:srgbClr val="B4791E"/>
                </a:solidFill>
                <a:latin typeface="Calibri"/>
                <a:ea typeface="Calibri"/>
                <a:cs typeface="Calibri"/>
                <a:sym typeface="Calibri"/>
              </a:rPr>
              <a:t>Línea de interacción (visible al cliente)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f8d29873df_0_435"/>
          <p:cNvSpPr/>
          <p:nvPr/>
        </p:nvSpPr>
        <p:spPr>
          <a:xfrm>
            <a:off x="457188" y="1619810"/>
            <a:ext cx="2724900" cy="457200"/>
          </a:xfrm>
          <a:prstGeom prst="roundRect">
            <a:avLst>
              <a:gd fmla="val 1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f8d29873df_0_435"/>
          <p:cNvSpPr txBox="1"/>
          <p:nvPr/>
        </p:nvSpPr>
        <p:spPr>
          <a:xfrm>
            <a:off x="457188" y="1619810"/>
            <a:ext cx="272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f8d29873df_0_435"/>
          <p:cNvSpPr/>
          <p:nvPr/>
        </p:nvSpPr>
        <p:spPr>
          <a:xfrm>
            <a:off x="457188" y="2168450"/>
            <a:ext cx="2724900" cy="1005900"/>
          </a:xfrm>
          <a:prstGeom prst="roundRect">
            <a:avLst>
              <a:gd fmla="val 4545" name="adj"/>
            </a:avLst>
          </a:prstGeom>
          <a:solidFill>
            <a:srgbClr val="FDF1DF"/>
          </a:solidFill>
          <a:ln cap="flat" cmpd="sng" w="127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8d29873df_0_435"/>
          <p:cNvSpPr txBox="1"/>
          <p:nvPr/>
        </p:nvSpPr>
        <p:spPr>
          <a:xfrm>
            <a:off x="566913" y="2168450"/>
            <a:ext cx="2505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Alerta automática de transacción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f8d29873df_0_435"/>
          <p:cNvSpPr/>
          <p:nvPr/>
        </p:nvSpPr>
        <p:spPr>
          <a:xfrm>
            <a:off x="457188" y="3494330"/>
            <a:ext cx="2724900" cy="1005900"/>
          </a:xfrm>
          <a:prstGeom prst="roundRect">
            <a:avLst>
              <a:gd fmla="val 4545" name="adj"/>
            </a:avLst>
          </a:prstGeom>
          <a:solidFill>
            <a:srgbClr val="F4F6FB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f8d29873df_0_435"/>
          <p:cNvSpPr txBox="1"/>
          <p:nvPr/>
        </p:nvSpPr>
        <p:spPr>
          <a:xfrm>
            <a:off x="566913" y="3494330"/>
            <a:ext cx="2505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Motor de monitoreo y reglas antifraude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f8d29873df_0_435"/>
          <p:cNvSpPr/>
          <p:nvPr/>
        </p:nvSpPr>
        <p:spPr>
          <a:xfrm>
            <a:off x="3236890" y="1619810"/>
            <a:ext cx="2724900" cy="457200"/>
          </a:xfrm>
          <a:prstGeom prst="roundRect">
            <a:avLst>
              <a:gd fmla="val 1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8d29873df_0_435"/>
          <p:cNvSpPr txBox="1"/>
          <p:nvPr/>
        </p:nvSpPr>
        <p:spPr>
          <a:xfrm>
            <a:off x="3236890" y="1619810"/>
            <a:ext cx="272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f8d29873df_0_435"/>
          <p:cNvSpPr/>
          <p:nvPr/>
        </p:nvSpPr>
        <p:spPr>
          <a:xfrm>
            <a:off x="3236890" y="2168450"/>
            <a:ext cx="2724900" cy="1005900"/>
          </a:xfrm>
          <a:prstGeom prst="roundRect">
            <a:avLst>
              <a:gd fmla="val 4545" name="adj"/>
            </a:avLst>
          </a:prstGeom>
          <a:solidFill>
            <a:srgbClr val="FDF1DF"/>
          </a:solidFill>
          <a:ln cap="flat" cmpd="sng" w="127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f8d29873df_0_435"/>
          <p:cNvSpPr txBox="1"/>
          <p:nvPr/>
        </p:nvSpPr>
        <p:spPr>
          <a:xfrm>
            <a:off x="3346615" y="2168450"/>
            <a:ext cx="2505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Blue Buddy / asesor / canal digital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f8d29873df_0_435"/>
          <p:cNvSpPr/>
          <p:nvPr/>
        </p:nvSpPr>
        <p:spPr>
          <a:xfrm>
            <a:off x="3236890" y="3494330"/>
            <a:ext cx="2724900" cy="1005900"/>
          </a:xfrm>
          <a:prstGeom prst="roundRect">
            <a:avLst>
              <a:gd fmla="val 4545" name="adj"/>
            </a:avLst>
          </a:prstGeom>
          <a:solidFill>
            <a:srgbClr val="F4F6FB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f8d29873df_0_435"/>
          <p:cNvSpPr txBox="1"/>
          <p:nvPr/>
        </p:nvSpPr>
        <p:spPr>
          <a:xfrm>
            <a:off x="3346615" y="3494330"/>
            <a:ext cx="2505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Registro y tipificación del reclamo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f8d29873df_0_435"/>
          <p:cNvSpPr/>
          <p:nvPr/>
        </p:nvSpPr>
        <p:spPr>
          <a:xfrm>
            <a:off x="6016592" y="1619810"/>
            <a:ext cx="2724900" cy="457200"/>
          </a:xfrm>
          <a:prstGeom prst="roundRect">
            <a:avLst>
              <a:gd fmla="val 1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f8d29873df_0_435"/>
          <p:cNvSpPr txBox="1"/>
          <p:nvPr/>
        </p:nvSpPr>
        <p:spPr>
          <a:xfrm>
            <a:off x="6016592" y="1619810"/>
            <a:ext cx="272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Investigación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f8d29873df_0_435"/>
          <p:cNvSpPr/>
          <p:nvPr/>
        </p:nvSpPr>
        <p:spPr>
          <a:xfrm>
            <a:off x="6016592" y="2168450"/>
            <a:ext cx="2724900" cy="1005900"/>
          </a:xfrm>
          <a:prstGeom prst="roundRect">
            <a:avLst>
              <a:gd fmla="val 4545" name="adj"/>
            </a:avLst>
          </a:prstGeom>
          <a:solidFill>
            <a:srgbClr val="FDF1DF"/>
          </a:solidFill>
          <a:ln cap="flat" cmpd="sng" w="127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f8d29873df_0_435"/>
          <p:cNvSpPr txBox="1"/>
          <p:nvPr/>
        </p:nvSpPr>
        <p:spPr>
          <a:xfrm>
            <a:off x="6126317" y="2168450"/>
            <a:ext cx="2505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Respuesta de estado ante consulta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f8d29873df_0_435"/>
          <p:cNvSpPr/>
          <p:nvPr/>
        </p:nvSpPr>
        <p:spPr>
          <a:xfrm>
            <a:off x="6016592" y="3494330"/>
            <a:ext cx="2724900" cy="1005900"/>
          </a:xfrm>
          <a:prstGeom prst="roundRect">
            <a:avLst>
              <a:gd fmla="val 4545" name="adj"/>
            </a:avLst>
          </a:prstGeom>
          <a:solidFill>
            <a:srgbClr val="F4F6FB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f8d29873df_0_435"/>
          <p:cNvSpPr txBox="1"/>
          <p:nvPr/>
        </p:nvSpPr>
        <p:spPr>
          <a:xfrm>
            <a:off x="6126317" y="3494330"/>
            <a:ext cx="2505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Análisis de trazas y ciclo de vida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f8d29873df_0_435"/>
          <p:cNvSpPr/>
          <p:nvPr/>
        </p:nvSpPr>
        <p:spPr>
          <a:xfrm>
            <a:off x="8796294" y="1619810"/>
            <a:ext cx="2724900" cy="457200"/>
          </a:xfrm>
          <a:prstGeom prst="roundRect">
            <a:avLst>
              <a:gd fmla="val 1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f8d29873df_0_435"/>
          <p:cNvSpPr txBox="1"/>
          <p:nvPr/>
        </p:nvSpPr>
        <p:spPr>
          <a:xfrm>
            <a:off x="8796294" y="1619810"/>
            <a:ext cx="272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Resolución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f8d29873df_0_435"/>
          <p:cNvSpPr/>
          <p:nvPr/>
        </p:nvSpPr>
        <p:spPr>
          <a:xfrm>
            <a:off x="8796294" y="2168450"/>
            <a:ext cx="2724900" cy="1005900"/>
          </a:xfrm>
          <a:prstGeom prst="roundRect">
            <a:avLst>
              <a:gd fmla="val 4545" name="adj"/>
            </a:avLst>
          </a:prstGeom>
          <a:solidFill>
            <a:srgbClr val="FDF1DF"/>
          </a:solidFill>
          <a:ln cap="flat" cmpd="sng" w="127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f8d29873df_0_435"/>
          <p:cNvSpPr txBox="1"/>
          <p:nvPr/>
        </p:nvSpPr>
        <p:spPr>
          <a:xfrm>
            <a:off x="8906019" y="2168450"/>
            <a:ext cx="2505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Comunicación formal del resultado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f8d29873df_0_435"/>
          <p:cNvSpPr/>
          <p:nvPr/>
        </p:nvSpPr>
        <p:spPr>
          <a:xfrm>
            <a:off x="8796294" y="3494330"/>
            <a:ext cx="2724900" cy="1005900"/>
          </a:xfrm>
          <a:prstGeom prst="roundRect">
            <a:avLst>
              <a:gd fmla="val 4545" name="adj"/>
            </a:avLst>
          </a:prstGeom>
          <a:solidFill>
            <a:srgbClr val="F4F6FB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8d29873df_0_435"/>
          <p:cNvSpPr txBox="1"/>
          <p:nvPr/>
        </p:nvSpPr>
        <p:spPr>
          <a:xfrm>
            <a:off x="8906019" y="3494330"/>
            <a:ext cx="2505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Decisión de procedencia y abono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f8d29873df_0_435"/>
          <p:cNvSpPr txBox="1"/>
          <p:nvPr/>
        </p:nvSpPr>
        <p:spPr>
          <a:xfrm>
            <a:off x="457188" y="322001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1" i="1"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Línea de visibilidad interna (soporte no visible)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f8d29873df_0_435"/>
          <p:cNvSpPr txBox="1"/>
          <p:nvPr/>
        </p:nvSpPr>
        <p:spPr>
          <a:xfrm>
            <a:off x="457188" y="4943960"/>
            <a:ext cx="265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mbria"/>
              <a:buNone/>
            </a:pPr>
            <a:r>
              <a:rPr b="1" lang="en-US" sz="2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13,959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f8d29873df_0_435"/>
          <p:cNvSpPr txBox="1"/>
          <p:nvPr/>
        </p:nvSpPr>
        <p:spPr>
          <a:xfrm>
            <a:off x="457188" y="5328008"/>
            <a:ext cx="265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reclamos absueltos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2T2026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f8d29873df_0_435"/>
          <p:cNvSpPr txBox="1"/>
          <p:nvPr/>
        </p:nvSpPr>
        <p:spPr>
          <a:xfrm>
            <a:off x="3236890" y="4943960"/>
            <a:ext cx="265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mbria"/>
              <a:buNone/>
            </a:pPr>
            <a:r>
              <a:rPr b="1" lang="en-US" sz="2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11.29 días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f8d29873df_0_435"/>
          <p:cNvSpPr txBox="1"/>
          <p:nvPr/>
        </p:nvSpPr>
        <p:spPr>
          <a:xfrm>
            <a:off x="3236890" y="5328008"/>
            <a:ext cx="265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tiempo promedio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ponderado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f8d29873df_0_435"/>
          <p:cNvSpPr txBox="1"/>
          <p:nvPr/>
        </p:nvSpPr>
        <p:spPr>
          <a:xfrm>
            <a:off x="6016592" y="4943960"/>
            <a:ext cx="265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mbria"/>
              <a:buNone/>
            </a:pPr>
            <a:r>
              <a:rPr b="1" lang="en-US" sz="2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21.63%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f8d29873df_0_435"/>
          <p:cNvSpPr txBox="1"/>
          <p:nvPr/>
        </p:nvSpPr>
        <p:spPr>
          <a:xfrm>
            <a:off x="6016592" y="5328008"/>
            <a:ext cx="265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resueltos a favor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del usuario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f8d29873df_0_435"/>
          <p:cNvSpPr txBox="1"/>
          <p:nvPr/>
        </p:nvSpPr>
        <p:spPr>
          <a:xfrm>
            <a:off x="8796294" y="4943960"/>
            <a:ext cx="265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mbria"/>
              <a:buNone/>
            </a:pPr>
            <a:r>
              <a:rPr b="1" lang="en-US" sz="2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2,601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f8d29873df_0_435"/>
          <p:cNvSpPr txBox="1"/>
          <p:nvPr/>
        </p:nvSpPr>
        <p:spPr>
          <a:xfrm>
            <a:off x="8796294" y="5328008"/>
            <a:ext cx="265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sanciones Indecopi al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sistema financiero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f8d29873df_0_435"/>
          <p:cNvSpPr/>
          <p:nvPr/>
        </p:nvSpPr>
        <p:spPr>
          <a:xfrm>
            <a:off x="457200" y="536073"/>
            <a:ext cx="1075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 Blueprint E2E-2: Operaciones no reconocidas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8d29873df_0_89"/>
          <p:cNvSpPr txBox="1"/>
          <p:nvPr/>
        </p:nvSpPr>
        <p:spPr>
          <a:xfrm>
            <a:off x="571500" y="40005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Customer Journey Map E2E-3: Contratación por canal digital</a:t>
            </a:r>
            <a:endParaRPr b="1" sz="20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5" name="Google Shape;175;g3f8d29873df_0_89"/>
          <p:cNvGrpSpPr/>
          <p:nvPr/>
        </p:nvGrpSpPr>
        <p:grpSpPr>
          <a:xfrm>
            <a:off x="571500" y="904875"/>
            <a:ext cx="4476900" cy="5524500"/>
            <a:chOff x="0" y="0"/>
            <a:chExt cx="4476900" cy="5524500"/>
          </a:xfrm>
        </p:grpSpPr>
        <p:sp>
          <p:nvSpPr>
            <p:cNvPr id="176" name="Google Shape;176;g3f8d29873df_0_89"/>
            <p:cNvSpPr/>
            <p:nvPr/>
          </p:nvSpPr>
          <p:spPr>
            <a:xfrm>
              <a:off x="0" y="0"/>
              <a:ext cx="4476900" cy="5524500"/>
            </a:xfrm>
            <a:prstGeom prst="roundRect">
              <a:avLst>
                <a:gd fmla="val 2553" name="adj"/>
              </a:avLst>
            </a:prstGeom>
            <a:solidFill>
              <a:srgbClr val="0F2C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g3f8d29873df_0_89"/>
            <p:cNvSpPr txBox="1"/>
            <p:nvPr/>
          </p:nvSpPr>
          <p:spPr>
            <a:xfrm>
              <a:off x="228600" y="190500"/>
              <a:ext cx="4019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93C5F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CIFRAS CLAVE — 2T2026</a:t>
              </a:r>
              <a:endParaRPr b="1" sz="1000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78" name="Google Shape;178;g3f8d29873df_0_89"/>
            <p:cNvGrpSpPr/>
            <p:nvPr/>
          </p:nvGrpSpPr>
          <p:grpSpPr>
            <a:xfrm>
              <a:off x="228600" y="495300"/>
              <a:ext cx="4019700" cy="685800"/>
              <a:chOff x="0" y="0"/>
              <a:chExt cx="4019700" cy="685800"/>
            </a:xfrm>
          </p:grpSpPr>
          <p:sp>
            <p:nvSpPr>
              <p:cNvPr id="179" name="Google Shape;179;g3f8d29873df_0_89"/>
              <p:cNvSpPr/>
              <p:nvPr/>
            </p:nvSpPr>
            <p:spPr>
              <a:xfrm>
                <a:off x="0" y="0"/>
                <a:ext cx="4019700" cy="685800"/>
              </a:xfrm>
              <a:prstGeom prst="roundRect">
                <a:avLst>
                  <a:gd fmla="val 11111" name="adj"/>
                </a:avLst>
              </a:prstGeom>
              <a:solidFill>
                <a:srgbClr val="1E3A8A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g3f8d29873df_0_89"/>
              <p:cNvSpPr txBox="1"/>
              <p:nvPr/>
            </p:nvSpPr>
            <p:spPr>
              <a:xfrm>
                <a:off x="152400" y="76200"/>
                <a:ext cx="11430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79.57%</a:t>
                </a:r>
                <a:endParaRPr b="1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1" name="Google Shape;181;g3f8d29873df_0_89"/>
              <p:cNvSpPr txBox="1"/>
              <p:nvPr/>
            </p:nvSpPr>
            <p:spPr>
              <a:xfrm>
                <a:off x="1371600" y="76200"/>
                <a:ext cx="24957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Ventas digitales</a:t>
                </a:r>
                <a:endParaRPr b="1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750">
                    <a:solidFill>
                      <a:srgbClr val="CBD5E1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del total de ventas (BBVA Perú, 2026a, p. 3)</a:t>
                </a:r>
                <a:endParaRPr sz="750">
                  <a:solidFill>
                    <a:srgbClr val="CBD5E1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182" name="Google Shape;182;g3f8d29873df_0_89"/>
            <p:cNvGrpSpPr/>
            <p:nvPr/>
          </p:nvGrpSpPr>
          <p:grpSpPr>
            <a:xfrm>
              <a:off x="228600" y="1257300"/>
              <a:ext cx="4019700" cy="685800"/>
              <a:chOff x="0" y="0"/>
              <a:chExt cx="4019700" cy="685800"/>
            </a:xfrm>
          </p:grpSpPr>
          <p:sp>
            <p:nvSpPr>
              <p:cNvPr id="183" name="Google Shape;183;g3f8d29873df_0_89"/>
              <p:cNvSpPr/>
              <p:nvPr/>
            </p:nvSpPr>
            <p:spPr>
              <a:xfrm>
                <a:off x="0" y="0"/>
                <a:ext cx="4019700" cy="685800"/>
              </a:xfrm>
              <a:prstGeom prst="roundRect">
                <a:avLst>
                  <a:gd fmla="val 11111" name="adj"/>
                </a:avLst>
              </a:prstGeom>
              <a:solidFill>
                <a:srgbClr val="1E3A8A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g3f8d29873df_0_89"/>
              <p:cNvSpPr txBox="1"/>
              <p:nvPr/>
            </p:nvSpPr>
            <p:spPr>
              <a:xfrm>
                <a:off x="152400" y="76200"/>
                <a:ext cx="11430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85%</a:t>
                </a:r>
                <a:endParaRPr b="1" sz="2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5" name="Google Shape;185;g3f8d29873df_0_89"/>
              <p:cNvSpPr txBox="1"/>
              <p:nvPr/>
            </p:nvSpPr>
            <p:spPr>
              <a:xfrm>
                <a:off x="1371600" y="76200"/>
                <a:ext cx="24957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Operaciones monetarias</a:t>
                </a:r>
                <a:endParaRPr b="1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750">
                    <a:solidFill>
                      <a:srgbClr val="CBD5E1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concentradas en la app</a:t>
                </a:r>
                <a:endParaRPr sz="750">
                  <a:solidFill>
                    <a:srgbClr val="CBD5E1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186" name="Google Shape;186;g3f8d29873df_0_89"/>
            <p:cNvGrpSpPr/>
            <p:nvPr/>
          </p:nvGrpSpPr>
          <p:grpSpPr>
            <a:xfrm>
              <a:off x="228600" y="2019300"/>
              <a:ext cx="4019700" cy="685800"/>
              <a:chOff x="0" y="0"/>
              <a:chExt cx="4019700" cy="685800"/>
            </a:xfrm>
          </p:grpSpPr>
          <p:sp>
            <p:nvSpPr>
              <p:cNvPr id="187" name="Google Shape;187;g3f8d29873df_0_89"/>
              <p:cNvSpPr/>
              <p:nvPr/>
            </p:nvSpPr>
            <p:spPr>
              <a:xfrm>
                <a:off x="0" y="0"/>
                <a:ext cx="4019700" cy="685800"/>
              </a:xfrm>
              <a:prstGeom prst="roundRect">
                <a:avLst>
                  <a:gd fmla="val 11111" name="adj"/>
                </a:avLst>
              </a:prstGeom>
              <a:solidFill>
                <a:srgbClr val="1E3A8A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g3f8d29873df_0_89"/>
              <p:cNvSpPr txBox="1"/>
              <p:nvPr/>
            </p:nvSpPr>
            <p:spPr>
              <a:xfrm>
                <a:off x="152400" y="76200"/>
                <a:ext cx="11430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+350M</a:t>
                </a:r>
                <a:endParaRPr b="1" sz="2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9" name="Google Shape;189;g3f8d29873df_0_89"/>
              <p:cNvSpPr txBox="1"/>
              <p:nvPr/>
            </p:nvSpPr>
            <p:spPr>
              <a:xfrm>
                <a:off x="1371600" y="76200"/>
                <a:ext cx="24957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Transacciones acumuladas</a:t>
                </a:r>
                <a:endParaRPr b="1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750">
                    <a:solidFill>
                      <a:srgbClr val="CBD5E1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+38% de crecimiento (BBVA Perú, 2026a)</a:t>
                </a:r>
                <a:endParaRPr sz="750">
                  <a:solidFill>
                    <a:srgbClr val="CBD5E1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cxnSp>
          <p:nvCxnSpPr>
            <p:cNvPr id="190" name="Google Shape;190;g3f8d29873df_0_89"/>
            <p:cNvCxnSpPr/>
            <p:nvPr/>
          </p:nvCxnSpPr>
          <p:spPr>
            <a:xfrm>
              <a:off x="228600" y="2857500"/>
              <a:ext cx="40197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1E3A8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1" name="Google Shape;191;g3f8d29873df_0_89"/>
            <p:cNvSpPr txBox="1"/>
            <p:nvPr/>
          </p:nvSpPr>
          <p:spPr>
            <a:xfrm>
              <a:off x="228600" y="2971800"/>
              <a:ext cx="4019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93C5F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PENETRACIÓN DIGITAL POR PRODUCTO</a:t>
              </a:r>
              <a:endParaRPr b="1" sz="1000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92" name="Google Shape;192;g3f8d29873df_0_89"/>
            <p:cNvGrpSpPr/>
            <p:nvPr/>
          </p:nvGrpSpPr>
          <p:grpSpPr>
            <a:xfrm>
              <a:off x="228600" y="3286125"/>
              <a:ext cx="4019700" cy="304950"/>
              <a:chOff x="0" y="0"/>
              <a:chExt cx="4019700" cy="304950"/>
            </a:xfrm>
          </p:grpSpPr>
          <p:sp>
            <p:nvSpPr>
              <p:cNvPr id="193" name="Google Shape;193;g3f8d29873df_0_89"/>
              <p:cNvSpPr txBox="1"/>
              <p:nvPr/>
            </p:nvSpPr>
            <p:spPr>
              <a:xfrm>
                <a:off x="0" y="0"/>
                <a:ext cx="3333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Cambio de moneda</a:t>
                </a:r>
                <a:endParaRPr b="1" sz="95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4" name="Google Shape;194;g3f8d29873df_0_89"/>
              <p:cNvSpPr txBox="1"/>
              <p:nvPr/>
            </p:nvSpPr>
            <p:spPr>
              <a:xfrm>
                <a:off x="3429000" y="0"/>
                <a:ext cx="590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38BDF8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93%</a:t>
                </a:r>
                <a:endParaRPr b="1" sz="95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5" name="Google Shape;195;g3f8d29873df_0_89"/>
              <p:cNvSpPr/>
              <p:nvPr/>
            </p:nvSpPr>
            <p:spPr>
              <a:xfrm>
                <a:off x="0" y="209550"/>
                <a:ext cx="4019700" cy="95400"/>
              </a:xfrm>
              <a:prstGeom prst="roundRect">
                <a:avLst>
                  <a:gd fmla="val 50000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g3f8d29873df_0_89"/>
              <p:cNvSpPr/>
              <p:nvPr/>
            </p:nvSpPr>
            <p:spPr>
              <a:xfrm>
                <a:off x="0" y="209550"/>
                <a:ext cx="3738300" cy="954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" name="Google Shape;197;g3f8d29873df_0_89"/>
            <p:cNvGrpSpPr/>
            <p:nvPr/>
          </p:nvGrpSpPr>
          <p:grpSpPr>
            <a:xfrm>
              <a:off x="228600" y="3829050"/>
              <a:ext cx="4019700" cy="304950"/>
              <a:chOff x="0" y="0"/>
              <a:chExt cx="4019700" cy="304950"/>
            </a:xfrm>
          </p:grpSpPr>
          <p:sp>
            <p:nvSpPr>
              <p:cNvPr id="198" name="Google Shape;198;g3f8d29873df_0_89"/>
              <p:cNvSpPr txBox="1"/>
              <p:nvPr/>
            </p:nvSpPr>
            <p:spPr>
              <a:xfrm>
                <a:off x="0" y="0"/>
                <a:ext cx="3333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Préstamos</a:t>
                </a:r>
                <a:endParaRPr b="1" sz="95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9" name="Google Shape;199;g3f8d29873df_0_89"/>
              <p:cNvSpPr txBox="1"/>
              <p:nvPr/>
            </p:nvSpPr>
            <p:spPr>
              <a:xfrm>
                <a:off x="3429000" y="0"/>
                <a:ext cx="590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38BDF8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54%</a:t>
                </a:r>
                <a:endParaRPr b="1" sz="95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00" name="Google Shape;200;g3f8d29873df_0_89"/>
              <p:cNvSpPr/>
              <p:nvPr/>
            </p:nvSpPr>
            <p:spPr>
              <a:xfrm>
                <a:off x="0" y="209550"/>
                <a:ext cx="4019700" cy="95400"/>
              </a:xfrm>
              <a:prstGeom prst="roundRect">
                <a:avLst>
                  <a:gd fmla="val 50000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g3f8d29873df_0_89"/>
              <p:cNvSpPr/>
              <p:nvPr/>
            </p:nvSpPr>
            <p:spPr>
              <a:xfrm>
                <a:off x="0" y="209550"/>
                <a:ext cx="2170500" cy="954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2" name="Google Shape;202;g3f8d29873df_0_89"/>
            <p:cNvGrpSpPr/>
            <p:nvPr/>
          </p:nvGrpSpPr>
          <p:grpSpPr>
            <a:xfrm>
              <a:off x="228600" y="4371975"/>
              <a:ext cx="4019700" cy="304950"/>
              <a:chOff x="0" y="0"/>
              <a:chExt cx="4019700" cy="304950"/>
            </a:xfrm>
          </p:grpSpPr>
          <p:sp>
            <p:nvSpPr>
              <p:cNvPr id="203" name="Google Shape;203;g3f8d29873df_0_89"/>
              <p:cNvSpPr txBox="1"/>
              <p:nvPr/>
            </p:nvSpPr>
            <p:spPr>
              <a:xfrm>
                <a:off x="0" y="0"/>
                <a:ext cx="3333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Tarjetas</a:t>
                </a:r>
                <a:endParaRPr b="1" sz="95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04" name="Google Shape;204;g3f8d29873df_0_89"/>
              <p:cNvSpPr txBox="1"/>
              <p:nvPr/>
            </p:nvSpPr>
            <p:spPr>
              <a:xfrm>
                <a:off x="3429000" y="0"/>
                <a:ext cx="590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38BDF8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50%</a:t>
                </a:r>
                <a:endParaRPr b="1" sz="95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05" name="Google Shape;205;g3f8d29873df_0_89"/>
              <p:cNvSpPr/>
              <p:nvPr/>
            </p:nvSpPr>
            <p:spPr>
              <a:xfrm>
                <a:off x="0" y="209550"/>
                <a:ext cx="4019700" cy="95400"/>
              </a:xfrm>
              <a:prstGeom prst="roundRect">
                <a:avLst>
                  <a:gd fmla="val 50000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g3f8d29873df_0_89"/>
              <p:cNvSpPr/>
              <p:nvPr/>
            </p:nvSpPr>
            <p:spPr>
              <a:xfrm>
                <a:off x="0" y="209550"/>
                <a:ext cx="2009700" cy="954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7" name="Google Shape;207;g3f8d29873df_0_89"/>
            <p:cNvGrpSpPr/>
            <p:nvPr/>
          </p:nvGrpSpPr>
          <p:grpSpPr>
            <a:xfrm>
              <a:off x="228600" y="4914900"/>
              <a:ext cx="4019700" cy="304950"/>
              <a:chOff x="0" y="0"/>
              <a:chExt cx="4019700" cy="304950"/>
            </a:xfrm>
          </p:grpSpPr>
          <p:sp>
            <p:nvSpPr>
              <p:cNvPr id="208" name="Google Shape;208;g3f8d29873df_0_89"/>
              <p:cNvSpPr txBox="1"/>
              <p:nvPr/>
            </p:nvSpPr>
            <p:spPr>
              <a:xfrm>
                <a:off x="0" y="0"/>
                <a:ext cx="3333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Cuentas</a:t>
                </a:r>
                <a:endParaRPr b="1" sz="95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09" name="Google Shape;209;g3f8d29873df_0_89"/>
              <p:cNvSpPr txBox="1"/>
              <p:nvPr/>
            </p:nvSpPr>
            <p:spPr>
              <a:xfrm>
                <a:off x="3429000" y="0"/>
                <a:ext cx="590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38BDF8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33%</a:t>
                </a:r>
                <a:endParaRPr b="1" sz="95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10" name="Google Shape;210;g3f8d29873df_0_89"/>
              <p:cNvSpPr/>
              <p:nvPr/>
            </p:nvSpPr>
            <p:spPr>
              <a:xfrm>
                <a:off x="0" y="209550"/>
                <a:ext cx="4019700" cy="95400"/>
              </a:xfrm>
              <a:prstGeom prst="roundRect">
                <a:avLst>
                  <a:gd fmla="val 50000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g3f8d29873df_0_89"/>
              <p:cNvSpPr/>
              <p:nvPr/>
            </p:nvSpPr>
            <p:spPr>
              <a:xfrm>
                <a:off x="0" y="209550"/>
                <a:ext cx="1326600" cy="954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2" name="Google Shape;212;g3f8d29873df_0_89"/>
          <p:cNvGrpSpPr/>
          <p:nvPr/>
        </p:nvGrpSpPr>
        <p:grpSpPr>
          <a:xfrm>
            <a:off x="5334000" y="904875"/>
            <a:ext cx="6286500" cy="5448300"/>
            <a:chOff x="0" y="0"/>
            <a:chExt cx="6286500" cy="5448300"/>
          </a:xfrm>
        </p:grpSpPr>
        <p:sp>
          <p:nvSpPr>
            <p:cNvPr id="213" name="Google Shape;213;g3f8d29873df_0_89"/>
            <p:cNvSpPr txBox="1"/>
            <p:nvPr/>
          </p:nvSpPr>
          <p:spPr>
            <a:xfrm>
              <a:off x="0" y="0"/>
              <a:ext cx="6286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Etapas del journey y dolores observados</a:t>
              </a:r>
              <a:endParaRPr b="1" sz="12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14" name="Google Shape;214;g3f8d29873df_0_89"/>
            <p:cNvGrpSpPr/>
            <p:nvPr/>
          </p:nvGrpSpPr>
          <p:grpSpPr>
            <a:xfrm>
              <a:off x="0" y="342900"/>
              <a:ext cx="6286500" cy="914400"/>
              <a:chOff x="0" y="0"/>
              <a:chExt cx="6286500" cy="914400"/>
            </a:xfrm>
          </p:grpSpPr>
          <p:sp>
            <p:nvSpPr>
              <p:cNvPr id="215" name="Google Shape;215;g3f8d29873df_0_89"/>
              <p:cNvSpPr/>
              <p:nvPr/>
            </p:nvSpPr>
            <p:spPr>
              <a:xfrm>
                <a:off x="0" y="0"/>
                <a:ext cx="6286500" cy="914400"/>
              </a:xfrm>
              <a:prstGeom prst="roundRect">
                <a:avLst>
                  <a:gd fmla="val 10416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g3f8d29873df_0_89"/>
              <p:cNvSpPr/>
              <p:nvPr/>
            </p:nvSpPr>
            <p:spPr>
              <a:xfrm>
                <a:off x="0" y="0"/>
                <a:ext cx="57300" cy="914400"/>
              </a:xfrm>
              <a:prstGeom prst="roundRect">
                <a:avLst>
                  <a:gd fmla="val 5000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g3f8d29873df_0_89"/>
              <p:cNvSpPr/>
              <p:nvPr/>
            </p:nvSpPr>
            <p:spPr>
              <a:xfrm>
                <a:off x="200025" y="142875"/>
                <a:ext cx="285900" cy="285900"/>
              </a:xfrm>
              <a:prstGeom prst="ellipse">
                <a:avLst/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g3f8d29873df_0_89"/>
              <p:cNvSpPr txBox="1"/>
              <p:nvPr/>
            </p:nvSpPr>
            <p:spPr>
              <a:xfrm>
                <a:off x="200025" y="142875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</a:t>
                </a:r>
                <a:endParaRPr b="1" sz="1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19" name="Google Shape;219;g3f8d29873df_0_89"/>
              <p:cNvSpPr txBox="1"/>
              <p:nvPr/>
            </p:nvSpPr>
            <p:spPr>
              <a:xfrm>
                <a:off x="609600" y="133350"/>
                <a:ext cx="54864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Descubrimiento</a:t>
                </a:r>
                <a:endParaRPr b="1" sz="105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Sin información pública sobre tasas de conversión por punto de entrada al canal digital.</a:t>
                </a:r>
                <a:endParaRPr sz="950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220" name="Google Shape;220;g3f8d29873df_0_89"/>
            <p:cNvGrpSpPr/>
            <p:nvPr/>
          </p:nvGrpSpPr>
          <p:grpSpPr>
            <a:xfrm>
              <a:off x="0" y="1352550"/>
              <a:ext cx="6286500" cy="914400"/>
              <a:chOff x="0" y="0"/>
              <a:chExt cx="6286500" cy="914400"/>
            </a:xfrm>
          </p:grpSpPr>
          <p:sp>
            <p:nvSpPr>
              <p:cNvPr id="221" name="Google Shape;221;g3f8d29873df_0_89"/>
              <p:cNvSpPr/>
              <p:nvPr/>
            </p:nvSpPr>
            <p:spPr>
              <a:xfrm>
                <a:off x="0" y="0"/>
                <a:ext cx="6286500" cy="914400"/>
              </a:xfrm>
              <a:prstGeom prst="roundRect">
                <a:avLst>
                  <a:gd fmla="val 10416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g3f8d29873df_0_89"/>
              <p:cNvSpPr/>
              <p:nvPr/>
            </p:nvSpPr>
            <p:spPr>
              <a:xfrm>
                <a:off x="0" y="0"/>
                <a:ext cx="57300" cy="914400"/>
              </a:xfrm>
              <a:prstGeom prst="roundRect">
                <a:avLst>
                  <a:gd fmla="val 5000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g3f8d29873df_0_89"/>
              <p:cNvSpPr/>
              <p:nvPr/>
            </p:nvSpPr>
            <p:spPr>
              <a:xfrm>
                <a:off x="200025" y="142875"/>
                <a:ext cx="285900" cy="285900"/>
              </a:xfrm>
              <a:prstGeom prst="ellipse">
                <a:avLst/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g3f8d29873df_0_89"/>
              <p:cNvSpPr txBox="1"/>
              <p:nvPr/>
            </p:nvSpPr>
            <p:spPr>
              <a:xfrm>
                <a:off x="200025" y="142875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</a:t>
                </a:r>
                <a:endParaRPr b="1" sz="1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5" name="Google Shape;225;g3f8d29873df_0_89"/>
              <p:cNvSpPr txBox="1"/>
              <p:nvPr/>
            </p:nvSpPr>
            <p:spPr>
              <a:xfrm>
                <a:off x="609600" y="133350"/>
                <a:ext cx="54864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Evaluación y elección</a:t>
                </a:r>
                <a:endParaRPr b="1" sz="105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Asimetría de penetración sugiere que ciertos productos no resultan comprensibles en autoservicio.</a:t>
                </a:r>
                <a:endParaRPr sz="950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226" name="Google Shape;226;g3f8d29873df_0_89"/>
            <p:cNvGrpSpPr/>
            <p:nvPr/>
          </p:nvGrpSpPr>
          <p:grpSpPr>
            <a:xfrm>
              <a:off x="0" y="2362200"/>
              <a:ext cx="6286500" cy="914400"/>
              <a:chOff x="0" y="0"/>
              <a:chExt cx="6286500" cy="914400"/>
            </a:xfrm>
          </p:grpSpPr>
          <p:sp>
            <p:nvSpPr>
              <p:cNvPr id="227" name="Google Shape;227;g3f8d29873df_0_89"/>
              <p:cNvSpPr/>
              <p:nvPr/>
            </p:nvSpPr>
            <p:spPr>
              <a:xfrm>
                <a:off x="0" y="0"/>
                <a:ext cx="6286500" cy="914400"/>
              </a:xfrm>
              <a:prstGeom prst="roundRect">
                <a:avLst>
                  <a:gd fmla="val 10416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g3f8d29873df_0_89"/>
              <p:cNvSpPr/>
              <p:nvPr/>
            </p:nvSpPr>
            <p:spPr>
              <a:xfrm>
                <a:off x="0" y="0"/>
                <a:ext cx="57300" cy="914400"/>
              </a:xfrm>
              <a:prstGeom prst="roundRect">
                <a:avLst>
                  <a:gd fmla="val 5000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g3f8d29873df_0_89"/>
              <p:cNvSpPr/>
              <p:nvPr/>
            </p:nvSpPr>
            <p:spPr>
              <a:xfrm>
                <a:off x="200025" y="142875"/>
                <a:ext cx="285900" cy="285900"/>
              </a:xfrm>
              <a:prstGeom prst="ellipse">
                <a:avLst/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g3f8d29873df_0_89"/>
              <p:cNvSpPr txBox="1"/>
              <p:nvPr/>
            </p:nvSpPr>
            <p:spPr>
              <a:xfrm>
                <a:off x="200025" y="142875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3</a:t>
                </a:r>
                <a:endParaRPr b="1" sz="1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31" name="Google Shape;231;g3f8d29873df_0_89"/>
              <p:cNvSpPr txBox="1"/>
              <p:nvPr/>
            </p:nvSpPr>
            <p:spPr>
              <a:xfrm>
                <a:off x="609600" y="133350"/>
                <a:ext cx="54864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Contratación</a:t>
                </a:r>
                <a:endParaRPr b="1" sz="105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Penetración digital de </a:t>
                </a:r>
                <a:r>
                  <a:rPr b="1" lang="en-US" sz="950">
                    <a:solidFill>
                      <a:srgbClr val="0F2C59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33%</a:t>
                </a:r>
                <a:r>
                  <a:rPr lang="en-US" sz="950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 en cuentas y </a:t>
                </a:r>
                <a:r>
                  <a:rPr b="1" lang="en-US" sz="950">
                    <a:solidFill>
                      <a:srgbClr val="0F2C59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50%</a:t>
                </a:r>
                <a:r>
                  <a:rPr lang="en-US" sz="950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 en tarjetas vs. </a:t>
                </a:r>
                <a:r>
                  <a:rPr b="1" lang="en-US" sz="950">
                    <a:solidFill>
                      <a:srgbClr val="0F2C59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93%</a:t>
                </a:r>
                <a:r>
                  <a:rPr lang="en-US" sz="950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 en cambio de moneda (BBVA Perú, 2026a, p. 3).</a:t>
                </a:r>
                <a:endParaRPr sz="950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232" name="Google Shape;232;g3f8d29873df_0_89"/>
            <p:cNvGrpSpPr/>
            <p:nvPr/>
          </p:nvGrpSpPr>
          <p:grpSpPr>
            <a:xfrm>
              <a:off x="0" y="3371850"/>
              <a:ext cx="6286500" cy="914400"/>
              <a:chOff x="0" y="0"/>
              <a:chExt cx="6286500" cy="914400"/>
            </a:xfrm>
          </p:grpSpPr>
          <p:sp>
            <p:nvSpPr>
              <p:cNvPr id="233" name="Google Shape;233;g3f8d29873df_0_89"/>
              <p:cNvSpPr/>
              <p:nvPr/>
            </p:nvSpPr>
            <p:spPr>
              <a:xfrm>
                <a:off x="0" y="0"/>
                <a:ext cx="6286500" cy="914400"/>
              </a:xfrm>
              <a:prstGeom prst="roundRect">
                <a:avLst>
                  <a:gd fmla="val 10416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g3f8d29873df_0_89"/>
              <p:cNvSpPr/>
              <p:nvPr/>
            </p:nvSpPr>
            <p:spPr>
              <a:xfrm>
                <a:off x="0" y="0"/>
                <a:ext cx="57300" cy="914400"/>
              </a:xfrm>
              <a:prstGeom prst="roundRect">
                <a:avLst>
                  <a:gd fmla="val 5000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g3f8d29873df_0_89"/>
              <p:cNvSpPr/>
              <p:nvPr/>
            </p:nvSpPr>
            <p:spPr>
              <a:xfrm>
                <a:off x="200025" y="142875"/>
                <a:ext cx="285900" cy="285900"/>
              </a:xfrm>
              <a:prstGeom prst="ellipse">
                <a:avLst/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g3f8d29873df_0_89"/>
              <p:cNvSpPr txBox="1"/>
              <p:nvPr/>
            </p:nvSpPr>
            <p:spPr>
              <a:xfrm>
                <a:off x="200025" y="142875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4</a:t>
                </a:r>
                <a:endParaRPr b="1" sz="1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37" name="Google Shape;237;g3f8d29873df_0_89"/>
              <p:cNvSpPr txBox="1"/>
              <p:nvPr/>
            </p:nvSpPr>
            <p:spPr>
              <a:xfrm>
                <a:off x="609600" y="133350"/>
                <a:ext cx="54864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Activación y primer uso</a:t>
                </a:r>
                <a:endParaRPr b="1" sz="105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Activación inmediata solo en ruta por app; vía asistida no obtiene ese beneficio (BBVA Perú, s.f.-a).</a:t>
                </a:r>
                <a:endParaRPr sz="950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238" name="Google Shape;238;g3f8d29873df_0_89"/>
            <p:cNvGrpSpPr/>
            <p:nvPr/>
          </p:nvGrpSpPr>
          <p:grpSpPr>
            <a:xfrm>
              <a:off x="0" y="4381500"/>
              <a:ext cx="6286500" cy="1066800"/>
              <a:chOff x="0" y="0"/>
              <a:chExt cx="6286500" cy="1066800"/>
            </a:xfrm>
          </p:grpSpPr>
          <p:sp>
            <p:nvSpPr>
              <p:cNvPr id="239" name="Google Shape;239;g3f8d29873df_0_89"/>
              <p:cNvSpPr/>
              <p:nvPr/>
            </p:nvSpPr>
            <p:spPr>
              <a:xfrm>
                <a:off x="0" y="0"/>
                <a:ext cx="6286500" cy="1066800"/>
              </a:xfrm>
              <a:prstGeom prst="roundRect">
                <a:avLst>
                  <a:gd fmla="val 8928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g3f8d29873df_0_89"/>
              <p:cNvSpPr/>
              <p:nvPr/>
            </p:nvSpPr>
            <p:spPr>
              <a:xfrm>
                <a:off x="0" y="0"/>
                <a:ext cx="57300" cy="1066800"/>
              </a:xfrm>
              <a:prstGeom prst="roundRect">
                <a:avLst>
                  <a:gd fmla="val 5000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g3f8d29873df_0_89"/>
              <p:cNvSpPr/>
              <p:nvPr/>
            </p:nvSpPr>
            <p:spPr>
              <a:xfrm>
                <a:off x="200025" y="142875"/>
                <a:ext cx="285900" cy="285900"/>
              </a:xfrm>
              <a:prstGeom prst="ellipse">
                <a:avLst/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g3f8d29873df_0_89"/>
              <p:cNvSpPr txBox="1"/>
              <p:nvPr/>
            </p:nvSpPr>
            <p:spPr>
              <a:xfrm>
                <a:off x="200025" y="142875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5</a:t>
                </a:r>
                <a:endParaRPr b="1" sz="1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43" name="Google Shape;243;g3f8d29873df_0_89"/>
              <p:cNvSpPr txBox="1"/>
              <p:nvPr/>
            </p:nvSpPr>
            <p:spPr>
              <a:xfrm>
                <a:off x="609600" y="114300"/>
                <a:ext cx="54864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Uso recurrente</a:t>
                </a:r>
                <a:endParaRPr b="1" sz="105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App concentra </a:t>
                </a:r>
                <a:r>
                  <a:rPr b="1" lang="en-US" sz="950">
                    <a:solidFill>
                      <a:srgbClr val="0F2C59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85%</a:t>
                </a:r>
                <a:r>
                  <a:rPr lang="en-US" sz="950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 de operaciones, pero solo </a:t>
                </a:r>
                <a:r>
                  <a:rPr b="1" lang="en-US" sz="950">
                    <a:solidFill>
                      <a:srgbClr val="0F2C59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33%</a:t>
                </a:r>
                <a:r>
                  <a:rPr lang="en-US" sz="950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 de cuentas se contratan digitalmente (BBVA Perú, 2026a, p. 3). </a:t>
                </a:r>
                <a:r>
                  <a:rPr b="1" lang="en-US" sz="950">
                    <a:solidFill>
                      <a:srgbClr val="0F2C59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Dos de cada tres cuentas</a:t>
                </a:r>
                <a:r>
                  <a:rPr lang="en-US" sz="950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 se contratan por canal asistido.</a:t>
                </a:r>
                <a:endParaRPr sz="950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8d29873df_0_481"/>
          <p:cNvSpPr txBox="1"/>
          <p:nvPr/>
        </p:nvSpPr>
        <p:spPr>
          <a:xfrm>
            <a:off x="457188" y="822960"/>
            <a:ext cx="11246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41B4D"/>
                </a:solidFill>
                <a:latin typeface="Cambria"/>
                <a:ea typeface="Cambria"/>
                <a:cs typeface="Cambria"/>
                <a:sym typeface="Cambria"/>
              </a:rPr>
              <a:t>Diez dolores de negocio identificados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f8d29873df_0_481"/>
          <p:cNvSpPr txBox="1"/>
          <p:nvPr/>
        </p:nvSpPr>
        <p:spPr>
          <a:xfrm>
            <a:off x="457188" y="1417320"/>
            <a:ext cx="11246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Ocho ligados a un proceso E2E específico; dos de carácter transversal (D4, D10)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f8d29873df_0_481"/>
          <p:cNvSpPr/>
          <p:nvPr/>
        </p:nvSpPr>
        <p:spPr>
          <a:xfrm>
            <a:off x="457188" y="1965960"/>
            <a:ext cx="2167200" cy="2057400"/>
          </a:xfrm>
          <a:prstGeom prst="roundRect">
            <a:avLst>
              <a:gd fmla="val 2667" name="adj"/>
            </a:avLst>
          </a:prstGeom>
          <a:solidFill>
            <a:srgbClr val="F4F6FB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f8d29873df_0_481"/>
          <p:cNvSpPr/>
          <p:nvPr/>
        </p:nvSpPr>
        <p:spPr>
          <a:xfrm>
            <a:off x="594344" y="2103120"/>
            <a:ext cx="411600" cy="4116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f8d29873df_0_481"/>
          <p:cNvSpPr txBox="1"/>
          <p:nvPr/>
        </p:nvSpPr>
        <p:spPr>
          <a:xfrm>
            <a:off x="594344" y="210312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f8d29873df_0_481"/>
          <p:cNvSpPr txBox="1"/>
          <p:nvPr/>
        </p:nvSpPr>
        <p:spPr>
          <a:xfrm>
            <a:off x="594344" y="2606040"/>
            <a:ext cx="1892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Baja digitalización de la originación Pyme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f8d29873df_0_481"/>
          <p:cNvSpPr/>
          <p:nvPr/>
        </p:nvSpPr>
        <p:spPr>
          <a:xfrm>
            <a:off x="594344" y="3639312"/>
            <a:ext cx="1892700" cy="246900"/>
          </a:xfrm>
          <a:prstGeom prst="roundRect">
            <a:avLst>
              <a:gd fmla="val 4814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f8d29873df_0_481"/>
          <p:cNvSpPr txBox="1"/>
          <p:nvPr/>
        </p:nvSpPr>
        <p:spPr>
          <a:xfrm>
            <a:off x="594344" y="3639312"/>
            <a:ext cx="1892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E2E-1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f8d29873df_0_481"/>
          <p:cNvSpPr/>
          <p:nvPr/>
        </p:nvSpPr>
        <p:spPr>
          <a:xfrm>
            <a:off x="2743127" y="1965960"/>
            <a:ext cx="2167200" cy="2057400"/>
          </a:xfrm>
          <a:prstGeom prst="roundRect">
            <a:avLst>
              <a:gd fmla="val 2667" name="adj"/>
            </a:avLst>
          </a:prstGeom>
          <a:solidFill>
            <a:srgbClr val="F4F6FB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f8d29873df_0_481"/>
          <p:cNvSpPr/>
          <p:nvPr/>
        </p:nvSpPr>
        <p:spPr>
          <a:xfrm>
            <a:off x="2880283" y="2103120"/>
            <a:ext cx="411600" cy="4116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f8d29873df_0_481"/>
          <p:cNvSpPr txBox="1"/>
          <p:nvPr/>
        </p:nvSpPr>
        <p:spPr>
          <a:xfrm>
            <a:off x="2880283" y="210312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f8d29873df_0_481"/>
          <p:cNvSpPr txBox="1"/>
          <p:nvPr/>
        </p:nvSpPr>
        <p:spPr>
          <a:xfrm>
            <a:off x="2880283" y="2606040"/>
            <a:ext cx="1892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Satisfacción Pyme, la más baja de la entidad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f8d29873df_0_481"/>
          <p:cNvSpPr/>
          <p:nvPr/>
        </p:nvSpPr>
        <p:spPr>
          <a:xfrm>
            <a:off x="2880283" y="3639312"/>
            <a:ext cx="1892700" cy="246900"/>
          </a:xfrm>
          <a:prstGeom prst="roundRect">
            <a:avLst>
              <a:gd fmla="val 4814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f8d29873df_0_481"/>
          <p:cNvSpPr txBox="1"/>
          <p:nvPr/>
        </p:nvSpPr>
        <p:spPr>
          <a:xfrm>
            <a:off x="2880283" y="3639312"/>
            <a:ext cx="1892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E2E-1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f8d29873df_0_481"/>
          <p:cNvSpPr/>
          <p:nvPr/>
        </p:nvSpPr>
        <p:spPr>
          <a:xfrm>
            <a:off x="5029066" y="1965960"/>
            <a:ext cx="2167200" cy="2057400"/>
          </a:xfrm>
          <a:prstGeom prst="roundRect">
            <a:avLst>
              <a:gd fmla="val 2667" name="adj"/>
            </a:avLst>
          </a:prstGeom>
          <a:solidFill>
            <a:srgbClr val="F4F6FB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f8d29873df_0_481"/>
          <p:cNvSpPr/>
          <p:nvPr/>
        </p:nvSpPr>
        <p:spPr>
          <a:xfrm>
            <a:off x="5166222" y="2103120"/>
            <a:ext cx="411600" cy="4116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f8d29873df_0_481"/>
          <p:cNvSpPr txBox="1"/>
          <p:nvPr/>
        </p:nvSpPr>
        <p:spPr>
          <a:xfrm>
            <a:off x="5166222" y="210312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f8d29873df_0_481"/>
          <p:cNvSpPr txBox="1"/>
          <p:nvPr/>
        </p:nvSpPr>
        <p:spPr>
          <a:xfrm>
            <a:off x="5166222" y="2606040"/>
            <a:ext cx="1892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Evaluación crediticia sin info. estructurada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f8d29873df_0_481"/>
          <p:cNvSpPr/>
          <p:nvPr/>
        </p:nvSpPr>
        <p:spPr>
          <a:xfrm>
            <a:off x="5166222" y="3639312"/>
            <a:ext cx="1892700" cy="246900"/>
          </a:xfrm>
          <a:prstGeom prst="roundRect">
            <a:avLst>
              <a:gd fmla="val 4814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f8d29873df_0_481"/>
          <p:cNvSpPr txBox="1"/>
          <p:nvPr/>
        </p:nvSpPr>
        <p:spPr>
          <a:xfrm>
            <a:off x="5166222" y="3639312"/>
            <a:ext cx="1892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E2E-1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f8d29873df_0_481"/>
          <p:cNvSpPr/>
          <p:nvPr/>
        </p:nvSpPr>
        <p:spPr>
          <a:xfrm>
            <a:off x="7315005" y="1965960"/>
            <a:ext cx="2167200" cy="2057400"/>
          </a:xfrm>
          <a:prstGeom prst="roundRect">
            <a:avLst>
              <a:gd fmla="val 2667" name="adj"/>
            </a:avLst>
          </a:prstGeom>
          <a:solidFill>
            <a:srgbClr val="F4F6FB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f8d29873df_0_481"/>
          <p:cNvSpPr/>
          <p:nvPr/>
        </p:nvSpPr>
        <p:spPr>
          <a:xfrm>
            <a:off x="7452161" y="2103120"/>
            <a:ext cx="411600" cy="4116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f8d29873df_0_481"/>
          <p:cNvSpPr txBox="1"/>
          <p:nvPr/>
        </p:nvSpPr>
        <p:spPr>
          <a:xfrm>
            <a:off x="7452161" y="210312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f8d29873df_0_481"/>
          <p:cNvSpPr txBox="1"/>
          <p:nvPr/>
        </p:nvSpPr>
        <p:spPr>
          <a:xfrm>
            <a:off x="7452161" y="2606040"/>
            <a:ext cx="1892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Mayor riesgo crediticio en microempresa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f8d29873df_0_481"/>
          <p:cNvSpPr/>
          <p:nvPr/>
        </p:nvSpPr>
        <p:spPr>
          <a:xfrm>
            <a:off x="7452161" y="3639312"/>
            <a:ext cx="1892700" cy="246900"/>
          </a:xfrm>
          <a:prstGeom prst="roundRect">
            <a:avLst>
              <a:gd fmla="val 48148" name="adj"/>
            </a:avLst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f8d29873df_0_481"/>
          <p:cNvSpPr txBox="1"/>
          <p:nvPr/>
        </p:nvSpPr>
        <p:spPr>
          <a:xfrm>
            <a:off x="7452161" y="3639312"/>
            <a:ext cx="1892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Transversal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f8d29873df_0_481"/>
          <p:cNvSpPr/>
          <p:nvPr/>
        </p:nvSpPr>
        <p:spPr>
          <a:xfrm>
            <a:off x="9600944" y="1965960"/>
            <a:ext cx="2167200" cy="2057400"/>
          </a:xfrm>
          <a:prstGeom prst="roundRect">
            <a:avLst>
              <a:gd fmla="val 2667" name="adj"/>
            </a:avLst>
          </a:prstGeom>
          <a:solidFill>
            <a:srgbClr val="F4F6FB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f8d29873df_0_481"/>
          <p:cNvSpPr/>
          <p:nvPr/>
        </p:nvSpPr>
        <p:spPr>
          <a:xfrm>
            <a:off x="9738100" y="2103120"/>
            <a:ext cx="411600" cy="4116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f8d29873df_0_481"/>
          <p:cNvSpPr txBox="1"/>
          <p:nvPr/>
        </p:nvSpPr>
        <p:spPr>
          <a:xfrm>
            <a:off x="9738100" y="210312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f8d29873df_0_481"/>
          <p:cNvSpPr txBox="1"/>
          <p:nvPr/>
        </p:nvSpPr>
        <p:spPr>
          <a:xfrm>
            <a:off x="9738100" y="2606040"/>
            <a:ext cx="1892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Alta exposición sancionatoria (Indecopi)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f8d29873df_0_481"/>
          <p:cNvSpPr/>
          <p:nvPr/>
        </p:nvSpPr>
        <p:spPr>
          <a:xfrm>
            <a:off x="9738100" y="3639312"/>
            <a:ext cx="1892700" cy="246900"/>
          </a:xfrm>
          <a:prstGeom prst="roundRect">
            <a:avLst>
              <a:gd fmla="val 48148" name="adj"/>
            </a:avLst>
          </a:prstGeom>
          <a:solidFill>
            <a:srgbClr val="5080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f8d29873df_0_481"/>
          <p:cNvSpPr txBox="1"/>
          <p:nvPr/>
        </p:nvSpPr>
        <p:spPr>
          <a:xfrm>
            <a:off x="9738100" y="3639312"/>
            <a:ext cx="1892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E2E-2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f8d29873df_0_481"/>
          <p:cNvSpPr/>
          <p:nvPr/>
        </p:nvSpPr>
        <p:spPr>
          <a:xfrm>
            <a:off x="457188" y="4160520"/>
            <a:ext cx="2167200" cy="2057400"/>
          </a:xfrm>
          <a:prstGeom prst="roundRect">
            <a:avLst>
              <a:gd fmla="val 2667" name="adj"/>
            </a:avLst>
          </a:prstGeom>
          <a:solidFill>
            <a:srgbClr val="F4F6FB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f8d29873df_0_481"/>
          <p:cNvSpPr/>
          <p:nvPr/>
        </p:nvSpPr>
        <p:spPr>
          <a:xfrm>
            <a:off x="594344" y="4297680"/>
            <a:ext cx="411600" cy="4116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f8d29873df_0_481"/>
          <p:cNvSpPr txBox="1"/>
          <p:nvPr/>
        </p:nvSpPr>
        <p:spPr>
          <a:xfrm>
            <a:off x="594344" y="4297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f8d29873df_0_481"/>
          <p:cNvSpPr txBox="1"/>
          <p:nvPr/>
        </p:nvSpPr>
        <p:spPr>
          <a:xfrm>
            <a:off x="594344" y="4800600"/>
            <a:ext cx="1892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Ritmo creciente de sanciones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f8d29873df_0_481"/>
          <p:cNvSpPr/>
          <p:nvPr/>
        </p:nvSpPr>
        <p:spPr>
          <a:xfrm>
            <a:off x="594344" y="5833872"/>
            <a:ext cx="1892700" cy="246900"/>
          </a:xfrm>
          <a:prstGeom prst="roundRect">
            <a:avLst>
              <a:gd fmla="val 48148" name="adj"/>
            </a:avLst>
          </a:prstGeom>
          <a:solidFill>
            <a:srgbClr val="5080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f8d29873df_0_481"/>
          <p:cNvSpPr txBox="1"/>
          <p:nvPr/>
        </p:nvSpPr>
        <p:spPr>
          <a:xfrm>
            <a:off x="594344" y="5833872"/>
            <a:ext cx="1892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E2E-2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f8d29873df_0_481"/>
          <p:cNvSpPr/>
          <p:nvPr/>
        </p:nvSpPr>
        <p:spPr>
          <a:xfrm>
            <a:off x="2743127" y="4160520"/>
            <a:ext cx="2167200" cy="2057400"/>
          </a:xfrm>
          <a:prstGeom prst="roundRect">
            <a:avLst>
              <a:gd fmla="val 2667" name="adj"/>
            </a:avLst>
          </a:prstGeom>
          <a:solidFill>
            <a:srgbClr val="F4F6FB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f8d29873df_0_481"/>
          <p:cNvSpPr/>
          <p:nvPr/>
        </p:nvSpPr>
        <p:spPr>
          <a:xfrm>
            <a:off x="2880283" y="4297680"/>
            <a:ext cx="411600" cy="4116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f8d29873df_0_481"/>
          <p:cNvSpPr txBox="1"/>
          <p:nvPr/>
        </p:nvSpPr>
        <p:spPr>
          <a:xfrm>
            <a:off x="2880283" y="4297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f8d29873df_0_481"/>
          <p:cNvSpPr txBox="1"/>
          <p:nvPr/>
        </p:nvSpPr>
        <p:spPr>
          <a:xfrm>
            <a:off x="2880283" y="4800600"/>
            <a:ext cx="1892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Volumen y tiempo de absolución de reclamos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f8d29873df_0_481"/>
          <p:cNvSpPr/>
          <p:nvPr/>
        </p:nvSpPr>
        <p:spPr>
          <a:xfrm>
            <a:off x="2880283" y="5833872"/>
            <a:ext cx="1892700" cy="246900"/>
          </a:xfrm>
          <a:prstGeom prst="roundRect">
            <a:avLst>
              <a:gd fmla="val 48148" name="adj"/>
            </a:avLst>
          </a:prstGeom>
          <a:solidFill>
            <a:srgbClr val="5080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f8d29873df_0_481"/>
          <p:cNvSpPr txBox="1"/>
          <p:nvPr/>
        </p:nvSpPr>
        <p:spPr>
          <a:xfrm>
            <a:off x="2880283" y="5833872"/>
            <a:ext cx="1892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E2E-2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f8d29873df_0_481"/>
          <p:cNvSpPr/>
          <p:nvPr/>
        </p:nvSpPr>
        <p:spPr>
          <a:xfrm>
            <a:off x="5029066" y="4160520"/>
            <a:ext cx="2167200" cy="2057400"/>
          </a:xfrm>
          <a:prstGeom prst="roundRect">
            <a:avLst>
              <a:gd fmla="val 2667" name="adj"/>
            </a:avLst>
          </a:prstGeom>
          <a:solidFill>
            <a:srgbClr val="F4F6FB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f8d29873df_0_481"/>
          <p:cNvSpPr/>
          <p:nvPr/>
        </p:nvSpPr>
        <p:spPr>
          <a:xfrm>
            <a:off x="5166222" y="4297680"/>
            <a:ext cx="411600" cy="4116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f8d29873df_0_481"/>
          <p:cNvSpPr txBox="1"/>
          <p:nvPr/>
        </p:nvSpPr>
        <p:spPr>
          <a:xfrm>
            <a:off x="5166222" y="4297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f8d29873df_0_481"/>
          <p:cNvSpPr txBox="1"/>
          <p:nvPr/>
        </p:nvSpPr>
        <p:spPr>
          <a:xfrm>
            <a:off x="5166222" y="4800600"/>
            <a:ext cx="1892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Mayor superficie de exposición a fraude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f8d29873df_0_481"/>
          <p:cNvSpPr/>
          <p:nvPr/>
        </p:nvSpPr>
        <p:spPr>
          <a:xfrm>
            <a:off x="5166222" y="5833872"/>
            <a:ext cx="1892700" cy="246900"/>
          </a:xfrm>
          <a:prstGeom prst="roundRect">
            <a:avLst>
              <a:gd fmla="val 48148" name="adj"/>
            </a:avLst>
          </a:prstGeom>
          <a:solidFill>
            <a:srgbClr val="5080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f8d29873df_0_481"/>
          <p:cNvSpPr txBox="1"/>
          <p:nvPr/>
        </p:nvSpPr>
        <p:spPr>
          <a:xfrm>
            <a:off x="5166222" y="5833872"/>
            <a:ext cx="1892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E2E-2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f8d29873df_0_481"/>
          <p:cNvSpPr/>
          <p:nvPr/>
        </p:nvSpPr>
        <p:spPr>
          <a:xfrm>
            <a:off x="7315005" y="4160520"/>
            <a:ext cx="2167200" cy="2057400"/>
          </a:xfrm>
          <a:prstGeom prst="roundRect">
            <a:avLst>
              <a:gd fmla="val 2667" name="adj"/>
            </a:avLst>
          </a:prstGeom>
          <a:solidFill>
            <a:srgbClr val="F4F6FB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f8d29873df_0_481"/>
          <p:cNvSpPr/>
          <p:nvPr/>
        </p:nvSpPr>
        <p:spPr>
          <a:xfrm>
            <a:off x="7452161" y="4297680"/>
            <a:ext cx="411600" cy="4116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f8d29873df_0_481"/>
          <p:cNvSpPr txBox="1"/>
          <p:nvPr/>
        </p:nvSpPr>
        <p:spPr>
          <a:xfrm>
            <a:off x="7452161" y="4297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f8d29873df_0_481"/>
          <p:cNvSpPr txBox="1"/>
          <p:nvPr/>
        </p:nvSpPr>
        <p:spPr>
          <a:xfrm>
            <a:off x="7452161" y="4800600"/>
            <a:ext cx="1892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Penetración digital dispar entre productos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f8d29873df_0_481"/>
          <p:cNvSpPr/>
          <p:nvPr/>
        </p:nvSpPr>
        <p:spPr>
          <a:xfrm>
            <a:off x="7452161" y="5833872"/>
            <a:ext cx="1892700" cy="246900"/>
          </a:xfrm>
          <a:prstGeom prst="roundRect">
            <a:avLst>
              <a:gd fmla="val 48148" name="adj"/>
            </a:avLst>
          </a:prstGeom>
          <a:solidFill>
            <a:srgbClr val="B479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f8d29873df_0_481"/>
          <p:cNvSpPr txBox="1"/>
          <p:nvPr/>
        </p:nvSpPr>
        <p:spPr>
          <a:xfrm>
            <a:off x="7452161" y="5833872"/>
            <a:ext cx="1892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E2E-3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f8d29873df_0_481"/>
          <p:cNvSpPr/>
          <p:nvPr/>
        </p:nvSpPr>
        <p:spPr>
          <a:xfrm>
            <a:off x="9600944" y="4160520"/>
            <a:ext cx="2167200" cy="2057400"/>
          </a:xfrm>
          <a:prstGeom prst="roundRect">
            <a:avLst>
              <a:gd fmla="val 2667" name="adj"/>
            </a:avLst>
          </a:prstGeom>
          <a:solidFill>
            <a:srgbClr val="F4F6FB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f8d29873df_0_481"/>
          <p:cNvSpPr/>
          <p:nvPr/>
        </p:nvSpPr>
        <p:spPr>
          <a:xfrm>
            <a:off x="9738100" y="4297680"/>
            <a:ext cx="411600" cy="4116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f8d29873df_0_481"/>
          <p:cNvSpPr txBox="1"/>
          <p:nvPr/>
        </p:nvSpPr>
        <p:spPr>
          <a:xfrm>
            <a:off x="9738100" y="4297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f8d29873df_0_481"/>
          <p:cNvSpPr txBox="1"/>
          <p:nvPr/>
        </p:nvSpPr>
        <p:spPr>
          <a:xfrm>
            <a:off x="9738100" y="4800600"/>
            <a:ext cx="1892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Rentabilidad bajo el promedio del sistema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f8d29873df_0_481"/>
          <p:cNvSpPr/>
          <p:nvPr/>
        </p:nvSpPr>
        <p:spPr>
          <a:xfrm>
            <a:off x="9738100" y="5833872"/>
            <a:ext cx="1892700" cy="246900"/>
          </a:xfrm>
          <a:prstGeom prst="roundRect">
            <a:avLst>
              <a:gd fmla="val 48148" name="adj"/>
            </a:avLst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f8d29873df_0_481"/>
          <p:cNvSpPr txBox="1"/>
          <p:nvPr/>
        </p:nvSpPr>
        <p:spPr>
          <a:xfrm>
            <a:off x="9738100" y="5833872"/>
            <a:ext cx="1892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Transversal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f8d29873df_0_481"/>
          <p:cNvSpPr txBox="1"/>
          <p:nvPr/>
        </p:nvSpPr>
        <p:spPr>
          <a:xfrm>
            <a:off x="11276994" y="649224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"/>
          <p:cNvSpPr/>
          <p:nvPr/>
        </p:nvSpPr>
        <p:spPr>
          <a:xfrm>
            <a:off x="719814" y="668834"/>
            <a:ext cx="10752067" cy="40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Montserrat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Criterios de evaluación y matriz de priorización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719814" y="1361777"/>
            <a:ext cx="4646000" cy="203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Montserrat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Parte A — Criterios de evaluación (escala 1–5)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9" name="Google Shape;319;p8"/>
          <p:cNvGraphicFramePr/>
          <p:nvPr/>
        </p:nvGraphicFramePr>
        <p:xfrm>
          <a:off x="719814" y="16939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{83EBD527-03DD-4C24-BC11-2293BA3C391B}</a:tableStyleId>
              </a:tblPr>
              <a:tblGrid>
                <a:gridCol w="1858400"/>
                <a:gridCol w="2090700"/>
                <a:gridCol w="696900"/>
              </a:tblGrid>
              <a:tr h="34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Criterio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Pregunta orientadora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00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Peso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00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542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Impacto estratégico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¿Afecta objetivos clave del negocio?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25%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Impacto económico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¿Genera pérdida de ingresos o sobrecostos?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20%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Impacto en experiencia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¿Afecta al cliente?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20%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Viabilidad tecnológica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¿Puede abordarse con datos, sistemas y automatización?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15%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Urgencia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¿Es relevante para la dirección?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10%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Capacidad de medición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¿Se puede medir antes y después?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10%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0" name="Google Shape;320;p8"/>
          <p:cNvSpPr/>
          <p:nvPr/>
        </p:nvSpPr>
        <p:spPr>
          <a:xfrm>
            <a:off x="5722001" y="1361777"/>
            <a:ext cx="5756131" cy="203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Montserrat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Parte B — Matriz de priorización (puntaje ponderado)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1" name="Google Shape;321;p8"/>
          <p:cNvGraphicFramePr/>
          <p:nvPr/>
        </p:nvGraphicFramePr>
        <p:xfrm>
          <a:off x="5722001" y="16939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{83EBD527-03DD-4C24-BC11-2293BA3C391B}</a:tableStyleId>
              </a:tblPr>
              <a:tblGrid>
                <a:gridCol w="1151225"/>
                <a:gridCol w="2878075"/>
                <a:gridCol w="1726850"/>
              </a:tblGrid>
              <a:tr h="34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Dolor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Descripción breve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00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Puntaje / Orden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00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D1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Baja digitalización originación Pyme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3366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4.70 — 1.º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</a:tr>
              <a:tr h="53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D5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Exposición sancionatoria operaciones no reconocidas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3366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4.55 — 2.º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</a:tr>
              <a:tr h="53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D7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Volumen y tiempo de absolución de reclamos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3366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4.50 — 3.º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D9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Penetración digital dispar en productos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3366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4.40 — 4.º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D2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NPS Pyme bajo pese a crecimiento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4.10 — 5.º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D8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Exposición a fraude por crecimiento digital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4.00 — 6.º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D6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Aceleración del ritmo sancionatorio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3.95 — 7.º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D4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Mayor riesgo crediticio en microempresa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3.90 — 8.º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</a:tr>
              <a:tr h="53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D3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Evaluación crediticia con info no estructurada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3.80 — 9.º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D10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ROE por debajo del promedio del sistema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100"/>
                        <a:buFont typeface="Source Sans 3"/>
                        <a:buNone/>
                      </a:pPr>
                      <a:r>
                        <a:rPr lang="en-US" sz="11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3.30 — 10.º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6350" marB="6350" marR="143425" marL="1434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8d29873df_0_553"/>
          <p:cNvSpPr txBox="1"/>
          <p:nvPr/>
        </p:nvSpPr>
        <p:spPr>
          <a:xfrm>
            <a:off x="457188" y="822960"/>
            <a:ext cx="11246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41B4D"/>
                </a:solidFill>
                <a:latin typeface="Cambria"/>
                <a:ea typeface="Cambria"/>
                <a:cs typeface="Cambria"/>
                <a:sym typeface="Cambria"/>
              </a:rPr>
              <a:t>Tres bloques de prioridad, y una regla de no redundancia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f8d29873df_0_553"/>
          <p:cNvSpPr/>
          <p:nvPr/>
        </p:nvSpPr>
        <p:spPr>
          <a:xfrm>
            <a:off x="457188" y="1965960"/>
            <a:ext cx="3639300" cy="2286000"/>
          </a:xfrm>
          <a:prstGeom prst="roundRect">
            <a:avLst>
              <a:gd fmla="val 32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f8d29873df_0_553"/>
          <p:cNvSpPr txBox="1"/>
          <p:nvPr/>
        </p:nvSpPr>
        <p:spPr>
          <a:xfrm>
            <a:off x="685782" y="2148840"/>
            <a:ext cx="3182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Alta prioridad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f8d29873df_0_553"/>
          <p:cNvSpPr txBox="1"/>
          <p:nvPr/>
        </p:nvSpPr>
        <p:spPr>
          <a:xfrm>
            <a:off x="685782" y="2514600"/>
            <a:ext cx="318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4.40 – 4.70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f8d29873df_0_553"/>
          <p:cNvSpPr txBox="1"/>
          <p:nvPr/>
        </p:nvSpPr>
        <p:spPr>
          <a:xfrm>
            <a:off x="685782" y="2816352"/>
            <a:ext cx="3182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 · D5 · D7 · D9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f8d29873df_0_553"/>
          <p:cNvSpPr txBox="1"/>
          <p:nvPr/>
        </p:nvSpPr>
        <p:spPr>
          <a:xfrm>
            <a:off x="685782" y="3182112"/>
            <a:ext cx="3182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Comprometen a la vez objetivos estratégicos, resultado económico y experiencia; abordables con la plataforma de datos e IA ya desplegada.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f8d29873df_0_553"/>
          <p:cNvSpPr/>
          <p:nvPr/>
        </p:nvSpPr>
        <p:spPr>
          <a:xfrm>
            <a:off x="4215272" y="1965960"/>
            <a:ext cx="3639300" cy="2286000"/>
          </a:xfrm>
          <a:prstGeom prst="roundRect">
            <a:avLst>
              <a:gd fmla="val 3200" name="adj"/>
            </a:avLst>
          </a:prstGeom>
          <a:solidFill>
            <a:srgbClr val="5080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f8d29873df_0_553"/>
          <p:cNvSpPr txBox="1"/>
          <p:nvPr/>
        </p:nvSpPr>
        <p:spPr>
          <a:xfrm>
            <a:off x="4443866" y="2148840"/>
            <a:ext cx="3182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Prioridad media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f8d29873df_0_553"/>
          <p:cNvSpPr txBox="1"/>
          <p:nvPr/>
        </p:nvSpPr>
        <p:spPr>
          <a:xfrm>
            <a:off x="4443866" y="2514600"/>
            <a:ext cx="318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3.90 – 4.10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f8d29873df_0_553"/>
          <p:cNvSpPr txBox="1"/>
          <p:nvPr/>
        </p:nvSpPr>
        <p:spPr>
          <a:xfrm>
            <a:off x="4443866" y="2816352"/>
            <a:ext cx="3182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D2 · D8 · D6 · D4 · D3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f8d29873df_0_553"/>
          <p:cNvSpPr txBox="1"/>
          <p:nvPr/>
        </p:nvSpPr>
        <p:spPr>
          <a:xfrm>
            <a:off x="4443866" y="3182112"/>
            <a:ext cx="3182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Dolores relevantes cuya atención depende de resolver primero los del primer bloque.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f8d29873df_0_553"/>
          <p:cNvSpPr/>
          <p:nvPr/>
        </p:nvSpPr>
        <p:spPr>
          <a:xfrm>
            <a:off x="7973355" y="1965960"/>
            <a:ext cx="3639300" cy="2286000"/>
          </a:xfrm>
          <a:prstGeom prst="roundRect">
            <a:avLst>
              <a:gd fmla="val 3200" name="adj"/>
            </a:avLst>
          </a:prstGeom>
          <a:solidFill>
            <a:srgbClr val="5B64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f8d29873df_0_553"/>
          <p:cNvSpPr txBox="1"/>
          <p:nvPr/>
        </p:nvSpPr>
        <p:spPr>
          <a:xfrm>
            <a:off x="8201949" y="2148840"/>
            <a:ext cx="3182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Prioridad baja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f8d29873df_0_553"/>
          <p:cNvSpPr txBox="1"/>
          <p:nvPr/>
        </p:nvSpPr>
        <p:spPr>
          <a:xfrm>
            <a:off x="8201949" y="2514600"/>
            <a:ext cx="318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3.30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f8d29873df_0_553"/>
          <p:cNvSpPr txBox="1"/>
          <p:nvPr/>
        </p:nvSpPr>
        <p:spPr>
          <a:xfrm>
            <a:off x="8201949" y="2816352"/>
            <a:ext cx="3182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f8d29873df_0_553"/>
          <p:cNvSpPr txBox="1"/>
          <p:nvPr/>
        </p:nvSpPr>
        <p:spPr>
          <a:xfrm>
            <a:off x="8201949" y="3182112"/>
            <a:ext cx="3182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Impacto económico máximo, pero es un efecto agregado, no un dolor de proceso; baja viabilidad tecnológica directa.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f8d29873df_0_553"/>
          <p:cNvSpPr/>
          <p:nvPr/>
        </p:nvSpPr>
        <p:spPr>
          <a:xfrm>
            <a:off x="457188" y="4526280"/>
            <a:ext cx="11292600" cy="1508700"/>
          </a:xfrm>
          <a:prstGeom prst="roundRect">
            <a:avLst>
              <a:gd fmla="val 4848" name="adj"/>
            </a:avLst>
          </a:prstGeom>
          <a:solidFill>
            <a:srgbClr val="FDF1DF"/>
          </a:solidFill>
          <a:ln cap="flat" cmpd="sng" w="15875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f8d29873df_0_553"/>
          <p:cNvSpPr txBox="1"/>
          <p:nvPr/>
        </p:nvSpPr>
        <p:spPr>
          <a:xfrm>
            <a:off x="685782" y="466344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791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B4791E"/>
                </a:solidFill>
                <a:latin typeface="Calibri"/>
                <a:ea typeface="Calibri"/>
                <a:cs typeface="Calibri"/>
                <a:sym typeface="Calibri"/>
              </a:rPr>
              <a:t>Regla de no redundancia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f8d29873df_0_553"/>
          <p:cNvSpPr txBox="1"/>
          <p:nvPr/>
        </p:nvSpPr>
        <p:spPr>
          <a:xfrm>
            <a:off x="685782" y="4956048"/>
            <a:ext cx="108354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D5 y D7 pertenecen al mismo proceso E2E-2 y guardan relación causa-efecto: D7 es la debilidad operativa en la resolución del reclamo; D5, su consecuencia sancionatoria. Se consolidan en un único dolor crítico (conservando el puntaje mayor) para evitar formular dos veces la misma iniciativa.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8d29873df_0_708"/>
          <p:cNvSpPr/>
          <p:nvPr/>
        </p:nvSpPr>
        <p:spPr>
          <a:xfrm>
            <a:off x="10515320" y="-1371600"/>
            <a:ext cx="3657600" cy="3657600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f8d29873df_0_708"/>
          <p:cNvSpPr txBox="1"/>
          <p:nvPr/>
        </p:nvSpPr>
        <p:spPr>
          <a:xfrm>
            <a:off x="457188" y="868680"/>
            <a:ext cx="9143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Tres dolores críticos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f8d29873df_0_708"/>
          <p:cNvSpPr txBox="1"/>
          <p:nvPr/>
        </p:nvSpPr>
        <p:spPr>
          <a:xfrm>
            <a:off x="457188" y="1417320"/>
            <a:ext cx="1005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Cubren tres procesos E2E distintos, evitando que el plan de sistemas concentre toda su capacidad en un solo frente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f8d29873df_0_708"/>
          <p:cNvSpPr/>
          <p:nvPr/>
        </p:nvSpPr>
        <p:spPr>
          <a:xfrm>
            <a:off x="457188" y="2057400"/>
            <a:ext cx="3639300" cy="4206300"/>
          </a:xfrm>
          <a:prstGeom prst="roundRect">
            <a:avLst>
              <a:gd fmla="val 25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f8d29873df_0_708"/>
          <p:cNvSpPr txBox="1"/>
          <p:nvPr/>
        </p:nvSpPr>
        <p:spPr>
          <a:xfrm>
            <a:off x="731501" y="2313432"/>
            <a:ext cx="309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DC1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f8d29873df_0_708"/>
          <p:cNvSpPr/>
          <p:nvPr/>
        </p:nvSpPr>
        <p:spPr>
          <a:xfrm>
            <a:off x="2679121" y="2377440"/>
            <a:ext cx="1143000" cy="384000"/>
          </a:xfrm>
          <a:prstGeom prst="roundRect">
            <a:avLst>
              <a:gd fmla="val 50000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f8d29873df_0_708"/>
          <p:cNvSpPr txBox="1"/>
          <p:nvPr/>
        </p:nvSpPr>
        <p:spPr>
          <a:xfrm>
            <a:off x="2679121" y="2377440"/>
            <a:ext cx="1143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4.70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f8d29873df_0_708"/>
          <p:cNvSpPr txBox="1"/>
          <p:nvPr/>
        </p:nvSpPr>
        <p:spPr>
          <a:xfrm>
            <a:off x="731501" y="2926080"/>
            <a:ext cx="309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808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50808E"/>
                </a:solidFill>
                <a:latin typeface="Calibri"/>
                <a:ea typeface="Calibri"/>
                <a:cs typeface="Calibri"/>
                <a:sym typeface="Calibri"/>
              </a:rPr>
              <a:t>E2E-1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f8d29873df_0_708"/>
          <p:cNvSpPr txBox="1"/>
          <p:nvPr/>
        </p:nvSpPr>
        <p:spPr>
          <a:xfrm>
            <a:off x="731501" y="3246120"/>
            <a:ext cx="3090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Baja digitalización de la originación de crédito Pyme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f8d29873df_0_708"/>
          <p:cNvSpPr txBox="1"/>
          <p:nvPr/>
        </p:nvSpPr>
        <p:spPr>
          <a:xfrm>
            <a:off x="731501" y="4343400"/>
            <a:ext cx="30906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El canal digital representa solo un tercio de las colocaciones, pese a resolver la operación en tres minutos promedio.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3f8d29873df_0_708"/>
          <p:cNvSpPr/>
          <p:nvPr/>
        </p:nvSpPr>
        <p:spPr>
          <a:xfrm>
            <a:off x="4215272" y="2057400"/>
            <a:ext cx="3639300" cy="4206300"/>
          </a:xfrm>
          <a:prstGeom prst="roundRect">
            <a:avLst>
              <a:gd fmla="val 25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f8d29873df_0_708"/>
          <p:cNvSpPr txBox="1"/>
          <p:nvPr/>
        </p:nvSpPr>
        <p:spPr>
          <a:xfrm>
            <a:off x="4489584" y="2313432"/>
            <a:ext cx="309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DC2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f8d29873df_0_708"/>
          <p:cNvSpPr/>
          <p:nvPr/>
        </p:nvSpPr>
        <p:spPr>
          <a:xfrm>
            <a:off x="6437204" y="2377440"/>
            <a:ext cx="1143000" cy="384000"/>
          </a:xfrm>
          <a:prstGeom prst="roundRect">
            <a:avLst>
              <a:gd fmla="val 50000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f8d29873df_0_708"/>
          <p:cNvSpPr txBox="1"/>
          <p:nvPr/>
        </p:nvSpPr>
        <p:spPr>
          <a:xfrm>
            <a:off x="6437204" y="2377440"/>
            <a:ext cx="1143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4.55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f8d29873df_0_708"/>
          <p:cNvSpPr txBox="1"/>
          <p:nvPr/>
        </p:nvSpPr>
        <p:spPr>
          <a:xfrm>
            <a:off x="4489584" y="2926080"/>
            <a:ext cx="309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808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50808E"/>
                </a:solidFill>
                <a:latin typeface="Calibri"/>
                <a:ea typeface="Calibri"/>
                <a:cs typeface="Calibri"/>
                <a:sym typeface="Calibri"/>
              </a:rPr>
              <a:t>E2E-2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f8d29873df_0_708"/>
          <p:cNvSpPr txBox="1"/>
          <p:nvPr/>
        </p:nvSpPr>
        <p:spPr>
          <a:xfrm>
            <a:off x="4489584" y="3246120"/>
            <a:ext cx="3090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Tiempo de resolución y exposición sancionatoria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f8d29873df_0_708"/>
          <p:cNvSpPr txBox="1"/>
          <p:nvPr/>
        </p:nvSpPr>
        <p:spPr>
          <a:xfrm>
            <a:off x="4489584" y="4343400"/>
            <a:ext cx="30906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Integra D5 y D7: la debilidad operativa en reclamos por operaciones no reconocidas y su consecuencia sancionatoria.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f8d29873df_0_708"/>
          <p:cNvSpPr/>
          <p:nvPr/>
        </p:nvSpPr>
        <p:spPr>
          <a:xfrm>
            <a:off x="7973355" y="2057400"/>
            <a:ext cx="3639300" cy="4206300"/>
          </a:xfrm>
          <a:prstGeom prst="roundRect">
            <a:avLst>
              <a:gd fmla="val 25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f8d29873df_0_708"/>
          <p:cNvSpPr txBox="1"/>
          <p:nvPr/>
        </p:nvSpPr>
        <p:spPr>
          <a:xfrm>
            <a:off x="8247668" y="2313432"/>
            <a:ext cx="309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DC3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f8d29873df_0_708"/>
          <p:cNvSpPr/>
          <p:nvPr/>
        </p:nvSpPr>
        <p:spPr>
          <a:xfrm>
            <a:off x="10195288" y="2377440"/>
            <a:ext cx="1143000" cy="384000"/>
          </a:xfrm>
          <a:prstGeom prst="roundRect">
            <a:avLst>
              <a:gd fmla="val 50000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f8d29873df_0_708"/>
          <p:cNvSpPr txBox="1"/>
          <p:nvPr/>
        </p:nvSpPr>
        <p:spPr>
          <a:xfrm>
            <a:off x="10195288" y="2377440"/>
            <a:ext cx="1143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4.40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f8d29873df_0_708"/>
          <p:cNvSpPr txBox="1"/>
          <p:nvPr/>
        </p:nvSpPr>
        <p:spPr>
          <a:xfrm>
            <a:off x="8247668" y="2926080"/>
            <a:ext cx="309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808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50808E"/>
                </a:solidFill>
                <a:latin typeface="Calibri"/>
                <a:ea typeface="Calibri"/>
                <a:cs typeface="Calibri"/>
                <a:sym typeface="Calibri"/>
              </a:rPr>
              <a:t>E2E-3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f8d29873df_0_708"/>
          <p:cNvSpPr txBox="1"/>
          <p:nvPr/>
        </p:nvSpPr>
        <p:spPr>
          <a:xfrm>
            <a:off x="8247668" y="3246120"/>
            <a:ext cx="3090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Penetración digital dispar en contratación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f8d29873df_0_708"/>
          <p:cNvSpPr txBox="1"/>
          <p:nvPr/>
        </p:nvSpPr>
        <p:spPr>
          <a:xfrm>
            <a:off x="8247668" y="4343400"/>
            <a:ext cx="30906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Dos de cada tres cuentas se contratan por canal asistido pese a existir una ruta de apertura íntegramente digital.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8d29873df_0_303"/>
          <p:cNvSpPr txBox="1"/>
          <p:nvPr/>
        </p:nvSpPr>
        <p:spPr>
          <a:xfrm>
            <a:off x="457188" y="822960"/>
            <a:ext cx="11246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41B4D"/>
                </a:solidFill>
                <a:latin typeface="Cambria"/>
                <a:ea typeface="Cambria"/>
                <a:cs typeface="Cambria"/>
                <a:sym typeface="Cambria"/>
              </a:rPr>
              <a:t>Indicadores base: DC1 y DC3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f8d29873df_0_303"/>
          <p:cNvSpPr txBox="1"/>
          <p:nvPr/>
        </p:nvSpPr>
        <p:spPr>
          <a:xfrm>
            <a:off x="457188" y="1417320"/>
            <a:ext cx="11246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Línea base pública, meta propuesta por el equipo (pendiente de validación con la entidad)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f8d29873df_0_303"/>
          <p:cNvSpPr/>
          <p:nvPr/>
        </p:nvSpPr>
        <p:spPr>
          <a:xfrm>
            <a:off x="457188" y="1965960"/>
            <a:ext cx="5440800" cy="411600"/>
          </a:xfrm>
          <a:prstGeom prst="roundRect">
            <a:avLst>
              <a:gd fmla="val 111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f8d29873df_0_303"/>
          <p:cNvSpPr txBox="1"/>
          <p:nvPr/>
        </p:nvSpPr>
        <p:spPr>
          <a:xfrm>
            <a:off x="457188" y="1965960"/>
            <a:ext cx="5440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DC1 · Originación de crédito Pyme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f8d29873df_0_303"/>
          <p:cNvSpPr/>
          <p:nvPr/>
        </p:nvSpPr>
        <p:spPr>
          <a:xfrm>
            <a:off x="457188" y="2450592"/>
            <a:ext cx="5440800" cy="640200"/>
          </a:xfrm>
          <a:prstGeom prst="roundRect">
            <a:avLst>
              <a:gd fmla="val 5714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f8d29873df_0_303"/>
          <p:cNvSpPr txBox="1"/>
          <p:nvPr/>
        </p:nvSpPr>
        <p:spPr>
          <a:xfrm>
            <a:off x="594344" y="2505456"/>
            <a:ext cx="301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Tasa de originación digital Pyme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f8d29873df_0_303"/>
          <p:cNvSpPr txBox="1"/>
          <p:nvPr/>
        </p:nvSpPr>
        <p:spPr>
          <a:xfrm>
            <a:off x="594344" y="2779776"/>
            <a:ext cx="301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Colocaciones digitales / total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f8d29873df_0_303"/>
          <p:cNvSpPr txBox="1"/>
          <p:nvPr/>
        </p:nvSpPr>
        <p:spPr>
          <a:xfrm>
            <a:off x="3703221" y="2450592"/>
            <a:ext cx="205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791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B4791E"/>
                </a:solidFill>
                <a:latin typeface="Calibri"/>
                <a:ea typeface="Calibri"/>
                <a:cs typeface="Calibri"/>
                <a:sym typeface="Calibri"/>
              </a:rPr>
              <a:t>33% → 60%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f8d29873df_0_303"/>
          <p:cNvSpPr/>
          <p:nvPr/>
        </p:nvSpPr>
        <p:spPr>
          <a:xfrm>
            <a:off x="457188" y="3163824"/>
            <a:ext cx="5440800" cy="64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f8d29873df_0_303"/>
          <p:cNvSpPr txBox="1"/>
          <p:nvPr/>
        </p:nvSpPr>
        <p:spPr>
          <a:xfrm>
            <a:off x="594344" y="3218688"/>
            <a:ext cx="301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Tiempo de ciclo digital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f8d29873df_0_303"/>
          <p:cNvSpPr txBox="1"/>
          <p:nvPr/>
        </p:nvSpPr>
        <p:spPr>
          <a:xfrm>
            <a:off x="594344" y="3493008"/>
            <a:ext cx="301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Solicitud a aprobación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f8d29873df_0_303"/>
          <p:cNvSpPr txBox="1"/>
          <p:nvPr/>
        </p:nvSpPr>
        <p:spPr>
          <a:xfrm>
            <a:off x="3703221" y="3163824"/>
            <a:ext cx="205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791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B4791E"/>
                </a:solidFill>
                <a:latin typeface="Calibri"/>
                <a:ea typeface="Calibri"/>
                <a:cs typeface="Calibri"/>
                <a:sym typeface="Calibri"/>
              </a:rPr>
              <a:t>3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f8d29873df_0_303"/>
          <p:cNvSpPr/>
          <p:nvPr/>
        </p:nvSpPr>
        <p:spPr>
          <a:xfrm>
            <a:off x="457188" y="3877056"/>
            <a:ext cx="5440800" cy="640200"/>
          </a:xfrm>
          <a:prstGeom prst="roundRect">
            <a:avLst>
              <a:gd fmla="val 5714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f8d29873df_0_303"/>
          <p:cNvSpPr txBox="1"/>
          <p:nvPr/>
        </p:nvSpPr>
        <p:spPr>
          <a:xfrm>
            <a:off x="594344" y="3931920"/>
            <a:ext cx="301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Transaccionalidad digital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f8d29873df_0_303"/>
          <p:cNvSpPr txBox="1"/>
          <p:nvPr/>
        </p:nvSpPr>
        <p:spPr>
          <a:xfrm>
            <a:off x="594344" y="4206240"/>
            <a:ext cx="301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Portafolio que transacciona en digital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f8d29873df_0_303"/>
          <p:cNvSpPr txBox="1"/>
          <p:nvPr/>
        </p:nvSpPr>
        <p:spPr>
          <a:xfrm>
            <a:off x="3703221" y="3877056"/>
            <a:ext cx="205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791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B4791E"/>
                </a:solidFill>
                <a:latin typeface="Calibri"/>
                <a:ea typeface="Calibri"/>
                <a:cs typeface="Calibri"/>
                <a:sym typeface="Calibri"/>
              </a:rPr>
              <a:t>75% → 85%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f8d29873df_0_303"/>
          <p:cNvSpPr/>
          <p:nvPr/>
        </p:nvSpPr>
        <p:spPr>
          <a:xfrm>
            <a:off x="457188" y="4590288"/>
            <a:ext cx="5440800" cy="64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f8d29873df_0_303"/>
          <p:cNvSpPr txBox="1"/>
          <p:nvPr/>
        </p:nvSpPr>
        <p:spPr>
          <a:xfrm>
            <a:off x="594344" y="4645152"/>
            <a:ext cx="301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NPS segmento Pyme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f8d29873df_0_303"/>
          <p:cNvSpPr txBox="1"/>
          <p:nvPr/>
        </p:nvSpPr>
        <p:spPr>
          <a:xfrm>
            <a:off x="594344" y="4919472"/>
            <a:ext cx="301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Índice de recomendación neta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f8d29873df_0_303"/>
          <p:cNvSpPr txBox="1"/>
          <p:nvPr/>
        </p:nvSpPr>
        <p:spPr>
          <a:xfrm>
            <a:off x="3703221" y="4590288"/>
            <a:ext cx="205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791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B4791E"/>
                </a:solidFill>
                <a:latin typeface="Calibri"/>
                <a:ea typeface="Calibri"/>
                <a:cs typeface="Calibri"/>
                <a:sym typeface="Calibri"/>
              </a:rPr>
              <a:t>33.6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f8d29873df_0_303"/>
          <p:cNvSpPr/>
          <p:nvPr/>
        </p:nvSpPr>
        <p:spPr>
          <a:xfrm>
            <a:off x="457188" y="5303520"/>
            <a:ext cx="5440800" cy="640200"/>
          </a:xfrm>
          <a:prstGeom prst="roundRect">
            <a:avLst>
              <a:gd fmla="val 5714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f8d29873df_0_303"/>
          <p:cNvSpPr txBox="1"/>
          <p:nvPr/>
        </p:nvSpPr>
        <p:spPr>
          <a:xfrm>
            <a:off x="594344" y="5358384"/>
            <a:ext cx="301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Clientes Pyme digitales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f8d29873df_0_303"/>
          <p:cNvSpPr txBox="1"/>
          <p:nvPr/>
        </p:nvSpPr>
        <p:spPr>
          <a:xfrm>
            <a:off x="594344" y="5632704"/>
            <a:ext cx="301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% que opera por canales digitales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f8d29873df_0_303"/>
          <p:cNvSpPr txBox="1"/>
          <p:nvPr/>
        </p:nvSpPr>
        <p:spPr>
          <a:xfrm>
            <a:off x="3703221" y="5303520"/>
            <a:ext cx="205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791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B4791E"/>
                </a:solidFill>
                <a:latin typeface="Calibri"/>
                <a:ea typeface="Calibri"/>
                <a:cs typeface="Calibri"/>
                <a:sym typeface="Calibri"/>
              </a:rPr>
              <a:t>74% → 85%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3f8d29873df_0_303"/>
          <p:cNvSpPr/>
          <p:nvPr/>
        </p:nvSpPr>
        <p:spPr>
          <a:xfrm>
            <a:off x="6263473" y="1965960"/>
            <a:ext cx="5440800" cy="411600"/>
          </a:xfrm>
          <a:prstGeom prst="roundRect">
            <a:avLst>
              <a:gd fmla="val 11111" name="adj"/>
            </a:avLst>
          </a:prstGeom>
          <a:solidFill>
            <a:srgbClr val="B479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f8d29873df_0_303"/>
          <p:cNvSpPr txBox="1"/>
          <p:nvPr/>
        </p:nvSpPr>
        <p:spPr>
          <a:xfrm>
            <a:off x="6263473" y="1965960"/>
            <a:ext cx="5440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DC3 · Contratación por canal digital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f8d29873df_0_303"/>
          <p:cNvSpPr/>
          <p:nvPr/>
        </p:nvSpPr>
        <p:spPr>
          <a:xfrm>
            <a:off x="6263473" y="2450592"/>
            <a:ext cx="5440800" cy="640200"/>
          </a:xfrm>
          <a:prstGeom prst="roundRect">
            <a:avLst>
              <a:gd fmla="val 5714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f8d29873df_0_303"/>
          <p:cNvSpPr txBox="1"/>
          <p:nvPr/>
        </p:nvSpPr>
        <p:spPr>
          <a:xfrm>
            <a:off x="6400629" y="2505456"/>
            <a:ext cx="301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Penetración digital en cuentas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f8d29873df_0_303"/>
          <p:cNvSpPr txBox="1"/>
          <p:nvPr/>
        </p:nvSpPr>
        <p:spPr>
          <a:xfrm>
            <a:off x="6400629" y="2779776"/>
            <a:ext cx="301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% contratado sin asistencia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f8d29873df_0_303"/>
          <p:cNvSpPr txBox="1"/>
          <p:nvPr/>
        </p:nvSpPr>
        <p:spPr>
          <a:xfrm>
            <a:off x="9509507" y="2450592"/>
            <a:ext cx="205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791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B4791E"/>
                </a:solidFill>
                <a:latin typeface="Calibri"/>
                <a:ea typeface="Calibri"/>
                <a:cs typeface="Calibri"/>
                <a:sym typeface="Calibri"/>
              </a:rPr>
              <a:t>33% → 55%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f8d29873df_0_303"/>
          <p:cNvSpPr/>
          <p:nvPr/>
        </p:nvSpPr>
        <p:spPr>
          <a:xfrm>
            <a:off x="6263473" y="3163824"/>
            <a:ext cx="5440800" cy="64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f8d29873df_0_303"/>
          <p:cNvSpPr txBox="1"/>
          <p:nvPr/>
        </p:nvSpPr>
        <p:spPr>
          <a:xfrm>
            <a:off x="6400629" y="3218688"/>
            <a:ext cx="301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Penetración en tarjetas de crédito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f8d29873df_0_303"/>
          <p:cNvSpPr txBox="1"/>
          <p:nvPr/>
        </p:nvSpPr>
        <p:spPr>
          <a:xfrm>
            <a:off x="6400629" y="3493008"/>
            <a:ext cx="301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% contratado sin asistencia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f8d29873df_0_303"/>
          <p:cNvSpPr txBox="1"/>
          <p:nvPr/>
        </p:nvSpPr>
        <p:spPr>
          <a:xfrm>
            <a:off x="9509507" y="3163824"/>
            <a:ext cx="205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791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B4791E"/>
                </a:solidFill>
                <a:latin typeface="Calibri"/>
                <a:ea typeface="Calibri"/>
                <a:cs typeface="Calibri"/>
                <a:sym typeface="Calibri"/>
              </a:rPr>
              <a:t>50% → 70%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f8d29873df_0_303"/>
          <p:cNvSpPr/>
          <p:nvPr/>
        </p:nvSpPr>
        <p:spPr>
          <a:xfrm>
            <a:off x="6263473" y="3877056"/>
            <a:ext cx="5440800" cy="640200"/>
          </a:xfrm>
          <a:prstGeom prst="roundRect">
            <a:avLst>
              <a:gd fmla="val 5714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f8d29873df_0_303"/>
          <p:cNvSpPr txBox="1"/>
          <p:nvPr/>
        </p:nvSpPr>
        <p:spPr>
          <a:xfrm>
            <a:off x="6400629" y="3931920"/>
            <a:ext cx="301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Penetración en préstamos de consumo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f8d29873df_0_303"/>
          <p:cNvSpPr txBox="1"/>
          <p:nvPr/>
        </p:nvSpPr>
        <p:spPr>
          <a:xfrm>
            <a:off x="6400629" y="4206240"/>
            <a:ext cx="301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% contratado sin asistencia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f8d29873df_0_303"/>
          <p:cNvSpPr txBox="1"/>
          <p:nvPr/>
        </p:nvSpPr>
        <p:spPr>
          <a:xfrm>
            <a:off x="9509507" y="3877056"/>
            <a:ext cx="205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791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B4791E"/>
                </a:solidFill>
                <a:latin typeface="Calibri"/>
                <a:ea typeface="Calibri"/>
                <a:cs typeface="Calibri"/>
                <a:sym typeface="Calibri"/>
              </a:rPr>
              <a:t>54% → 70%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f8d29873df_0_303"/>
          <p:cNvSpPr/>
          <p:nvPr/>
        </p:nvSpPr>
        <p:spPr>
          <a:xfrm>
            <a:off x="6263473" y="4590288"/>
            <a:ext cx="5440800" cy="64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f8d29873df_0_303"/>
          <p:cNvSpPr txBox="1"/>
          <p:nvPr/>
        </p:nvSpPr>
        <p:spPr>
          <a:xfrm>
            <a:off x="6400629" y="4645152"/>
            <a:ext cx="301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Ventas digitales totales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f8d29873df_0_303"/>
          <p:cNvSpPr txBox="1"/>
          <p:nvPr/>
        </p:nvSpPr>
        <p:spPr>
          <a:xfrm>
            <a:off x="6400629" y="4919472"/>
            <a:ext cx="301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% de ventas totales del banco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f8d29873df_0_303"/>
          <p:cNvSpPr txBox="1"/>
          <p:nvPr/>
        </p:nvSpPr>
        <p:spPr>
          <a:xfrm>
            <a:off x="9509507" y="4590288"/>
            <a:ext cx="205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791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B4791E"/>
                </a:solidFill>
                <a:latin typeface="Calibri"/>
                <a:ea typeface="Calibri"/>
                <a:cs typeface="Calibri"/>
                <a:sym typeface="Calibri"/>
              </a:rPr>
              <a:t>79.57% → 85%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f8d29873df_0_303"/>
          <p:cNvSpPr/>
          <p:nvPr/>
        </p:nvSpPr>
        <p:spPr>
          <a:xfrm>
            <a:off x="6263473" y="5303520"/>
            <a:ext cx="5440800" cy="640200"/>
          </a:xfrm>
          <a:prstGeom prst="roundRect">
            <a:avLst>
              <a:gd fmla="val 5714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f8d29873df_0_303"/>
          <p:cNvSpPr txBox="1"/>
          <p:nvPr/>
        </p:nvSpPr>
        <p:spPr>
          <a:xfrm>
            <a:off x="6400629" y="5358384"/>
            <a:ext cx="301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Costo de adquisición por canal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f8d29873df_0_303"/>
          <p:cNvSpPr txBox="1"/>
          <p:nvPr/>
        </p:nvSpPr>
        <p:spPr>
          <a:xfrm>
            <a:off x="6400629" y="5632704"/>
            <a:ext cx="301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Digital vs. asistido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f8d29873df_0_303"/>
          <p:cNvSpPr txBox="1"/>
          <p:nvPr/>
        </p:nvSpPr>
        <p:spPr>
          <a:xfrm>
            <a:off x="9509507" y="5303520"/>
            <a:ext cx="205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791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B4791E"/>
                </a:solidFill>
                <a:latin typeface="Calibri"/>
                <a:ea typeface="Calibri"/>
                <a:cs typeface="Calibri"/>
                <a:sym typeface="Calibri"/>
              </a:rPr>
              <a:t>Por definir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f8d29873df_0_303"/>
          <p:cNvSpPr txBox="1"/>
          <p:nvPr/>
        </p:nvSpPr>
        <p:spPr>
          <a:xfrm>
            <a:off x="11276994" y="649224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f8d29873df_0_357"/>
          <p:cNvSpPr txBox="1"/>
          <p:nvPr/>
        </p:nvSpPr>
        <p:spPr>
          <a:xfrm>
            <a:off x="457188" y="822960"/>
            <a:ext cx="11246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41B4D"/>
                </a:solidFill>
                <a:latin typeface="Cambria"/>
                <a:ea typeface="Cambria"/>
                <a:cs typeface="Cambria"/>
                <a:sym typeface="Cambria"/>
              </a:rPr>
              <a:t>Indicadores base: DC2 · Operaciones no reconocidas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f8d29873df_0_357"/>
          <p:cNvSpPr txBox="1"/>
          <p:nvPr/>
        </p:nvSpPr>
        <p:spPr>
          <a:xfrm>
            <a:off x="457188" y="1417320"/>
            <a:ext cx="11246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Cálculo propio con base en los reportes mensuales de reclamos (abril–junio 2026)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f8d29873df_0_357"/>
          <p:cNvSpPr/>
          <p:nvPr/>
        </p:nvSpPr>
        <p:spPr>
          <a:xfrm>
            <a:off x="457188" y="2011680"/>
            <a:ext cx="11292600" cy="457200"/>
          </a:xfrm>
          <a:prstGeom prst="roundRect">
            <a:avLst>
              <a:gd fmla="val 1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f8d29873df_0_357"/>
          <p:cNvSpPr txBox="1"/>
          <p:nvPr/>
        </p:nvSpPr>
        <p:spPr>
          <a:xfrm>
            <a:off x="640063" y="2011680"/>
            <a:ext cx="4937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Indicador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f8d29873df_0_357"/>
          <p:cNvSpPr txBox="1"/>
          <p:nvPr/>
        </p:nvSpPr>
        <p:spPr>
          <a:xfrm>
            <a:off x="5760566" y="2011680"/>
            <a:ext cx="283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Línea base (2T2026)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3f8d29873df_0_357"/>
          <p:cNvSpPr txBox="1"/>
          <p:nvPr/>
        </p:nvSpPr>
        <p:spPr>
          <a:xfrm>
            <a:off x="8778006" y="2011680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Referencia comparativa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f8d29873df_0_357"/>
          <p:cNvSpPr/>
          <p:nvPr/>
        </p:nvSpPr>
        <p:spPr>
          <a:xfrm>
            <a:off x="457188" y="2560320"/>
            <a:ext cx="11292600" cy="658500"/>
          </a:xfrm>
          <a:prstGeom prst="roundRect">
            <a:avLst>
              <a:gd fmla="val 5556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f8d29873df_0_357"/>
          <p:cNvSpPr txBox="1"/>
          <p:nvPr/>
        </p:nvSpPr>
        <p:spPr>
          <a:xfrm>
            <a:off x="640063" y="2560320"/>
            <a:ext cx="4937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Tiempo promedio de absolución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f8d29873df_0_357"/>
          <p:cNvSpPr txBox="1"/>
          <p:nvPr/>
        </p:nvSpPr>
        <p:spPr>
          <a:xfrm>
            <a:off x="5760566" y="2560320"/>
            <a:ext cx="2834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11.29 días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f8d29873df_0_357"/>
          <p:cNvSpPr txBox="1"/>
          <p:nvPr/>
        </p:nvSpPr>
        <p:spPr>
          <a:xfrm>
            <a:off x="8778006" y="2560320"/>
            <a:ext cx="2788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8.02 días (todos los reclamos)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3f8d29873df_0_357"/>
          <p:cNvSpPr/>
          <p:nvPr/>
        </p:nvSpPr>
        <p:spPr>
          <a:xfrm>
            <a:off x="457188" y="3291840"/>
            <a:ext cx="11292600" cy="6585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f8d29873df_0_357"/>
          <p:cNvSpPr txBox="1"/>
          <p:nvPr/>
        </p:nvSpPr>
        <p:spPr>
          <a:xfrm>
            <a:off x="640063" y="3291840"/>
            <a:ext cx="4937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Tasa de resolución a favor del usuario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f8d29873df_0_357"/>
          <p:cNvSpPr txBox="1"/>
          <p:nvPr/>
        </p:nvSpPr>
        <p:spPr>
          <a:xfrm>
            <a:off x="5760566" y="3291840"/>
            <a:ext cx="2834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21.63%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f8d29873df_0_357"/>
          <p:cNvSpPr txBox="1"/>
          <p:nvPr/>
        </p:nvSpPr>
        <p:spPr>
          <a:xfrm>
            <a:off x="8778006" y="3291840"/>
            <a:ext cx="2788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29.43% (todos los reclamos)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f8d29873df_0_357"/>
          <p:cNvSpPr/>
          <p:nvPr/>
        </p:nvSpPr>
        <p:spPr>
          <a:xfrm>
            <a:off x="457188" y="4023360"/>
            <a:ext cx="11292600" cy="658500"/>
          </a:xfrm>
          <a:prstGeom prst="roundRect">
            <a:avLst>
              <a:gd fmla="val 5556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f8d29873df_0_357"/>
          <p:cNvSpPr txBox="1"/>
          <p:nvPr/>
        </p:nvSpPr>
        <p:spPr>
          <a:xfrm>
            <a:off x="640063" y="4023360"/>
            <a:ext cx="4937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Incidencia de reclamos de la materia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f8d29873df_0_357"/>
          <p:cNvSpPr txBox="1"/>
          <p:nvPr/>
        </p:nvSpPr>
        <p:spPr>
          <a:xfrm>
            <a:off x="5760566" y="4023360"/>
            <a:ext cx="2834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3.03 / 100 mil op.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f8d29873df_0_357"/>
          <p:cNvSpPr txBox="1"/>
          <p:nvPr/>
        </p:nvSpPr>
        <p:spPr>
          <a:xfrm>
            <a:off x="8778006" y="4023360"/>
            <a:ext cx="2788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15.17 / 100 mil (todos)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f8d29873df_0_357"/>
          <p:cNvSpPr/>
          <p:nvPr/>
        </p:nvSpPr>
        <p:spPr>
          <a:xfrm>
            <a:off x="457188" y="4754880"/>
            <a:ext cx="11292600" cy="6585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f8d29873df_0_357"/>
          <p:cNvSpPr txBox="1"/>
          <p:nvPr/>
        </p:nvSpPr>
        <p:spPr>
          <a:xfrm>
            <a:off x="640063" y="4754880"/>
            <a:ext cx="4937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Volumen absuelto de la materia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f8d29873df_0_357"/>
          <p:cNvSpPr txBox="1"/>
          <p:nvPr/>
        </p:nvSpPr>
        <p:spPr>
          <a:xfrm>
            <a:off x="5760566" y="4754880"/>
            <a:ext cx="2834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13,959 casos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f8d29873df_0_357"/>
          <p:cNvSpPr txBox="1"/>
          <p:nvPr/>
        </p:nvSpPr>
        <p:spPr>
          <a:xfrm>
            <a:off x="8778006" y="4754880"/>
            <a:ext cx="2788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69,939 total absueltos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f8d29873df_0_357"/>
          <p:cNvSpPr/>
          <p:nvPr/>
        </p:nvSpPr>
        <p:spPr>
          <a:xfrm>
            <a:off x="457188" y="5486400"/>
            <a:ext cx="11292600" cy="658500"/>
          </a:xfrm>
          <a:prstGeom prst="roundRect">
            <a:avLst>
              <a:gd fmla="val 5556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f8d29873df_0_357"/>
          <p:cNvSpPr txBox="1"/>
          <p:nvPr/>
        </p:nvSpPr>
        <p:spPr>
          <a:xfrm>
            <a:off x="640063" y="5486400"/>
            <a:ext cx="4937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Trazabilidad en autoservicio (Blue Buddy)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f8d29873df_0_357"/>
          <p:cNvSpPr txBox="1"/>
          <p:nvPr/>
        </p:nvSpPr>
        <p:spPr>
          <a:xfrm>
            <a:off x="5760566" y="5486400"/>
            <a:ext cx="2834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90% adopción interna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f8d29873df_0_357"/>
          <p:cNvSpPr txBox="1"/>
          <p:nvPr/>
        </p:nvSpPr>
        <p:spPr>
          <a:xfrm>
            <a:off x="8778006" y="5486400"/>
            <a:ext cx="2788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Meta: 100% trazable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f8d29873df_0_357"/>
          <p:cNvSpPr txBox="1"/>
          <p:nvPr/>
        </p:nvSpPr>
        <p:spPr>
          <a:xfrm>
            <a:off x="11276994" y="649224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f8d29873df_0_391"/>
          <p:cNvSpPr txBox="1"/>
          <p:nvPr/>
        </p:nvSpPr>
        <p:spPr>
          <a:xfrm>
            <a:off x="457188" y="822960"/>
            <a:ext cx="11246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41B4D"/>
                </a:solidFill>
                <a:latin typeface="Cambria"/>
                <a:ea typeface="Cambria"/>
                <a:cs typeface="Cambria"/>
                <a:sym typeface="Cambria"/>
              </a:rPr>
              <a:t>Vacíos de información y condiciones antes de formular iniciativas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f8d29873df_0_391"/>
          <p:cNvSpPr/>
          <p:nvPr/>
        </p:nvSpPr>
        <p:spPr>
          <a:xfrm>
            <a:off x="457188" y="1965960"/>
            <a:ext cx="3566100" cy="1554600"/>
          </a:xfrm>
          <a:prstGeom prst="roundRect">
            <a:avLst>
              <a:gd fmla="val 4706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f8d29873df_0_391"/>
          <p:cNvSpPr txBox="1"/>
          <p:nvPr/>
        </p:nvSpPr>
        <p:spPr>
          <a:xfrm>
            <a:off x="457188" y="2103120"/>
            <a:ext cx="3566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9 / 20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g3f8d29873df_0_391"/>
          <p:cNvSpPr txBox="1"/>
          <p:nvPr/>
        </p:nvSpPr>
        <p:spPr>
          <a:xfrm>
            <a:off x="594344" y="2743200"/>
            <a:ext cx="3291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indicadores cuentan con línea base pública verificable; 11 requieren levantamiento interno.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f8d29873df_0_391"/>
          <p:cNvSpPr/>
          <p:nvPr/>
        </p:nvSpPr>
        <p:spPr>
          <a:xfrm>
            <a:off x="4251847" y="1965960"/>
            <a:ext cx="384000" cy="384000"/>
          </a:xfrm>
          <a:prstGeom prst="roundRect">
            <a:avLst>
              <a:gd fmla="val 50000" name="adj"/>
            </a:avLst>
          </a:prstGeom>
          <a:solidFill>
            <a:srgbClr val="B479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f8d29873df_0_391"/>
          <p:cNvSpPr txBox="1"/>
          <p:nvPr/>
        </p:nvSpPr>
        <p:spPr>
          <a:xfrm>
            <a:off x="4251847" y="196596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g3f8d29873df_0_391"/>
          <p:cNvSpPr txBox="1"/>
          <p:nvPr/>
        </p:nvSpPr>
        <p:spPr>
          <a:xfrm>
            <a:off x="4754753" y="1947672"/>
            <a:ext cx="6949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Establecer una línea base homogénea: mismo periodo de corte y mismo universo de medición.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f8d29873df_0_391"/>
          <p:cNvSpPr/>
          <p:nvPr/>
        </p:nvSpPr>
        <p:spPr>
          <a:xfrm>
            <a:off x="4251847" y="2532888"/>
            <a:ext cx="384000" cy="384000"/>
          </a:xfrm>
          <a:prstGeom prst="roundRect">
            <a:avLst>
              <a:gd fmla="val 50000" name="adj"/>
            </a:avLst>
          </a:prstGeom>
          <a:solidFill>
            <a:srgbClr val="B479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3f8d29873df_0_391"/>
          <p:cNvSpPr txBox="1"/>
          <p:nvPr/>
        </p:nvSpPr>
        <p:spPr>
          <a:xfrm>
            <a:off x="4251847" y="253288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f8d29873df_0_391"/>
          <p:cNvSpPr txBox="1"/>
          <p:nvPr/>
        </p:nvSpPr>
        <p:spPr>
          <a:xfrm>
            <a:off x="4754753" y="2514600"/>
            <a:ext cx="6949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Definir la fuente de dato autoritativa para cada indicador dentro de la plataforma de datos.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f8d29873df_0_391"/>
          <p:cNvSpPr/>
          <p:nvPr/>
        </p:nvSpPr>
        <p:spPr>
          <a:xfrm>
            <a:off x="4251847" y="3099816"/>
            <a:ext cx="384000" cy="384000"/>
          </a:xfrm>
          <a:prstGeom prst="roundRect">
            <a:avLst>
              <a:gd fmla="val 50000" name="adj"/>
            </a:avLst>
          </a:prstGeom>
          <a:solidFill>
            <a:srgbClr val="B479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f8d29873df_0_391"/>
          <p:cNvSpPr txBox="1"/>
          <p:nvPr/>
        </p:nvSpPr>
        <p:spPr>
          <a:xfrm>
            <a:off x="4251847" y="309981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f8d29873df_0_391"/>
          <p:cNvSpPr txBox="1"/>
          <p:nvPr/>
        </p:nvSpPr>
        <p:spPr>
          <a:xfrm>
            <a:off x="4754753" y="3081528"/>
            <a:ext cx="6949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Fijar la frecuencia de medición y el responsable de cada indicador.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f8d29873df_0_391"/>
          <p:cNvSpPr/>
          <p:nvPr/>
        </p:nvSpPr>
        <p:spPr>
          <a:xfrm>
            <a:off x="457188" y="3794760"/>
            <a:ext cx="11292600" cy="2148900"/>
          </a:xfrm>
          <a:prstGeom prst="roundRect">
            <a:avLst>
              <a:gd fmla="val 3404" name="adj"/>
            </a:avLst>
          </a:prstGeom>
          <a:solidFill>
            <a:srgbClr val="F4F6FB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f8d29873df_0_391"/>
          <p:cNvSpPr txBox="1"/>
          <p:nvPr/>
        </p:nvSpPr>
        <p:spPr>
          <a:xfrm>
            <a:off x="685782" y="3950208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Cortes de medición distintos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f8d29873df_0_391"/>
          <p:cNvSpPr txBox="1"/>
          <p:nvPr/>
        </p:nvSpPr>
        <p:spPr>
          <a:xfrm>
            <a:off x="685782" y="4279392"/>
            <a:ext cx="5486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Junio 2026 </a:t>
            </a:r>
            <a:r>
              <a:rPr lang="en-US" sz="11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— informe de gestión trimestral y reportes mensuales de reclamos</a:t>
            </a:r>
            <a:br>
              <a:rPr lang="en-US" sz="11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Diciembre 2025 </a:t>
            </a:r>
            <a:r>
              <a:rPr lang="en-US" sz="11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— memoria anual e informe de gestión del cuarto trimestre</a:t>
            </a:r>
            <a:br>
              <a:rPr lang="en-US" sz="11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Marzo 2026 </a:t>
            </a:r>
            <a:r>
              <a:rPr lang="en-US" sz="115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— indicadores sectoriales (SBS)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f8d29873df_0_391"/>
          <p:cNvSpPr txBox="1"/>
          <p:nvPr/>
        </p:nvSpPr>
        <p:spPr>
          <a:xfrm>
            <a:off x="6492067" y="3950208"/>
            <a:ext cx="49377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Los tres dolores críticos cubren procesos E2E distintos y se vinculan a los objetivos OE1, OE3, OE4, OE5 y OE6, sentando la base para formular las iniciativas del plan estratégico de sistemas de información en la siguiente práctica.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f8d29873df_0_391"/>
          <p:cNvSpPr txBox="1"/>
          <p:nvPr/>
        </p:nvSpPr>
        <p:spPr>
          <a:xfrm>
            <a:off x="11276994" y="649224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2026-09-12T18:40:27Z</dcterms:created>
</cp:coreProperties>
</file>