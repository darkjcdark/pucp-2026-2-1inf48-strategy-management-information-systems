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87" r:id="rId3"/>
    <p:sldId id="257" r:id="rId4"/>
    <p:sldId id="258" r:id="rId5"/>
    <p:sldId id="288" r:id="rId6"/>
    <p:sldId id="289" r:id="rId7"/>
    <p:sldId id="290" r:id="rId8"/>
    <p:sldId id="291" r:id="rId9"/>
    <p:sldId id="259" r:id="rId10"/>
    <p:sldId id="292" r:id="rId11"/>
    <p:sldId id="293" r:id="rId12"/>
    <p:sldId id="294" r:id="rId13"/>
    <p:sldId id="260" r:id="rId14"/>
    <p:sldId id="295" r:id="rId15"/>
    <p:sldId id="299" r:id="rId16"/>
    <p:sldId id="296" r:id="rId17"/>
    <p:sldId id="297" r:id="rId18"/>
    <p:sldId id="300" r:id="rId19"/>
    <p:sldId id="29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EFD"/>
    <a:srgbClr val="E0F2DE"/>
    <a:srgbClr val="F2D7D9"/>
    <a:srgbClr val="FF7C80"/>
    <a:srgbClr val="FFF4B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5B46A-E098-4821-9D70-6D40F69ADAEE}" type="datetimeFigureOut">
              <a:rPr lang="es-PE" smtClean="0"/>
              <a:t>25/10/2026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B95A4-7B8E-4598-AE6E-23B41924561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4170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B95A4-7B8E-4598-AE6E-23B419245617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17755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B95A4-7B8E-4598-AE6E-23B419245617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5651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B95A4-7B8E-4598-AE6E-23B419245617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14628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B95A4-7B8E-4598-AE6E-23B419245617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8746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B95A4-7B8E-4598-AE6E-23B419245617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64004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CB95A4-7B8E-4598-AE6E-23B419245617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054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98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58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626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411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57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098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629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67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727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68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11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88976"/>
            <a:ext cx="109728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981201"/>
            <a:ext cx="10972800" cy="41449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CA93574B-4B58-4DCE-B54F-182BE2378CDD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6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3C317-502D-4D67-967C-433A2C88865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8C6A3-F968-45C7-90E2-2440E036F7F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 userDrawn="1"/>
        </p:nvSpPr>
        <p:spPr bwMode="auto">
          <a:xfrm>
            <a:off x="76200" y="1365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FACULTAD DE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CIENCIAS 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INGENIERÍA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1.png"/>
          <p:cNvPicPr/>
          <p:nvPr userDrawn="1"/>
        </p:nvPicPr>
        <p:blipFill>
          <a:blip r:embed="rId14"/>
          <a:srcRect l="9422" t="21345" r="9526" b="20691"/>
          <a:stretch>
            <a:fillRect/>
          </a:stretch>
        </p:blipFill>
        <p:spPr>
          <a:xfrm>
            <a:off x="10807700" y="68104"/>
            <a:ext cx="1289050" cy="45910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5377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ESTRATEGIA Y GESTION DE SISTEMAS DE INFORMACION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1INF48</a:t>
            </a:r>
          </a:p>
          <a:p>
            <a:r>
              <a:rPr lang="es-ES" dirty="0"/>
              <a:t>Capítulo 9 – Portafolio de Proyectos y Business Case</a:t>
            </a:r>
          </a:p>
          <a:p>
            <a:endParaRPr lang="es-E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41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¿Dónde estamos en el PETI?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Esta clase continúa la cadena del PETI: ya analizamos las aplicaciones e infraestructura; hoy analizamos el portafolio de proyectos.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02920" y="6438556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8" name="Shape 8"/>
          <p:cNvSpPr/>
          <p:nvPr/>
        </p:nvSpPr>
        <p:spPr>
          <a:xfrm>
            <a:off x="56692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Entendimiento del negocio</a:t>
            </a:r>
          </a:p>
        </p:txBody>
      </p:sp>
      <p:sp>
        <p:nvSpPr>
          <p:cNvPr id="9" name="Shape 9"/>
          <p:cNvSpPr/>
          <p:nvPr/>
        </p:nvSpPr>
        <p:spPr>
          <a:xfrm>
            <a:off x="202996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Influencias externas</a:t>
            </a:r>
          </a:p>
        </p:txBody>
      </p:sp>
      <p:sp>
        <p:nvSpPr>
          <p:cNvPr id="10" name="Shape 10"/>
          <p:cNvSpPr/>
          <p:nvPr/>
        </p:nvSpPr>
        <p:spPr>
          <a:xfrm>
            <a:off x="349300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Estrategia de TI</a:t>
            </a:r>
          </a:p>
        </p:txBody>
      </p:sp>
      <p:sp>
        <p:nvSpPr>
          <p:cNvPr id="11" name="Shape 11"/>
          <p:cNvSpPr/>
          <p:nvPr/>
        </p:nvSpPr>
        <p:spPr>
          <a:xfrm>
            <a:off x="495604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Demanda de TI actual y futura</a:t>
            </a:r>
          </a:p>
        </p:txBody>
      </p:sp>
      <p:sp>
        <p:nvSpPr>
          <p:cNvPr id="12" name="Shape 12"/>
          <p:cNvSpPr/>
          <p:nvPr/>
        </p:nvSpPr>
        <p:spPr>
          <a:xfrm>
            <a:off x="641908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/>
            <a:r>
              <a:rPr lang="es-PE" sz="1100" dirty="0">
                <a:solidFill>
                  <a:srgbClr val="182B46"/>
                </a:solidFill>
                <a:latin typeface="Calibri"/>
              </a:rPr>
              <a:t>Oferta de TI actual y requerida</a:t>
            </a:r>
          </a:p>
        </p:txBody>
      </p:sp>
      <p:sp>
        <p:nvSpPr>
          <p:cNvPr id="13" name="Shape 13"/>
          <p:cNvSpPr/>
          <p:nvPr/>
        </p:nvSpPr>
        <p:spPr>
          <a:xfrm>
            <a:off x="7882128" y="1828800"/>
            <a:ext cx="1371600" cy="77724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/>
            <a:r>
              <a:rPr lang="es-PE" sz="1100" b="1" dirty="0">
                <a:solidFill>
                  <a:srgbClr val="182B46"/>
                </a:solidFill>
                <a:latin typeface="Calibri"/>
              </a:rPr>
              <a:t>Roadmap de proyectos de TI</a:t>
            </a:r>
          </a:p>
        </p:txBody>
      </p:sp>
      <p:sp>
        <p:nvSpPr>
          <p:cNvPr id="14" name="Shape 14"/>
          <p:cNvSpPr/>
          <p:nvPr/>
        </p:nvSpPr>
        <p:spPr>
          <a:xfrm>
            <a:off x="9345168" y="1828800"/>
            <a:ext cx="1371600" cy="7772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s-PE" sz="1100" b="0" i="0" dirty="0">
                <a:solidFill>
                  <a:srgbClr val="182B46"/>
                </a:solidFill>
                <a:latin typeface="Calibri"/>
              </a:rPr>
              <a:t>Modelo operativo de TI</a:t>
            </a:r>
          </a:p>
        </p:txBody>
      </p:sp>
      <p:sp>
        <p:nvSpPr>
          <p:cNvPr id="15" name="Shape 15"/>
          <p:cNvSpPr/>
          <p:nvPr/>
        </p:nvSpPr>
        <p:spPr>
          <a:xfrm>
            <a:off x="566928" y="3261360"/>
            <a:ext cx="2834640" cy="288036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Lo ya trabajado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Negocio, estrategia y demanda de TI.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Portafolio de aplicaciones: AS IS y TO BE.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b="0" i="0" dirty="0">
                <a:solidFill>
                  <a:srgbClr val="2A3542"/>
                </a:solidFill>
                <a:latin typeface="Calibri"/>
              </a:rPr>
              <a:t>Infraestructura requerida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092440" y="3300984"/>
            <a:ext cx="2834640" cy="288036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PE" sz="1200" b="1" i="0" dirty="0">
                <a:solidFill>
                  <a:srgbClr val="2467AB"/>
                </a:solidFill>
                <a:latin typeface="Calibri"/>
              </a:rPr>
              <a:t>Lo que hacemos hoy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PE" sz="1250" b="0" i="0" dirty="0">
                <a:solidFill>
                  <a:srgbClr val="2A3542"/>
                </a:solidFill>
                <a:latin typeface="Calibri"/>
              </a:rPr>
              <a:t>Portafolio de proyectos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H</a:t>
            </a:r>
            <a:r>
              <a:rPr lang="es-PE" sz="1250" dirty="0" err="1">
                <a:solidFill>
                  <a:srgbClr val="2A3542"/>
                </a:solidFill>
                <a:latin typeface="Calibri"/>
              </a:rPr>
              <a:t>oja</a:t>
            </a:r>
            <a:r>
              <a:rPr lang="es-PE" sz="1250" dirty="0">
                <a:solidFill>
                  <a:srgbClr val="2A3542"/>
                </a:solidFill>
                <a:latin typeface="Calibri"/>
              </a:rPr>
              <a:t> de Ruta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B</a:t>
            </a:r>
            <a:r>
              <a:rPr lang="es-PE" sz="1250" dirty="0" err="1">
                <a:solidFill>
                  <a:srgbClr val="2A3542"/>
                </a:solidFill>
                <a:latin typeface="Calibri"/>
              </a:rPr>
              <a:t>usiness</a:t>
            </a:r>
            <a:r>
              <a:rPr lang="es-PE" sz="1250" dirty="0">
                <a:solidFill>
                  <a:srgbClr val="2A3542"/>
                </a:solidFill>
                <a:latin typeface="Calibri"/>
              </a:rPr>
              <a:t> case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F</a:t>
            </a:r>
            <a:r>
              <a:rPr lang="es-PE" sz="1250" dirty="0" err="1">
                <a:solidFill>
                  <a:srgbClr val="2A3542"/>
                </a:solidFill>
                <a:latin typeface="Calibri"/>
              </a:rPr>
              <a:t>icha</a:t>
            </a:r>
            <a:r>
              <a:rPr lang="es-PE" sz="1250" dirty="0">
                <a:solidFill>
                  <a:srgbClr val="2A3542"/>
                </a:solidFill>
                <a:latin typeface="Calibri"/>
              </a:rPr>
              <a:t> de Proyecto</a:t>
            </a:r>
          </a:p>
          <a:p>
            <a:pPr marL="171450" indent="-171450" algn="l">
              <a:spcAft>
                <a:spcPts val="300"/>
              </a:spcAft>
              <a:buFont typeface="Arial"/>
              <a:buChar char="•"/>
            </a:pP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¿Por qué no podemos ejecutar todas las iniciativas?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B0A33702-BA1F-46D7-84D9-908BAC287AC5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sp>
        <p:nvSpPr>
          <p:cNvPr id="25" name="AutoShape 2" descr="Imagen generada 1">
            <a:extLst>
              <a:ext uri="{FF2B5EF4-FFF2-40B4-BE49-F238E27FC236}">
                <a16:creationId xmlns:a16="http://schemas.microsoft.com/office/drawing/2014/main" id="{DD4556AC-3FD2-4B35-98E4-685E50718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C4901AD4-BE8F-4DB7-B3B5-3ABDCCE7C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28007"/>
            <a:ext cx="4948237" cy="3062539"/>
          </a:xfrm>
          <a:prstGeom prst="rect">
            <a:avLst/>
          </a:prstGeom>
        </p:spPr>
      </p:pic>
      <p:sp>
        <p:nvSpPr>
          <p:cNvPr id="28" name="Shape 8">
            <a:extLst>
              <a:ext uri="{FF2B5EF4-FFF2-40B4-BE49-F238E27FC236}">
                <a16:creationId xmlns:a16="http://schemas.microsoft.com/office/drawing/2014/main" id="{EAFC2159-A847-4B26-86BD-9B52CF0F1187}"/>
              </a:ext>
            </a:extLst>
          </p:cNvPr>
          <p:cNvSpPr/>
          <p:nvPr/>
        </p:nvSpPr>
        <p:spPr>
          <a:xfrm>
            <a:off x="538162" y="2198166"/>
            <a:ext cx="4983480" cy="785606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sz="1600" i="1" dirty="0">
                <a:solidFill>
                  <a:srgbClr val="182B46"/>
                </a:solidFill>
                <a:latin typeface="Calibri"/>
              </a:rPr>
              <a:t>Las </a:t>
            </a: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organizaciones</a:t>
            </a:r>
            <a:r>
              <a:rPr lang="en-US" sz="1600" i="1" dirty="0">
                <a:solidFill>
                  <a:srgbClr val="182B46"/>
                </a:solidFill>
                <a:latin typeface="Calibri"/>
              </a:rPr>
              <a:t> </a:t>
            </a: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identifican</a:t>
            </a:r>
            <a:r>
              <a:rPr lang="en-US" sz="1600" i="1" dirty="0">
                <a:solidFill>
                  <a:srgbClr val="182B46"/>
                </a:solidFill>
                <a:latin typeface="Calibri"/>
              </a:rPr>
              <a:t> </a:t>
            </a: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más</a:t>
            </a:r>
            <a:r>
              <a:rPr lang="en-US" sz="1600" i="1" dirty="0">
                <a:solidFill>
                  <a:srgbClr val="182B46"/>
                </a:solidFill>
                <a:latin typeface="Calibri"/>
              </a:rPr>
              <a:t> </a:t>
            </a: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iniciativas</a:t>
            </a:r>
            <a:r>
              <a:rPr lang="en-US" sz="1600" i="1" dirty="0">
                <a:solidFill>
                  <a:srgbClr val="182B46"/>
                </a:solidFill>
                <a:latin typeface="Calibri"/>
              </a:rPr>
              <a:t> de TI de las que </a:t>
            </a: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pueden</a:t>
            </a:r>
            <a:r>
              <a:rPr lang="en-US" sz="1600" i="1" dirty="0">
                <a:solidFill>
                  <a:srgbClr val="182B46"/>
                </a:solidFill>
                <a:latin typeface="Calibri"/>
              </a:rPr>
              <a:t> </a:t>
            </a: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financiar</a:t>
            </a:r>
            <a:r>
              <a:rPr lang="en-US" sz="1600" i="1" dirty="0">
                <a:solidFill>
                  <a:srgbClr val="182B46"/>
                </a:solidFill>
                <a:latin typeface="Calibri"/>
              </a:rPr>
              <a:t> o </a:t>
            </a: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ejecutar</a:t>
            </a:r>
            <a:r>
              <a:rPr lang="en-US" sz="1600" i="1" dirty="0">
                <a:solidFill>
                  <a:srgbClr val="182B46"/>
                </a:solidFill>
                <a:latin typeface="Calibri"/>
              </a:rPr>
              <a:t>.</a:t>
            </a:r>
            <a:endParaRPr lang="es-PE" sz="1600" i="1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ECC371C6-05F3-4BA0-AD76-802797EDB168}"/>
              </a:ext>
            </a:extLst>
          </p:cNvPr>
          <p:cNvSpPr/>
          <p:nvPr/>
        </p:nvSpPr>
        <p:spPr>
          <a:xfrm>
            <a:off x="502920" y="4212216"/>
            <a:ext cx="4983480" cy="785606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s-ES" sz="1600" i="1" dirty="0">
                <a:solidFill>
                  <a:srgbClr val="182B46"/>
                </a:solidFill>
                <a:latin typeface="Calibri"/>
              </a:rPr>
              <a:t>Elegir iniciativas exige considerar su contribución a la estrategia y el valor esperado.</a:t>
            </a: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A4A08557-C9A2-4740-A4CA-791D15B2F4C3}"/>
              </a:ext>
            </a:extLst>
          </p:cNvPr>
          <p:cNvSpPr/>
          <p:nvPr/>
        </p:nvSpPr>
        <p:spPr>
          <a:xfrm>
            <a:off x="502920" y="3209817"/>
            <a:ext cx="4983480" cy="785606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>
              <a:lnSpc>
                <a:spcPct val="115000"/>
              </a:lnSpc>
              <a:tabLst>
                <a:tab pos="228600" algn="l"/>
              </a:tabLst>
            </a:pPr>
            <a:r>
              <a:rPr lang="es-ES" sz="1600" i="1" dirty="0">
                <a:solidFill>
                  <a:srgbClr val="182B46"/>
                </a:solidFill>
                <a:latin typeface="Calibri"/>
              </a:rPr>
              <a:t>Los recursos son limitados: presupuesto, personas, tiempo y capacidades tecnológicas.</a:t>
            </a: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D3E85FF3-4BC1-44B1-8BCE-AAD956757BE9}"/>
              </a:ext>
            </a:extLst>
          </p:cNvPr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¿Qué es un portafolio de proyectos de TI?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B0A33702-BA1F-46D7-84D9-908BAC287AC5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sp>
        <p:nvSpPr>
          <p:cNvPr id="25" name="AutoShape 2" descr="Imagen generada 1">
            <a:extLst>
              <a:ext uri="{FF2B5EF4-FFF2-40B4-BE49-F238E27FC236}">
                <a16:creationId xmlns:a16="http://schemas.microsoft.com/office/drawing/2014/main" id="{DD4556AC-3FD2-4B35-98E4-685E50718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965D75-2B8A-47A6-A111-97804ED68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12" y="1540383"/>
            <a:ext cx="7800975" cy="515302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1451C08-317B-4BF7-B644-0E1023847725}"/>
              </a:ext>
            </a:extLst>
          </p:cNvPr>
          <p:cNvSpPr/>
          <p:nvPr/>
        </p:nvSpPr>
        <p:spPr>
          <a:xfrm>
            <a:off x="3047999" y="2300417"/>
            <a:ext cx="6096000" cy="115749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Portafolio</a:t>
            </a:r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Conjunto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proyectos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iniciativas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gestionados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manera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coordinada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alcanzar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objetivos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estratégicos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3AA9E31-2A56-4B0B-8C78-245828642F2E}"/>
              </a:ext>
            </a:extLst>
          </p:cNvPr>
          <p:cNvSpPr/>
          <p:nvPr/>
        </p:nvSpPr>
        <p:spPr>
          <a:xfrm>
            <a:off x="2748786" y="5263155"/>
            <a:ext cx="1444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/>
              <a:t>Proyectos de </a:t>
            </a:r>
          </a:p>
          <a:p>
            <a:r>
              <a:rPr lang="es-PE"/>
              <a:t>desarrollo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2744883-63BA-409D-B5C3-F0CB016B2DCF}"/>
              </a:ext>
            </a:extLst>
          </p:cNvPr>
          <p:cNvSpPr/>
          <p:nvPr/>
        </p:nvSpPr>
        <p:spPr>
          <a:xfrm>
            <a:off x="4517919" y="5278215"/>
            <a:ext cx="1444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Proyectos de </a:t>
            </a:r>
          </a:p>
          <a:p>
            <a:r>
              <a:rPr lang="es-PE" dirty="0"/>
              <a:t>eficiencia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4DC4C25-2298-4C4B-B326-EE4DFE8ED05F}"/>
              </a:ext>
            </a:extLst>
          </p:cNvPr>
          <p:cNvSpPr/>
          <p:nvPr/>
        </p:nvSpPr>
        <p:spPr>
          <a:xfrm>
            <a:off x="6287052" y="5278526"/>
            <a:ext cx="14851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Proyectos de </a:t>
            </a:r>
          </a:p>
          <a:p>
            <a:r>
              <a:rPr lang="es-PE" dirty="0"/>
              <a:t>cumplimiento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0BDFB9-201A-4A6E-9C78-9E1F39504F70}"/>
              </a:ext>
            </a:extLst>
          </p:cNvPr>
          <p:cNvSpPr/>
          <p:nvPr/>
        </p:nvSpPr>
        <p:spPr>
          <a:xfrm>
            <a:off x="8176970" y="5278526"/>
            <a:ext cx="14442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Proyectos de </a:t>
            </a:r>
          </a:p>
          <a:p>
            <a:r>
              <a:rPr lang="es-PE" dirty="0"/>
              <a:t>innovación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DFA1D342-B012-4A9D-B88F-8FCD3D9DA48A}"/>
              </a:ext>
            </a:extLst>
          </p:cNvPr>
          <p:cNvSpPr txBox="1"/>
          <p:nvPr/>
        </p:nvSpPr>
        <p:spPr>
          <a:xfrm>
            <a:off x="522684" y="1187244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350" b="1" i="0" dirty="0">
                <a:solidFill>
                  <a:srgbClr val="2A3542"/>
                </a:solidFill>
                <a:latin typeface="Calibri"/>
              </a:rPr>
              <a:t>¿Qué iniciativas de TI deberíamos realizar para apoyar la estrategia considerando las limitaciones?</a:t>
            </a: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4252987-6ED4-4D2E-A8CD-EA12C0300D5C}"/>
              </a:ext>
            </a:extLst>
          </p:cNvPr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  <p:extLst>
      <p:ext uri="{BB962C8B-B14F-4D97-AF65-F5344CB8AC3E}">
        <p14:creationId xmlns:p14="http://schemas.microsoft.com/office/powerpoint/2010/main" val="420046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Del objetivo estratégico a las iniciativas de TI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B0A33702-BA1F-46D7-84D9-908BAC287AC5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1ECC6E-9D1C-4C85-AE50-44A77DBA9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09" y="1910829"/>
            <a:ext cx="11606981" cy="3412962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6ED8B59-507B-4D70-B11B-4A187119F6B2}"/>
              </a:ext>
            </a:extLst>
          </p:cNvPr>
          <p:cNvSpPr/>
          <p:nvPr/>
        </p:nvSpPr>
        <p:spPr>
          <a:xfrm>
            <a:off x="1373571" y="2845818"/>
            <a:ext cx="26659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Aumentar la participación </a:t>
            </a:r>
          </a:p>
          <a:p>
            <a:r>
              <a:rPr lang="es-ES" dirty="0"/>
              <a:t>de mercado.</a:t>
            </a:r>
            <a:endParaRPr lang="es-PE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5CE96AB-07FF-4341-B204-C5BC4AF2C390}"/>
              </a:ext>
            </a:extLst>
          </p:cNvPr>
          <p:cNvSpPr/>
          <p:nvPr/>
        </p:nvSpPr>
        <p:spPr>
          <a:xfrm>
            <a:off x="1394957" y="3636325"/>
            <a:ext cx="23421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Mejorar la experiencia </a:t>
            </a:r>
          </a:p>
          <a:p>
            <a:r>
              <a:rPr lang="es-ES" dirty="0"/>
              <a:t>del cliente.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7D64BAF-A49F-4764-A17A-2996553D212D}"/>
              </a:ext>
            </a:extLst>
          </p:cNvPr>
          <p:cNvSpPr/>
          <p:nvPr/>
        </p:nvSpPr>
        <p:spPr>
          <a:xfrm>
            <a:off x="1394957" y="4473076"/>
            <a:ext cx="25471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Incrementar la eficiencia </a:t>
            </a:r>
          </a:p>
          <a:p>
            <a:r>
              <a:rPr lang="es-PE" dirty="0"/>
              <a:t>operacional.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C76314-7FDC-44B2-BDDD-5716B77B4B8C}"/>
              </a:ext>
            </a:extLst>
          </p:cNvPr>
          <p:cNvSpPr/>
          <p:nvPr/>
        </p:nvSpPr>
        <p:spPr>
          <a:xfrm>
            <a:off x="560562" y="2244896"/>
            <a:ext cx="34335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/>
              <a:t>Objetivos estratégicos del negocio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7704A3F-6C7D-4DAC-BC32-B9C27DD4FA28}"/>
              </a:ext>
            </a:extLst>
          </p:cNvPr>
          <p:cNvSpPr/>
          <p:nvPr/>
        </p:nvSpPr>
        <p:spPr>
          <a:xfrm>
            <a:off x="5006340" y="2244585"/>
            <a:ext cx="25244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/>
              <a:t>Necesidades del negocio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876F221-D831-450E-8B29-F1B456C2C7C8}"/>
              </a:ext>
            </a:extLst>
          </p:cNvPr>
          <p:cNvSpPr/>
          <p:nvPr/>
        </p:nvSpPr>
        <p:spPr>
          <a:xfrm>
            <a:off x="4798104" y="2845818"/>
            <a:ext cx="26405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Expandir canales digitales </a:t>
            </a:r>
          </a:p>
          <a:p>
            <a:r>
              <a:rPr lang="es-ES" dirty="0"/>
              <a:t>de venta.</a:t>
            </a:r>
            <a:endParaRPr lang="es-PE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CA83275-80E9-4602-984E-0A077C07CE32}"/>
              </a:ext>
            </a:extLst>
          </p:cNvPr>
          <p:cNvSpPr/>
          <p:nvPr/>
        </p:nvSpPr>
        <p:spPr>
          <a:xfrm>
            <a:off x="4775244" y="3636325"/>
            <a:ext cx="266117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Ofrecer una atención más </a:t>
            </a:r>
          </a:p>
          <a:p>
            <a:r>
              <a:rPr lang="es-ES" dirty="0"/>
              <a:t>personalizada y </a:t>
            </a:r>
            <a:r>
              <a:rPr lang="es-ES" dirty="0" err="1"/>
              <a:t>omnicanal</a:t>
            </a:r>
            <a:endParaRPr lang="es-PE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AC18503-71B2-4F6E-A1A1-13AB38293E48}"/>
              </a:ext>
            </a:extLst>
          </p:cNvPr>
          <p:cNvSpPr/>
          <p:nvPr/>
        </p:nvSpPr>
        <p:spPr>
          <a:xfrm>
            <a:off x="4804741" y="4422840"/>
            <a:ext cx="28051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Automatizar procesos clave </a:t>
            </a:r>
          </a:p>
          <a:p>
            <a:r>
              <a:rPr lang="es-ES" dirty="0"/>
              <a:t>y reducir costos.</a:t>
            </a:r>
            <a:endParaRPr lang="es-PE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CDB798C-858A-4F10-9E74-F3C78EF11978}"/>
              </a:ext>
            </a:extLst>
          </p:cNvPr>
          <p:cNvSpPr/>
          <p:nvPr/>
        </p:nvSpPr>
        <p:spPr>
          <a:xfrm>
            <a:off x="8520683" y="2845818"/>
            <a:ext cx="2981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Desarrollo de una plataforma </a:t>
            </a:r>
          </a:p>
          <a:p>
            <a:r>
              <a:rPr lang="es-ES" dirty="0"/>
              <a:t>de e-</a:t>
            </a:r>
            <a:r>
              <a:rPr lang="es-ES" dirty="0" err="1"/>
              <a:t>commerce</a:t>
            </a:r>
            <a:r>
              <a:rPr lang="es-ES" dirty="0"/>
              <a:t>.</a:t>
            </a:r>
            <a:endParaRPr lang="es-PE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BD11CA4-4B8B-4C78-A004-8777ED7B77A0}"/>
              </a:ext>
            </a:extLst>
          </p:cNvPr>
          <p:cNvSpPr/>
          <p:nvPr/>
        </p:nvSpPr>
        <p:spPr>
          <a:xfrm>
            <a:off x="9105706" y="2252041"/>
            <a:ext cx="1655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/>
              <a:t>Iniciativas de TI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1511711-504C-4082-ACDF-915D2015098C}"/>
              </a:ext>
            </a:extLst>
          </p:cNvPr>
          <p:cNvSpPr/>
          <p:nvPr/>
        </p:nvSpPr>
        <p:spPr>
          <a:xfrm>
            <a:off x="8520683" y="3623837"/>
            <a:ext cx="28535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Implementación de un CRM </a:t>
            </a:r>
          </a:p>
          <a:p>
            <a:r>
              <a:rPr lang="es-ES" dirty="0"/>
              <a:t>con analítica de clientes.</a:t>
            </a:r>
            <a:endParaRPr lang="es-PE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249B25A-8CC8-465B-A2F2-946B74ED6AF1}"/>
              </a:ext>
            </a:extLst>
          </p:cNvPr>
          <p:cNvSpPr/>
          <p:nvPr/>
        </p:nvSpPr>
        <p:spPr>
          <a:xfrm>
            <a:off x="8505935" y="4435359"/>
            <a:ext cx="32742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Automatización de procesos con </a:t>
            </a:r>
          </a:p>
          <a:p>
            <a:r>
              <a:rPr lang="es-ES" dirty="0"/>
              <a:t>RPA e integración de sistemas.</a:t>
            </a:r>
            <a:endParaRPr lang="es-PE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5EFA368C-95CF-4B63-8FDB-3A654B1E3880}"/>
              </a:ext>
            </a:extLst>
          </p:cNvPr>
          <p:cNvSpPr txBox="1"/>
          <p:nvPr/>
        </p:nvSpPr>
        <p:spPr>
          <a:xfrm>
            <a:off x="522684" y="1187244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PE" sz="1350" b="1" dirty="0">
                <a:solidFill>
                  <a:srgbClr val="2A3542"/>
                </a:solidFill>
              </a:rPr>
              <a:t>¿Qué iniciativas de TI necesitamos para apoyar nuestros objetivos estratégicos?</a:t>
            </a: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08314A42-E379-43EC-ADE2-9506C4DC578C}"/>
              </a:ext>
            </a:extLst>
          </p:cNvPr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  <p:extLst>
      <p:ext uri="{BB962C8B-B14F-4D97-AF65-F5344CB8AC3E}">
        <p14:creationId xmlns:p14="http://schemas.microsoft.com/office/powerpoint/2010/main" val="864177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Criterios para evaluar y priorizar iniciativas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B0A33702-BA1F-46D7-84D9-908BAC287AC5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5EFA368C-95CF-4B63-8FDB-3A654B1E3880}"/>
              </a:ext>
            </a:extLst>
          </p:cNvPr>
          <p:cNvSpPr txBox="1"/>
          <p:nvPr/>
        </p:nvSpPr>
        <p:spPr>
          <a:xfrm>
            <a:off x="522684" y="1187244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1350" b="1" dirty="0">
                <a:solidFill>
                  <a:srgbClr val="2A3542"/>
                </a:solidFill>
              </a:rPr>
              <a:t>La priorización compara propuestas con criterios explícitos y consistentes y las ponderaciones deben reflejar las prioridades de la organización.</a:t>
            </a: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115C8139-6776-4211-8135-422E2B15E8DA}"/>
              </a:ext>
            </a:extLst>
          </p:cNvPr>
          <p:cNvSpPr/>
          <p:nvPr/>
        </p:nvSpPr>
        <p:spPr>
          <a:xfrm>
            <a:off x="502920" y="240030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600" b="1" dirty="0">
                <a:solidFill>
                  <a:srgbClr val="2467AB"/>
                </a:solidFill>
                <a:latin typeface="Calibri"/>
              </a:rPr>
              <a:t>Alineación estratégica</a:t>
            </a:r>
          </a:p>
          <a:p>
            <a:pPr>
              <a:spcAft>
                <a:spcPts val="400"/>
              </a:spcAft>
            </a:pPr>
            <a:r>
              <a:rPr lang="es-ES" sz="1400" dirty="0">
                <a:solidFill>
                  <a:srgbClr val="2A3542"/>
                </a:solidFill>
              </a:rPr>
              <a:t>Contribución a los objetivos estratégicos del negocio.</a:t>
            </a:r>
            <a:endParaRPr lang="es-PE" sz="140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677FF17C-C399-4431-83DD-59CAFA85F617}"/>
              </a:ext>
            </a:extLst>
          </p:cNvPr>
          <p:cNvSpPr/>
          <p:nvPr/>
        </p:nvSpPr>
        <p:spPr>
          <a:xfrm>
            <a:off x="4011168" y="240030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600" b="1" dirty="0">
                <a:solidFill>
                  <a:srgbClr val="2467AB"/>
                </a:solidFill>
              </a:rPr>
              <a:t>Beneficios esperados</a:t>
            </a:r>
          </a:p>
          <a:p>
            <a:pPr>
              <a:spcAft>
                <a:spcPts val="400"/>
              </a:spcAft>
            </a:pPr>
            <a:r>
              <a:rPr lang="es-ES" sz="1400" dirty="0">
                <a:solidFill>
                  <a:srgbClr val="2A3542"/>
                </a:solidFill>
              </a:rPr>
              <a:t>Impacto en ingresos, costos, eficiencia o experiencia del cliente.</a:t>
            </a:r>
            <a:endParaRPr lang="es-PE" sz="140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B26C462E-09AB-4F5F-8D5C-76909C48964D}"/>
              </a:ext>
            </a:extLst>
          </p:cNvPr>
          <p:cNvSpPr/>
          <p:nvPr/>
        </p:nvSpPr>
        <p:spPr>
          <a:xfrm>
            <a:off x="7437120" y="2409149"/>
            <a:ext cx="3261360" cy="123444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ES" sz="1600" b="1" dirty="0">
                <a:solidFill>
                  <a:srgbClr val="2467AB"/>
                </a:solidFill>
              </a:rPr>
              <a:t>Costos de inversión y operación</a:t>
            </a:r>
          </a:p>
          <a:p>
            <a:pPr>
              <a:spcAft>
                <a:spcPts val="400"/>
              </a:spcAft>
            </a:pPr>
            <a:r>
              <a:rPr lang="es-ES" sz="1400" dirty="0">
                <a:solidFill>
                  <a:srgbClr val="2A3542"/>
                </a:solidFill>
              </a:rPr>
              <a:t>Recursos requeridos para su implementación y mantención.</a:t>
            </a:r>
            <a:endParaRPr lang="es-PE" sz="1400" dirty="0">
              <a:solidFill>
                <a:srgbClr val="2A3542"/>
              </a:solidFill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84AC658B-8F4F-402D-8205-A704010226CD}"/>
              </a:ext>
            </a:extLst>
          </p:cNvPr>
          <p:cNvSpPr/>
          <p:nvPr/>
        </p:nvSpPr>
        <p:spPr>
          <a:xfrm>
            <a:off x="548640" y="4055364"/>
            <a:ext cx="3261360" cy="123444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600" b="1" dirty="0">
                <a:solidFill>
                  <a:srgbClr val="2467AB"/>
                </a:solidFill>
              </a:rPr>
              <a:t>Riesgos</a:t>
            </a:r>
            <a:endParaRPr lang="es-PE" sz="1250" b="1" i="0" dirty="0">
              <a:solidFill>
                <a:srgbClr val="2467AB"/>
              </a:solidFill>
              <a:latin typeface="Calibri"/>
            </a:endParaRPr>
          </a:p>
          <a:p>
            <a:r>
              <a:rPr lang="es-ES" sz="1400" dirty="0">
                <a:solidFill>
                  <a:srgbClr val="2A3542"/>
                </a:solidFill>
              </a:rPr>
              <a:t>Incertidumbre asociada a su ejecución y resultados.</a:t>
            </a:r>
            <a:endParaRPr lang="es-PE" sz="140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1" name="Shape 15">
            <a:extLst>
              <a:ext uri="{FF2B5EF4-FFF2-40B4-BE49-F238E27FC236}">
                <a16:creationId xmlns:a16="http://schemas.microsoft.com/office/drawing/2014/main" id="{93C2A685-0181-49BB-8B54-01B9F9FC9EBC}"/>
              </a:ext>
            </a:extLst>
          </p:cNvPr>
          <p:cNvSpPr/>
          <p:nvPr/>
        </p:nvSpPr>
        <p:spPr>
          <a:xfrm>
            <a:off x="3992880" y="4055364"/>
            <a:ext cx="3261360" cy="123444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600" b="1" dirty="0">
                <a:solidFill>
                  <a:srgbClr val="2467AB"/>
                </a:solidFill>
              </a:rPr>
              <a:t>Disponibilidad de recursos</a:t>
            </a:r>
            <a:endParaRPr lang="es-PE" sz="1600" b="1" i="0" dirty="0">
              <a:solidFill>
                <a:srgbClr val="2467AB"/>
              </a:solidFill>
              <a:latin typeface="Calibri"/>
            </a:endParaRPr>
          </a:p>
          <a:p>
            <a:r>
              <a:rPr lang="es-ES" sz="1400" dirty="0">
                <a:solidFill>
                  <a:srgbClr val="2A3542"/>
                </a:solidFill>
              </a:rPr>
              <a:t>Capacidad de la organización para ejecutarla.</a:t>
            </a:r>
            <a:endParaRPr lang="es-PE" sz="140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6214971F-100A-420E-AA8C-A8351EA3FBA2}"/>
              </a:ext>
            </a:extLst>
          </p:cNvPr>
          <p:cNvSpPr/>
          <p:nvPr/>
        </p:nvSpPr>
        <p:spPr>
          <a:xfrm>
            <a:off x="7437120" y="4055364"/>
            <a:ext cx="3261360" cy="123444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600" b="1" dirty="0">
                <a:solidFill>
                  <a:srgbClr val="2467AB"/>
                </a:solidFill>
              </a:rPr>
              <a:t>Horizonte temporal</a:t>
            </a:r>
            <a:endParaRPr lang="es-PE" sz="1600" b="1" i="0" dirty="0">
              <a:solidFill>
                <a:srgbClr val="2467AB"/>
              </a:solidFill>
              <a:latin typeface="Calibri"/>
            </a:endParaRPr>
          </a:p>
          <a:p>
            <a:r>
              <a:rPr lang="es-PE" sz="1400" dirty="0">
                <a:solidFill>
                  <a:srgbClr val="2A3542"/>
                </a:solidFill>
              </a:rPr>
              <a:t>Tiempo estimado para obtener resultados.</a:t>
            </a:r>
            <a:endParaRPr lang="es-PE" sz="140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76ACA8C2-F549-4B32-B1B9-18B6C49EC6FC}"/>
              </a:ext>
            </a:extLst>
          </p:cNvPr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  <p:extLst>
      <p:ext uri="{BB962C8B-B14F-4D97-AF65-F5344CB8AC3E}">
        <p14:creationId xmlns:p14="http://schemas.microsoft.com/office/powerpoint/2010/main" val="380944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Selección y balance del portafolio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B0A33702-BA1F-46D7-84D9-908BAC287AC5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5EFA368C-95CF-4B63-8FDB-3A654B1E3880}"/>
              </a:ext>
            </a:extLst>
          </p:cNvPr>
          <p:cNvSpPr txBox="1"/>
          <p:nvPr/>
        </p:nvSpPr>
        <p:spPr>
          <a:xfrm>
            <a:off x="522684" y="1187244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1350" b="1" dirty="0">
                <a:solidFill>
                  <a:srgbClr val="2A3542"/>
                </a:solidFill>
              </a:rPr>
              <a:t>No basta con seleccionar las iniciativas mejor puntuadas: el conjunto debe ser viable y equilibrado.</a:t>
            </a: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1CAB622-1AC7-4D7A-9564-6D9CBAD212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1457" b="90162" l="10000" r="90000"/>
                    </a14:imgEffect>
                  </a14:imgLayer>
                </a14:imgProps>
              </a:ext>
            </a:extLst>
          </a:blip>
          <a:srcRect t="1619"/>
          <a:stretch/>
        </p:blipFill>
        <p:spPr>
          <a:xfrm>
            <a:off x="4251203" y="1238621"/>
            <a:ext cx="8328209" cy="584976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E9E14D1-3A8B-4BA5-B559-3BE740F1B9A3}"/>
              </a:ext>
            </a:extLst>
          </p:cNvPr>
          <p:cNvSpPr/>
          <p:nvPr/>
        </p:nvSpPr>
        <p:spPr>
          <a:xfrm>
            <a:off x="3781248" y="3573886"/>
            <a:ext cx="1217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Valor </a:t>
            </a:r>
          </a:p>
          <a:p>
            <a:r>
              <a:rPr lang="es-PE" dirty="0"/>
              <a:t>estratégico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0885450-0A7B-4ED1-A47C-89159C3255D5}"/>
              </a:ext>
            </a:extLst>
          </p:cNvPr>
          <p:cNvSpPr/>
          <p:nvPr/>
        </p:nvSpPr>
        <p:spPr>
          <a:xfrm>
            <a:off x="4431682" y="2631329"/>
            <a:ext cx="567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Alto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47DE0C7-17D8-4D92-8ED5-01FA8F26D984}"/>
              </a:ext>
            </a:extLst>
          </p:cNvPr>
          <p:cNvSpPr/>
          <p:nvPr/>
        </p:nvSpPr>
        <p:spPr>
          <a:xfrm>
            <a:off x="6401084" y="617806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Bajo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DEE460F-6673-42D1-95D9-09917D8CFD09}"/>
              </a:ext>
            </a:extLst>
          </p:cNvPr>
          <p:cNvSpPr/>
          <p:nvPr/>
        </p:nvSpPr>
        <p:spPr>
          <a:xfrm>
            <a:off x="9878457" y="6178067"/>
            <a:ext cx="5671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Alto</a:t>
            </a:r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340C3C49-A2A3-4A74-9586-543D72BB18FF}"/>
              </a:ext>
            </a:extLst>
          </p:cNvPr>
          <p:cNvSpPr/>
          <p:nvPr/>
        </p:nvSpPr>
        <p:spPr>
          <a:xfrm>
            <a:off x="538162" y="2198166"/>
            <a:ext cx="2293528" cy="726262"/>
          </a:xfrm>
          <a:prstGeom prst="roundRect">
            <a:avLst/>
          </a:prstGeom>
          <a:solidFill>
            <a:srgbClr val="E0F2DE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sz="1600" i="1" dirty="0" err="1">
                <a:solidFill>
                  <a:srgbClr val="182B46"/>
                </a:solidFill>
              </a:rPr>
              <a:t>Implementar</a:t>
            </a:r>
            <a:r>
              <a:rPr lang="en-US" sz="1600" i="1" dirty="0">
                <a:solidFill>
                  <a:srgbClr val="182B46"/>
                </a:solidFill>
              </a:rPr>
              <a:t> primero</a:t>
            </a:r>
            <a:endParaRPr lang="es-PE" sz="1600" i="1" dirty="0">
              <a:solidFill>
                <a:srgbClr val="182B46"/>
              </a:solidFill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D297C5A5-E5BA-4357-A07E-83DB0F07957E}"/>
              </a:ext>
            </a:extLst>
          </p:cNvPr>
          <p:cNvSpPr/>
          <p:nvPr/>
        </p:nvSpPr>
        <p:spPr>
          <a:xfrm>
            <a:off x="548640" y="3164402"/>
            <a:ext cx="2293528" cy="726262"/>
          </a:xfrm>
          <a:prstGeom prst="roundRect">
            <a:avLst/>
          </a:prstGeom>
          <a:solidFill>
            <a:srgbClr val="DCEEFD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Planificar</a:t>
            </a:r>
            <a:endParaRPr lang="es-PE" sz="1600" i="1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096E4026-8B40-4E07-AB91-60E96B253264}"/>
              </a:ext>
            </a:extLst>
          </p:cNvPr>
          <p:cNvSpPr/>
          <p:nvPr/>
        </p:nvSpPr>
        <p:spPr>
          <a:xfrm>
            <a:off x="548640" y="4166496"/>
            <a:ext cx="2293528" cy="726262"/>
          </a:xfrm>
          <a:prstGeom prst="roundRect">
            <a:avLst/>
          </a:prstGeom>
          <a:solidFill>
            <a:srgbClr val="FFF4BF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sz="1600" i="1" dirty="0" err="1">
                <a:solidFill>
                  <a:srgbClr val="182B46"/>
                </a:solidFill>
                <a:latin typeface="Calibri"/>
              </a:rPr>
              <a:t>Considerar</a:t>
            </a:r>
            <a:endParaRPr lang="es-PE" sz="1600" i="1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FB496BAC-B8E5-4967-8092-B40C8C12B96F}"/>
              </a:ext>
            </a:extLst>
          </p:cNvPr>
          <p:cNvSpPr/>
          <p:nvPr/>
        </p:nvSpPr>
        <p:spPr>
          <a:xfrm>
            <a:off x="549414" y="5171898"/>
            <a:ext cx="2293528" cy="726262"/>
          </a:xfrm>
          <a:prstGeom prst="round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ctr">
            <a:no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sz="1600" i="1" dirty="0" err="1">
                <a:solidFill>
                  <a:srgbClr val="182B46"/>
                </a:solidFill>
              </a:rPr>
              <a:t>Evaluar</a:t>
            </a:r>
            <a:r>
              <a:rPr lang="en-US" sz="1600" i="1" dirty="0">
                <a:solidFill>
                  <a:srgbClr val="182B46"/>
                </a:solidFill>
              </a:rPr>
              <a:t> con cautela</a:t>
            </a:r>
            <a:endParaRPr lang="es-PE" sz="1600" i="1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E41758C-BC0B-4AE1-A626-C83F2727040A}"/>
              </a:ext>
            </a:extLst>
          </p:cNvPr>
          <p:cNvSpPr/>
          <p:nvPr/>
        </p:nvSpPr>
        <p:spPr>
          <a:xfrm>
            <a:off x="4431682" y="4883394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Bajo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761A539-E0ED-48D8-84A4-C3F93C44525B}"/>
              </a:ext>
            </a:extLst>
          </p:cNvPr>
          <p:cNvSpPr/>
          <p:nvPr/>
        </p:nvSpPr>
        <p:spPr>
          <a:xfrm>
            <a:off x="8073823" y="6362733"/>
            <a:ext cx="980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Esfuerzo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3B52D07-0AAE-49D7-9BD4-A930EACB5672}"/>
              </a:ext>
            </a:extLst>
          </p:cNvPr>
          <p:cNvSpPr/>
          <p:nvPr/>
        </p:nvSpPr>
        <p:spPr>
          <a:xfrm>
            <a:off x="5987845" y="2010152"/>
            <a:ext cx="2330245" cy="392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0"/>
              </a:spcAft>
              <a:tabLst>
                <a:tab pos="228600" algn="l"/>
              </a:tabLst>
            </a:pPr>
            <a:r>
              <a:rPr lang="en-US" b="1" i="1" dirty="0" err="1">
                <a:solidFill>
                  <a:srgbClr val="182B46"/>
                </a:solidFill>
              </a:rPr>
              <a:t>Implementar</a:t>
            </a:r>
            <a:r>
              <a:rPr lang="en-US" b="1" i="1" dirty="0">
                <a:solidFill>
                  <a:srgbClr val="182B46"/>
                </a:solidFill>
              </a:rPr>
              <a:t> primero</a:t>
            </a:r>
            <a:endParaRPr lang="es-PE" b="1" i="1" dirty="0">
              <a:solidFill>
                <a:srgbClr val="182B46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F618A5E-0234-4CAC-BA32-DBAEF4CE1346}"/>
              </a:ext>
            </a:extLst>
          </p:cNvPr>
          <p:cNvSpPr/>
          <p:nvPr/>
        </p:nvSpPr>
        <p:spPr>
          <a:xfrm>
            <a:off x="9396638" y="2041369"/>
            <a:ext cx="11306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/>
              <a:t>Planificar</a:t>
            </a:r>
            <a:r>
              <a:rPr lang="es-PE" dirty="0"/>
              <a:t>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02A3EA4-0EA8-418D-AD2B-4FA4C40DD361}"/>
              </a:ext>
            </a:extLst>
          </p:cNvPr>
          <p:cNvSpPr/>
          <p:nvPr/>
        </p:nvSpPr>
        <p:spPr>
          <a:xfrm>
            <a:off x="6096000" y="4044833"/>
            <a:ext cx="1264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/>
              <a:t>Considerar</a:t>
            </a:r>
            <a:r>
              <a:rPr lang="es-PE" dirty="0"/>
              <a:t> 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D04519A-561B-4576-AAFB-346A1E503694}"/>
              </a:ext>
            </a:extLst>
          </p:cNvPr>
          <p:cNvSpPr/>
          <p:nvPr/>
        </p:nvSpPr>
        <p:spPr>
          <a:xfrm>
            <a:off x="9054412" y="4035551"/>
            <a:ext cx="2027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b="1" dirty="0"/>
              <a:t>Evaluar con cautela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BF8FFD1-464E-4E16-BABB-267643525739}"/>
              </a:ext>
            </a:extLst>
          </p:cNvPr>
          <p:cNvSpPr/>
          <p:nvPr/>
        </p:nvSpPr>
        <p:spPr>
          <a:xfrm>
            <a:off x="6267100" y="2617030"/>
            <a:ext cx="20265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/>
              <a:t>Mejora de la experiencia </a:t>
            </a:r>
          </a:p>
          <a:p>
            <a:r>
              <a:rPr lang="es-ES" sz="1400" dirty="0"/>
              <a:t>digital</a:t>
            </a:r>
            <a:endParaRPr lang="es-PE" sz="14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3B4CD17-0F29-405D-A7D8-B397CA06C7DB}"/>
              </a:ext>
            </a:extLst>
          </p:cNvPr>
          <p:cNvSpPr/>
          <p:nvPr/>
        </p:nvSpPr>
        <p:spPr>
          <a:xfrm>
            <a:off x="6576250" y="3347417"/>
            <a:ext cx="22130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00" dirty="0"/>
              <a:t>Automatización de reportes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FB37E27-5B86-40A9-BF5B-700791569EF6}"/>
              </a:ext>
            </a:extLst>
          </p:cNvPr>
          <p:cNvSpPr/>
          <p:nvPr/>
        </p:nvSpPr>
        <p:spPr>
          <a:xfrm>
            <a:off x="10000334" y="2548903"/>
            <a:ext cx="15318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00" dirty="0"/>
              <a:t>Nueva plataforma </a:t>
            </a:r>
          </a:p>
          <a:p>
            <a:r>
              <a:rPr lang="es-PE" sz="1400" dirty="0"/>
              <a:t>de e-</a:t>
            </a:r>
            <a:r>
              <a:rPr lang="es-PE" sz="1400" dirty="0" err="1"/>
              <a:t>commerce</a:t>
            </a:r>
            <a:endParaRPr lang="es-PE" sz="14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FD30CF5-0BBA-40A7-BB4D-0A5BC7767A9F}"/>
              </a:ext>
            </a:extLst>
          </p:cNvPr>
          <p:cNvSpPr/>
          <p:nvPr/>
        </p:nvSpPr>
        <p:spPr>
          <a:xfrm>
            <a:off x="10259225" y="3239050"/>
            <a:ext cx="14151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00" dirty="0"/>
              <a:t>Implementación </a:t>
            </a:r>
          </a:p>
          <a:p>
            <a:r>
              <a:rPr lang="es-PE" sz="1400" dirty="0"/>
              <a:t>de CRM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7975A6-324C-4BF5-B864-6EAE7CF8A44F}"/>
              </a:ext>
            </a:extLst>
          </p:cNvPr>
          <p:cNvSpPr/>
          <p:nvPr/>
        </p:nvSpPr>
        <p:spPr>
          <a:xfrm>
            <a:off x="6451591" y="4883667"/>
            <a:ext cx="19947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00" dirty="0"/>
              <a:t>Actualización de equipos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D8EF0EF-01D0-4E86-A125-A36A0DC61472}"/>
              </a:ext>
            </a:extLst>
          </p:cNvPr>
          <p:cNvSpPr/>
          <p:nvPr/>
        </p:nvSpPr>
        <p:spPr>
          <a:xfrm>
            <a:off x="6883398" y="5509563"/>
            <a:ext cx="19898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00" dirty="0"/>
              <a:t>Mejora de portal interno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BDCD3F5-0F9D-4921-9D38-A42AD44A4C0B}"/>
              </a:ext>
            </a:extLst>
          </p:cNvPr>
          <p:cNvSpPr/>
          <p:nvPr/>
        </p:nvSpPr>
        <p:spPr>
          <a:xfrm>
            <a:off x="10028428" y="4768255"/>
            <a:ext cx="15170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/>
              <a:t>Desarrollo de app </a:t>
            </a:r>
          </a:p>
          <a:p>
            <a:r>
              <a:rPr lang="es-ES" sz="1400" dirty="0"/>
              <a:t>móvil interna</a:t>
            </a:r>
            <a:endParaRPr lang="es-PE" sz="1400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B0BD2A4B-5900-4192-8ACF-0A58C5FC2442}"/>
              </a:ext>
            </a:extLst>
          </p:cNvPr>
          <p:cNvSpPr/>
          <p:nvPr/>
        </p:nvSpPr>
        <p:spPr>
          <a:xfrm>
            <a:off x="10445600" y="5457423"/>
            <a:ext cx="13376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/>
              <a:t>Migración total </a:t>
            </a:r>
          </a:p>
          <a:p>
            <a:r>
              <a:rPr lang="es-ES" sz="1400" dirty="0"/>
              <a:t>a la nube</a:t>
            </a:r>
            <a:endParaRPr lang="es-PE" sz="1400" dirty="0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F44A180A-6C18-4CBC-9B5E-18C1778F55A0}"/>
              </a:ext>
            </a:extLst>
          </p:cNvPr>
          <p:cNvSpPr txBox="1"/>
          <p:nvPr/>
        </p:nvSpPr>
        <p:spPr>
          <a:xfrm>
            <a:off x="530352" y="6408948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  <p:extLst>
      <p:ext uri="{BB962C8B-B14F-4D97-AF65-F5344CB8AC3E}">
        <p14:creationId xmlns:p14="http://schemas.microsoft.com/office/powerpoint/2010/main" val="1913806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ES" sz="2400" b="1" i="0" dirty="0">
                <a:solidFill>
                  <a:srgbClr val="182B46"/>
                </a:solidFill>
                <a:latin typeface="Calibri"/>
              </a:rPr>
              <a:t>Hoja de Ruta de TI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13EF4491-4EDA-417D-BE77-E16DBCDA0F0A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7542386-036F-4588-83D9-B919DB884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32" y="1616583"/>
            <a:ext cx="9225286" cy="5076825"/>
          </a:xfrm>
          <a:prstGeom prst="rect">
            <a:avLst/>
          </a:prstGeom>
        </p:spPr>
      </p:pic>
      <p:sp>
        <p:nvSpPr>
          <p:cNvPr id="28" name="Shape 6">
            <a:extLst>
              <a:ext uri="{FF2B5EF4-FFF2-40B4-BE49-F238E27FC236}">
                <a16:creationId xmlns:a16="http://schemas.microsoft.com/office/drawing/2014/main" id="{74CE2C4F-028A-4156-B469-5BAD0C09A1ED}"/>
              </a:ext>
            </a:extLst>
          </p:cNvPr>
          <p:cNvSpPr txBox="1"/>
          <p:nvPr/>
        </p:nvSpPr>
        <p:spPr>
          <a:xfrm>
            <a:off x="522684" y="1187244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1350" b="1" dirty="0">
                <a:solidFill>
                  <a:srgbClr val="2A3542"/>
                </a:solidFill>
              </a:rPr>
              <a:t>Permite planificar cuándo se ejecutarán las iniciativas, considerando dependencias, recursos y prioridades.</a:t>
            </a: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AEC0F13-DFE6-46E5-80CD-1D17012675A4}"/>
              </a:ext>
            </a:extLst>
          </p:cNvPr>
          <p:cNvSpPr/>
          <p:nvPr/>
        </p:nvSpPr>
        <p:spPr>
          <a:xfrm>
            <a:off x="2338722" y="2723523"/>
            <a:ext cx="1373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Crecimiento </a:t>
            </a:r>
          </a:p>
          <a:p>
            <a:r>
              <a:rPr lang="es-ES" dirty="0"/>
              <a:t>d</a:t>
            </a:r>
            <a:r>
              <a:rPr lang="es-PE" dirty="0"/>
              <a:t>e ingresos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A5DEC62-8A6B-4746-BEC2-14A5269191C7}"/>
              </a:ext>
            </a:extLst>
          </p:cNvPr>
          <p:cNvSpPr/>
          <p:nvPr/>
        </p:nvSpPr>
        <p:spPr>
          <a:xfrm>
            <a:off x="2338722" y="3613978"/>
            <a:ext cx="1317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Experiencia </a:t>
            </a:r>
          </a:p>
          <a:p>
            <a:r>
              <a:rPr lang="es-ES" dirty="0"/>
              <a:t>d</a:t>
            </a:r>
            <a:r>
              <a:rPr lang="es-PE" dirty="0"/>
              <a:t>el cliente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D4EFD20-9ACF-4CD6-96AF-44942595BE51}"/>
              </a:ext>
            </a:extLst>
          </p:cNvPr>
          <p:cNvSpPr/>
          <p:nvPr/>
        </p:nvSpPr>
        <p:spPr>
          <a:xfrm>
            <a:off x="2338722" y="4504433"/>
            <a:ext cx="12875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Eficiencia </a:t>
            </a:r>
          </a:p>
          <a:p>
            <a:r>
              <a:rPr lang="es-PE" dirty="0"/>
              <a:t>operacional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B55156B-BDBD-454A-9BC8-DC41E23C2A5F}"/>
              </a:ext>
            </a:extLst>
          </p:cNvPr>
          <p:cNvSpPr/>
          <p:nvPr/>
        </p:nvSpPr>
        <p:spPr>
          <a:xfrm>
            <a:off x="2338722" y="5486090"/>
            <a:ext cx="15636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dirty="0"/>
              <a:t>Cumplimiento </a:t>
            </a:r>
          </a:p>
          <a:p>
            <a:r>
              <a:rPr lang="es-PE" dirty="0"/>
              <a:t>y riesgo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05D65A4-B79E-4F57-8671-6B19A4744B13}"/>
              </a:ext>
            </a:extLst>
          </p:cNvPr>
          <p:cNvSpPr/>
          <p:nvPr/>
        </p:nvSpPr>
        <p:spPr>
          <a:xfrm>
            <a:off x="4203819" y="2077192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2026</a:t>
            </a:r>
            <a:endParaRPr lang="es-PE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EE4F678-D847-4F30-A54F-D75458B9B745}"/>
              </a:ext>
            </a:extLst>
          </p:cNvPr>
          <p:cNvSpPr/>
          <p:nvPr/>
        </p:nvSpPr>
        <p:spPr>
          <a:xfrm>
            <a:off x="6682697" y="2094690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2027</a:t>
            </a:r>
            <a:endParaRPr lang="es-PE" dirty="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2B0D73C2-2786-4A92-AC57-8F530571FBB1}"/>
              </a:ext>
            </a:extLst>
          </p:cNvPr>
          <p:cNvSpPr/>
          <p:nvPr/>
        </p:nvSpPr>
        <p:spPr>
          <a:xfrm>
            <a:off x="8835203" y="2127563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2028</a:t>
            </a:r>
            <a:endParaRPr lang="es-PE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A3E53F06-7418-41B9-9827-08299DEC72D2}"/>
              </a:ext>
            </a:extLst>
          </p:cNvPr>
          <p:cNvSpPr/>
          <p:nvPr/>
        </p:nvSpPr>
        <p:spPr>
          <a:xfrm>
            <a:off x="4176984" y="2802269"/>
            <a:ext cx="12298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600" dirty="0"/>
              <a:t>E-</a:t>
            </a:r>
            <a:r>
              <a:rPr lang="es-PE" sz="1600" dirty="0" err="1"/>
              <a:t>commerce</a:t>
            </a:r>
            <a:endParaRPr lang="es-PE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6E26254-2D30-4A5E-8765-F8C99938ED9F}"/>
              </a:ext>
            </a:extLst>
          </p:cNvPr>
          <p:cNvSpPr/>
          <p:nvPr/>
        </p:nvSpPr>
        <p:spPr>
          <a:xfrm>
            <a:off x="7260453" y="2991786"/>
            <a:ext cx="18395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600" dirty="0"/>
              <a:t>Analítica de clientes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D20738E-A462-4784-B1E4-548E8B608C2C}"/>
              </a:ext>
            </a:extLst>
          </p:cNvPr>
          <p:cNvSpPr/>
          <p:nvPr/>
        </p:nvSpPr>
        <p:spPr>
          <a:xfrm>
            <a:off x="4856561" y="3686400"/>
            <a:ext cx="11691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600" dirty="0"/>
              <a:t>Nuevo CRM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F38CB5E-B9A1-4276-8ED9-63A7FE1D4FE6}"/>
              </a:ext>
            </a:extLst>
          </p:cNvPr>
          <p:cNvSpPr/>
          <p:nvPr/>
        </p:nvSpPr>
        <p:spPr>
          <a:xfrm>
            <a:off x="7559959" y="3870206"/>
            <a:ext cx="212308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600" dirty="0"/>
              <a:t>App móvil para clientes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88261B48-210F-4BCA-97B2-104A4CC00DEE}"/>
              </a:ext>
            </a:extLst>
          </p:cNvPr>
          <p:cNvSpPr/>
          <p:nvPr/>
        </p:nvSpPr>
        <p:spPr>
          <a:xfrm>
            <a:off x="3976160" y="4520046"/>
            <a:ext cx="25336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dirty="0"/>
              <a:t>Automatización de procesos</a:t>
            </a:r>
          </a:p>
          <a:p>
            <a:r>
              <a:rPr lang="es-ES" sz="1600" dirty="0"/>
              <a:t>con RPA</a:t>
            </a:r>
            <a:endParaRPr lang="es-PE" sz="1600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9C27849-BE79-4746-8CC4-FA44E301921A}"/>
              </a:ext>
            </a:extLst>
          </p:cNvPr>
          <p:cNvSpPr/>
          <p:nvPr/>
        </p:nvSpPr>
        <p:spPr>
          <a:xfrm>
            <a:off x="6950994" y="4844738"/>
            <a:ext cx="313053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600" dirty="0"/>
              <a:t>Modernización de sistemas legados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CADED10-9274-4545-8117-9ED04E7F97B0}"/>
              </a:ext>
            </a:extLst>
          </p:cNvPr>
          <p:cNvSpPr/>
          <p:nvPr/>
        </p:nvSpPr>
        <p:spPr>
          <a:xfrm>
            <a:off x="4361934" y="5600404"/>
            <a:ext cx="1436291" cy="3724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600" dirty="0"/>
              <a:t>Ciberseguridad</a:t>
            </a:r>
            <a:endParaRPr lang="es-PE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A43A3DC8-9392-44FD-8005-ADDDF044AD66}"/>
              </a:ext>
            </a:extLst>
          </p:cNvPr>
          <p:cNvSpPr/>
          <p:nvPr/>
        </p:nvSpPr>
        <p:spPr>
          <a:xfrm>
            <a:off x="7423184" y="5638773"/>
            <a:ext cx="32493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/>
              <a:t>Gestión de datos para </a:t>
            </a:r>
          </a:p>
          <a:p>
            <a:r>
              <a:rPr lang="es-ES" sz="1600" dirty="0"/>
              <a:t>cumplimiento regulatorio</a:t>
            </a:r>
            <a:endParaRPr lang="es-PE" sz="160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6E95327D-4DD5-4BFA-8534-FF04EBDD109F}"/>
              </a:ext>
            </a:extLst>
          </p:cNvPr>
          <p:cNvSpPr txBox="1"/>
          <p:nvPr/>
        </p:nvSpPr>
        <p:spPr>
          <a:xfrm>
            <a:off x="547752" y="6624466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493306E-E420-4B24-81C6-F7C6A45B3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855"/>
          <a:stretch/>
        </p:blipFill>
        <p:spPr>
          <a:xfrm>
            <a:off x="6758746" y="1516133"/>
            <a:ext cx="4739438" cy="50196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1C147E8-EEC1-4334-A625-83F6B1C856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15305" y="1618821"/>
            <a:ext cx="5625967" cy="5019675"/>
          </a:xfrm>
          <a:prstGeom prst="rect">
            <a:avLst/>
          </a:prstGeom>
        </p:spPr>
      </p:pic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¿Por qué una buena idea no siempre es una buena inversión?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6" name="Shape 6"/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13EF4491-4EDA-417D-BE77-E16DBCDA0F0A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sp>
        <p:nvSpPr>
          <p:cNvPr id="28" name="Shape 6">
            <a:extLst>
              <a:ext uri="{FF2B5EF4-FFF2-40B4-BE49-F238E27FC236}">
                <a16:creationId xmlns:a16="http://schemas.microsoft.com/office/drawing/2014/main" id="{74CE2C4F-028A-4156-B469-5BAD0C09A1ED}"/>
              </a:ext>
            </a:extLst>
          </p:cNvPr>
          <p:cNvSpPr txBox="1"/>
          <p:nvPr/>
        </p:nvSpPr>
        <p:spPr>
          <a:xfrm>
            <a:off x="522684" y="1241813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1350" b="1" dirty="0">
                <a:solidFill>
                  <a:srgbClr val="2A3542"/>
                </a:solidFill>
              </a:rPr>
              <a:t>No todas las ideas representan una buena inversión, aunque parezcan atractivas o innovadoras.</a:t>
            </a: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BCC6735-66E4-401E-87AC-4234C4FBAA03}"/>
              </a:ext>
            </a:extLst>
          </p:cNvPr>
          <p:cNvSpPr/>
          <p:nvPr/>
        </p:nvSpPr>
        <p:spPr>
          <a:xfrm>
            <a:off x="1497522" y="1798129"/>
            <a:ext cx="3141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Idea A: App </a:t>
            </a:r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móvil</a:t>
            </a:r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para </a:t>
            </a:r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clientes</a:t>
            </a:r>
            <a:endParaRPr lang="es-PE" b="1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40D0B82-02CD-4743-A500-1C3463F33393}"/>
              </a:ext>
            </a:extLst>
          </p:cNvPr>
          <p:cNvSpPr/>
          <p:nvPr/>
        </p:nvSpPr>
        <p:spPr>
          <a:xfrm>
            <a:off x="6866932" y="1818885"/>
            <a:ext cx="45230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Idea B: Sistema de </a:t>
            </a:r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realidad</a:t>
            </a:r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virtual </a:t>
            </a:r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tiendas</a:t>
            </a:r>
            <a:endParaRPr lang="es-PE" b="1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70D4D58-8BEF-46ED-89DE-16B03DA7D808}"/>
              </a:ext>
            </a:extLst>
          </p:cNvPr>
          <p:cNvSpPr/>
          <p:nvPr/>
        </p:nvSpPr>
        <p:spPr>
          <a:xfrm>
            <a:off x="2093559" y="2315168"/>
            <a:ext cx="33084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Desarrollar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una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aplicación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que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permita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comprar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línea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acumular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puntos y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recibir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promociones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personalizadas</a:t>
            </a:r>
            <a:r>
              <a:rPr lang="en-US" i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es-PE" i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B178EF8-9EBA-4FD9-B064-EA6F459F63FE}"/>
              </a:ext>
            </a:extLst>
          </p:cNvPr>
          <p:cNvSpPr/>
          <p:nvPr/>
        </p:nvSpPr>
        <p:spPr>
          <a:xfrm>
            <a:off x="8146643" y="2453667"/>
            <a:ext cx="30581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Implementar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una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solución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que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permita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visualizar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productos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3D</a:t>
            </a:r>
            <a:endParaRPr lang="es-PE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73D629D-5160-4154-BEFF-9351DDDE407C}"/>
              </a:ext>
            </a:extLst>
          </p:cNvPr>
          <p:cNvSpPr/>
          <p:nvPr/>
        </p:nvSpPr>
        <p:spPr>
          <a:xfrm>
            <a:off x="1649799" y="3742352"/>
            <a:ext cx="23171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Alineada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con la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estrategia</a:t>
            </a:r>
            <a:endParaRPr lang="es-PE" sz="16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1EE8394-49BD-407E-9AC0-11DB8943A97B}"/>
              </a:ext>
            </a:extLst>
          </p:cNvPr>
          <p:cNvSpPr/>
          <p:nvPr/>
        </p:nvSpPr>
        <p:spPr>
          <a:xfrm>
            <a:off x="1649799" y="4247801"/>
            <a:ext cx="233705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Alto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potencial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ingresos</a:t>
            </a:r>
            <a:endParaRPr lang="es-PE" sz="16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6F16F1A-4AFA-4317-9A17-B5A12E8E04F9}"/>
              </a:ext>
            </a:extLst>
          </p:cNvPr>
          <p:cNvSpPr/>
          <p:nvPr/>
        </p:nvSpPr>
        <p:spPr>
          <a:xfrm>
            <a:off x="1649799" y="4832969"/>
            <a:ext cx="3994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Viable con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tecnología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recursos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actuales</a:t>
            </a:r>
            <a:endParaRPr lang="es-PE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928F28B-DB07-4BAA-BA29-CF4D898F74DF}"/>
              </a:ext>
            </a:extLst>
          </p:cNvPr>
          <p:cNvSpPr/>
          <p:nvPr/>
        </p:nvSpPr>
        <p:spPr>
          <a:xfrm>
            <a:off x="1727875" y="5655797"/>
            <a:ext cx="350628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Probablemente</a:t>
            </a:r>
            <a:r>
              <a:rPr lang="en-US" sz="1600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es una </a:t>
            </a:r>
            <a:r>
              <a:rPr lang="en-US" sz="16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buena</a:t>
            </a:r>
            <a:r>
              <a:rPr lang="en-US" sz="1600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inversión</a:t>
            </a:r>
            <a:endParaRPr lang="es-PE" sz="1600" b="1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C764071-5661-4632-A7D3-D42C2D4E7B0E}"/>
              </a:ext>
            </a:extLst>
          </p:cNvPr>
          <p:cNvSpPr/>
          <p:nvPr/>
        </p:nvSpPr>
        <p:spPr>
          <a:xfrm>
            <a:off x="7623812" y="3533556"/>
            <a:ext cx="2397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Visualizar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productos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3D</a:t>
            </a:r>
            <a:endParaRPr lang="es-PE" sz="16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DC350B4-CE8C-4FE8-BEE7-9C1A59EAB509}"/>
              </a:ext>
            </a:extLst>
          </p:cNvPr>
          <p:cNvSpPr/>
          <p:nvPr/>
        </p:nvSpPr>
        <p:spPr>
          <a:xfrm>
            <a:off x="7623812" y="4158521"/>
            <a:ext cx="32542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No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alineada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prioridades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actuales</a:t>
            </a:r>
            <a:endParaRPr lang="es-PE" sz="16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4CB637-256F-49D0-AE06-09362E1F0060}"/>
              </a:ext>
            </a:extLst>
          </p:cNvPr>
          <p:cNvSpPr/>
          <p:nvPr/>
        </p:nvSpPr>
        <p:spPr>
          <a:xfrm>
            <a:off x="7606952" y="4670044"/>
            <a:ext cx="272100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Alto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costo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implementación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y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mantenimiento</a:t>
            </a:r>
            <a:endParaRPr lang="es-PE" sz="16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0667A40-6DFB-4AEB-A4A7-06BCA021BD00}"/>
              </a:ext>
            </a:extLst>
          </p:cNvPr>
          <p:cNvSpPr/>
          <p:nvPr/>
        </p:nvSpPr>
        <p:spPr>
          <a:xfrm>
            <a:off x="7718410" y="5543236"/>
            <a:ext cx="3779774" cy="358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sz="16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Probablemente</a:t>
            </a:r>
            <a:r>
              <a:rPr lang="en-US" sz="1600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no es </a:t>
            </a:r>
            <a:r>
              <a:rPr lang="en-US" sz="16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buena</a:t>
            </a:r>
            <a:r>
              <a:rPr lang="en-US" sz="1600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inversión</a:t>
            </a:r>
            <a:r>
              <a:rPr lang="en-US" sz="1600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sz="1600" b="1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F0A165E8-0560-4770-B782-2E65CB2A6FFA}"/>
              </a:ext>
            </a:extLst>
          </p:cNvPr>
          <p:cNvSpPr txBox="1"/>
          <p:nvPr/>
        </p:nvSpPr>
        <p:spPr>
          <a:xfrm>
            <a:off x="693816" y="6529470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  <p:extLst>
      <p:ext uri="{BB962C8B-B14F-4D97-AF65-F5344CB8AC3E}">
        <p14:creationId xmlns:p14="http://schemas.microsoft.com/office/powerpoint/2010/main" val="2526349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¿Qué es un </a:t>
            </a:r>
            <a:r>
              <a:rPr lang="es-ES" sz="2400" b="1" dirty="0" err="1">
                <a:solidFill>
                  <a:srgbClr val="182B46"/>
                </a:solidFill>
              </a:rPr>
              <a:t>business</a:t>
            </a:r>
            <a:r>
              <a:rPr lang="es-ES" sz="2400" b="1" dirty="0">
                <a:solidFill>
                  <a:srgbClr val="182B46"/>
                </a:solidFill>
              </a:rPr>
              <a:t> case?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13EF4491-4EDA-417D-BE77-E16DBCDA0F0A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1250" b="0" i="0" dirty="0" err="1">
                <a:solidFill>
                  <a:srgbClr val="526070"/>
                </a:solidFill>
                <a:latin typeface="Calibri"/>
              </a:rPr>
              <a:t>Roadmap</a:t>
            </a:r>
            <a:r>
              <a:rPr lang="es-PE" sz="1250" b="0" i="0" dirty="0">
                <a:solidFill>
                  <a:srgbClr val="526070"/>
                </a:solidFill>
                <a:latin typeface="Calibri"/>
              </a:rPr>
              <a:t> de Proyectos de TI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C5CDED-7DEF-462A-8090-8FBDB2353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337" y="989772"/>
            <a:ext cx="8055325" cy="5563452"/>
          </a:xfrm>
          <a:prstGeom prst="rect">
            <a:avLst/>
          </a:prstGeom>
        </p:spPr>
      </p:pic>
      <p:sp>
        <p:nvSpPr>
          <p:cNvPr id="20" name="Rectángulo 19">
            <a:extLst>
              <a:ext uri="{FF2B5EF4-FFF2-40B4-BE49-F238E27FC236}">
                <a16:creationId xmlns:a16="http://schemas.microsoft.com/office/drawing/2014/main" id="{245E0CE8-C899-4DB1-894D-151830F4CFBE}"/>
              </a:ext>
            </a:extLst>
          </p:cNvPr>
          <p:cNvSpPr/>
          <p:nvPr/>
        </p:nvSpPr>
        <p:spPr>
          <a:xfrm>
            <a:off x="2307514" y="1163663"/>
            <a:ext cx="1097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Objetivo</a:t>
            </a:r>
            <a:endParaRPr lang="es-PE" b="1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5E79A3F-4DE4-4487-A223-9BA3CC72504F}"/>
              </a:ext>
            </a:extLst>
          </p:cNvPr>
          <p:cNvSpPr/>
          <p:nvPr/>
        </p:nvSpPr>
        <p:spPr>
          <a:xfrm>
            <a:off x="3716328" y="1641263"/>
            <a:ext cx="6096000" cy="71070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Demostrar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manera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objetiva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estructurada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si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una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iniciativa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genera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suficiente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valor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justifica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inversión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0533020-8948-4DAD-9D5D-9C92B2D02C6C}"/>
              </a:ext>
            </a:extLst>
          </p:cNvPr>
          <p:cNvSpPr/>
          <p:nvPr/>
        </p:nvSpPr>
        <p:spPr>
          <a:xfrm>
            <a:off x="2307514" y="2657965"/>
            <a:ext cx="1249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Preguntas</a:t>
            </a:r>
            <a:endParaRPr lang="es-PE" sz="2000" b="1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EDC4903-39AD-4E7D-8B04-48087F948377}"/>
              </a:ext>
            </a:extLst>
          </p:cNvPr>
          <p:cNvSpPr/>
          <p:nvPr/>
        </p:nvSpPr>
        <p:spPr>
          <a:xfrm>
            <a:off x="2331012" y="3902655"/>
            <a:ext cx="1398140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Valor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¿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Qué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beneficios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aportará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endParaRPr lang="es-PE" sz="14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48CEB8A-6806-4C01-8AB1-5BE4B71E6E58}"/>
              </a:ext>
            </a:extLst>
          </p:cNvPr>
          <p:cNvSpPr/>
          <p:nvPr/>
        </p:nvSpPr>
        <p:spPr>
          <a:xfrm>
            <a:off x="4111602" y="3927481"/>
            <a:ext cx="995785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Costos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¿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Cuál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es la </a:t>
            </a:r>
          </a:p>
          <a:p>
            <a:pPr algn="ctr"/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inversión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endParaRPr lang="es-PE" sz="1400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7A63C78-FF65-4960-9EBD-0E33AD3DD588}"/>
              </a:ext>
            </a:extLst>
          </p:cNvPr>
          <p:cNvSpPr/>
          <p:nvPr/>
        </p:nvSpPr>
        <p:spPr>
          <a:xfrm>
            <a:off x="5305026" y="3914544"/>
            <a:ext cx="139814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Riesgos</a:t>
            </a:r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¿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Qué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puede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afectar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el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éxito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endParaRPr lang="es-PE" sz="14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DFB910B-3C6B-4EFE-B5FF-4DE3F65CEACF}"/>
              </a:ext>
            </a:extLst>
          </p:cNvPr>
          <p:cNvSpPr/>
          <p:nvPr/>
        </p:nvSpPr>
        <p:spPr>
          <a:xfrm>
            <a:off x="6703166" y="3914544"/>
            <a:ext cx="1575874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Alineación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¿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Cómo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contribuye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a la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estrategia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endParaRPr lang="es-PE" sz="14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390197B-95E0-4D39-8F4A-4ED9E5845727}"/>
              </a:ext>
            </a:extLst>
          </p:cNvPr>
          <p:cNvSpPr/>
          <p:nvPr/>
        </p:nvSpPr>
        <p:spPr>
          <a:xfrm>
            <a:off x="8279041" y="3902655"/>
            <a:ext cx="1533288" cy="857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Alternativas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¿</a:t>
            </a:r>
            <a:r>
              <a:rPr lang="en-US" sz="13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Existen</a:t>
            </a:r>
            <a:r>
              <a:rPr lang="en-US" sz="13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opciones</a:t>
            </a:r>
            <a:r>
              <a:rPr lang="en-US" sz="13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más</a:t>
            </a:r>
            <a:r>
              <a:rPr lang="en-US" sz="13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3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convenientes</a:t>
            </a:r>
            <a:r>
              <a:rPr lang="en-US" sz="13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endParaRPr lang="es-PE" sz="1300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94F0D4B3-72D5-4BCA-889B-4DE8721AA075}"/>
              </a:ext>
            </a:extLst>
          </p:cNvPr>
          <p:cNvSpPr/>
          <p:nvPr/>
        </p:nvSpPr>
        <p:spPr>
          <a:xfrm>
            <a:off x="2307514" y="5983291"/>
            <a:ext cx="16137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Idea de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iniciativa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s-PE" sz="14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FF145CC-7097-4D1B-B340-6162ED17B05C}"/>
              </a:ext>
            </a:extLst>
          </p:cNvPr>
          <p:cNvSpPr/>
          <p:nvPr/>
        </p:nvSpPr>
        <p:spPr>
          <a:xfrm>
            <a:off x="8223620" y="5933819"/>
            <a:ext cx="16137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ejecución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portafolio</a:t>
            </a:r>
            <a:endParaRPr lang="es-PE" sz="14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67ADDAB-3E74-4671-8A90-45E059AC38B6}"/>
              </a:ext>
            </a:extLst>
          </p:cNvPr>
          <p:cNvSpPr/>
          <p:nvPr/>
        </p:nvSpPr>
        <p:spPr>
          <a:xfrm>
            <a:off x="6291788" y="5949318"/>
            <a:ext cx="16137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decisión</a:t>
            </a:r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sz="14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inclusión</a:t>
            </a:r>
            <a:endParaRPr lang="es-PE" sz="14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E756BBF9-FA02-4FAF-97DF-513E810F186B}"/>
              </a:ext>
            </a:extLst>
          </p:cNvPr>
          <p:cNvSpPr/>
          <p:nvPr/>
        </p:nvSpPr>
        <p:spPr>
          <a:xfrm>
            <a:off x="4367657" y="5998789"/>
            <a:ext cx="161377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Business case </a:t>
            </a:r>
            <a:endParaRPr lang="es-PE" sz="1400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49046F42-E069-41A2-B4DC-8CC080B79AB6}"/>
              </a:ext>
            </a:extLst>
          </p:cNvPr>
          <p:cNvSpPr/>
          <p:nvPr/>
        </p:nvSpPr>
        <p:spPr>
          <a:xfrm>
            <a:off x="2231596" y="4973250"/>
            <a:ext cx="2893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Relación</a:t>
            </a:r>
            <a:r>
              <a:rPr lang="en-US" sz="2000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con el </a:t>
            </a:r>
            <a:r>
              <a:rPr lang="en-US" sz="20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portafolio</a:t>
            </a:r>
            <a:endParaRPr lang="es-PE" sz="2000" b="1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5" name="Shape 7">
            <a:extLst>
              <a:ext uri="{FF2B5EF4-FFF2-40B4-BE49-F238E27FC236}">
                <a16:creationId xmlns:a16="http://schemas.microsoft.com/office/drawing/2014/main" id="{CD831217-966F-4173-A892-8ED8810B981D}"/>
              </a:ext>
            </a:extLst>
          </p:cNvPr>
          <p:cNvSpPr txBox="1"/>
          <p:nvPr/>
        </p:nvSpPr>
        <p:spPr>
          <a:xfrm>
            <a:off x="693816" y="6529470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  <p:extLst>
      <p:ext uri="{BB962C8B-B14F-4D97-AF65-F5344CB8AC3E}">
        <p14:creationId xmlns:p14="http://schemas.microsoft.com/office/powerpoint/2010/main" val="1471867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2400" b="1" i="0" dirty="0">
                <a:solidFill>
                  <a:srgbClr val="182B46"/>
                </a:solidFill>
                <a:latin typeface="Calibri"/>
              </a:rPr>
              <a:t>Componentes de un Business case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4" name="Shape 4"/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PE" sz="1250" dirty="0" err="1">
                <a:solidFill>
                  <a:srgbClr val="526070"/>
                </a:solidFill>
              </a:rPr>
              <a:t>Roadmap</a:t>
            </a:r>
            <a:r>
              <a:rPr lang="es-PE" sz="1250" dirty="0">
                <a:solidFill>
                  <a:srgbClr val="526070"/>
                </a:solidFill>
              </a:rPr>
              <a:t> de Proyectos de TI</a:t>
            </a:r>
          </a:p>
        </p:txBody>
      </p:sp>
      <p:sp>
        <p:nvSpPr>
          <p:cNvPr id="8" name="Shape 8"/>
          <p:cNvSpPr/>
          <p:nvPr/>
        </p:nvSpPr>
        <p:spPr>
          <a:xfrm>
            <a:off x="990600" y="178308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250" b="1" dirty="0" err="1">
                <a:solidFill>
                  <a:srgbClr val="2467AB"/>
                </a:solidFill>
                <a:latin typeface="Calibri"/>
              </a:rPr>
              <a:t>Resumen</a:t>
            </a:r>
            <a:r>
              <a:rPr lang="en-US" sz="1250" b="1" dirty="0">
                <a:solidFill>
                  <a:srgbClr val="2467AB"/>
                </a:solidFill>
                <a:latin typeface="Calibri"/>
              </a:rPr>
              <a:t> </a:t>
            </a:r>
            <a:r>
              <a:rPr lang="en-US" sz="1250" b="1" dirty="0" err="1">
                <a:solidFill>
                  <a:srgbClr val="2467AB"/>
                </a:solidFill>
                <a:latin typeface="Calibri"/>
              </a:rPr>
              <a:t>ejecutivo</a:t>
            </a:r>
            <a:endParaRPr lang="en-US" sz="1250" b="1" dirty="0">
              <a:solidFill>
                <a:srgbClr val="2467AB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</a:rPr>
              <a:t>Visión general, objetivo, beneficios clave y recomendación.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9" name="Shape 9"/>
          <p:cNvSpPr/>
          <p:nvPr/>
        </p:nvSpPr>
        <p:spPr>
          <a:xfrm>
            <a:off x="4434840" y="178308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250" b="1" dirty="0">
                <a:solidFill>
                  <a:srgbClr val="2467AB"/>
                </a:solidFill>
              </a:rPr>
              <a:t>Objetivos y alineación estratégica</a:t>
            </a:r>
          </a:p>
          <a:p>
            <a:pPr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</a:rPr>
              <a:t>¿Qué se busca lograr y cómo contribuye al negocio?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7879080" y="1783080"/>
            <a:ext cx="3261360" cy="1234440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ES" sz="1250" b="1" dirty="0">
                <a:solidFill>
                  <a:srgbClr val="2467AB"/>
                </a:solidFill>
              </a:rPr>
              <a:t>Análisis de la situación actual</a:t>
            </a:r>
          </a:p>
          <a:p>
            <a:pPr>
              <a:spcAft>
                <a:spcPts val="400"/>
              </a:spcAft>
            </a:pPr>
            <a:r>
              <a:rPr lang="es-PE" sz="1250" dirty="0">
                <a:solidFill>
                  <a:srgbClr val="2A3542"/>
                </a:solidFill>
              </a:rPr>
              <a:t>Contexto, problemas u oportunidades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990600" y="3154680"/>
            <a:ext cx="3261360" cy="123444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250" b="1" dirty="0">
                <a:solidFill>
                  <a:srgbClr val="2467AB"/>
                </a:solidFill>
              </a:rPr>
              <a:t>Descripción de la solución</a:t>
            </a:r>
          </a:p>
          <a:p>
            <a:pPr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</a:rPr>
              <a:t>Propuesta, funcionamiento y alternativas consideradas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434840" y="3154680"/>
            <a:ext cx="3261360" cy="123444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Costos</a:t>
            </a:r>
          </a:p>
          <a:p>
            <a:r>
              <a:rPr lang="es-ES" sz="1250" dirty="0">
                <a:solidFill>
                  <a:srgbClr val="2A3542"/>
                </a:solidFill>
              </a:rPr>
              <a:t>Inversión inicial, operación y mantenimiento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7879080" y="3154680"/>
            <a:ext cx="3261360" cy="1234440"/>
          </a:xfrm>
          <a:prstGeom prst="roundRect">
            <a:avLst/>
          </a:prstGeom>
          <a:solidFill>
            <a:srgbClr val="E8F1FA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Beneficios esperados</a:t>
            </a:r>
          </a:p>
          <a:p>
            <a:r>
              <a:rPr lang="es-ES" sz="1250" dirty="0">
                <a:solidFill>
                  <a:srgbClr val="2A3542"/>
                </a:solidFill>
              </a:rPr>
              <a:t>Tangibles e intangibles, cuantificados cuando sea posible.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990600" y="4526280"/>
            <a:ext cx="3261360" cy="1234440"/>
          </a:xfrm>
          <a:prstGeom prst="roundRect">
            <a:avLst/>
          </a:prstGeom>
          <a:solidFill>
            <a:srgbClr val="E6F6F4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PE" sz="1250" b="1" i="0" dirty="0">
                <a:solidFill>
                  <a:srgbClr val="2467AB"/>
                </a:solidFill>
                <a:latin typeface="Calibri"/>
              </a:rPr>
              <a:t>Riesgos y mitigación</a:t>
            </a:r>
          </a:p>
          <a:p>
            <a:r>
              <a:rPr lang="es-ES" sz="1250" dirty="0">
                <a:solidFill>
                  <a:srgbClr val="2A3542"/>
                </a:solidFill>
              </a:rPr>
              <a:t>Riesgos principales y acciones previstas.</a:t>
            </a:r>
            <a:endParaRPr lang="es-PE" sz="1250" b="0" i="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434840" y="4526280"/>
            <a:ext cx="3261360" cy="1234440"/>
          </a:xfrm>
          <a:prstGeom prst="roundRect">
            <a:avLst/>
          </a:prstGeom>
          <a:solidFill>
            <a:srgbClr val="FCF6D7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s-PE" sz="1250" b="1" dirty="0">
                <a:solidFill>
                  <a:srgbClr val="2467AB"/>
                </a:solidFill>
                <a:latin typeface="Calibri"/>
              </a:rPr>
              <a:t>Evaluación y recomendación</a:t>
            </a:r>
          </a:p>
          <a:p>
            <a:pPr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</a:rPr>
              <a:t>Alternativas, indicadores financieros y recomendación.</a:t>
            </a:r>
            <a:endParaRPr lang="es-PE" sz="1250" dirty="0">
              <a:solidFill>
                <a:srgbClr val="2A3542"/>
              </a:solidFill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E23BC3B2-02AC-4B73-9062-C14274F1348D}"/>
              </a:ext>
            </a:extLst>
          </p:cNvPr>
          <p:cNvSpPr txBox="1"/>
          <p:nvPr/>
        </p:nvSpPr>
        <p:spPr>
          <a:xfrm>
            <a:off x="693816" y="6529470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</p:spTree>
    <p:extLst>
      <p:ext uri="{BB962C8B-B14F-4D97-AF65-F5344CB8AC3E}">
        <p14:creationId xmlns:p14="http://schemas.microsoft.com/office/powerpoint/2010/main" val="70152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Evaluación de alternativas, costos y beneficio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530352" y="5998464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68CB478D-0879-4BC7-9ABD-476445831CB7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PE" sz="1250" dirty="0" err="1">
                <a:solidFill>
                  <a:srgbClr val="526070"/>
                </a:solidFill>
              </a:rPr>
              <a:t>Roadmap</a:t>
            </a:r>
            <a:r>
              <a:rPr lang="es-PE" sz="1250" dirty="0">
                <a:solidFill>
                  <a:srgbClr val="526070"/>
                </a:solidFill>
              </a:rPr>
              <a:t> de Proyectos de TI</a:t>
            </a:r>
          </a:p>
        </p:txBody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E8D1727B-6E9C-40C9-8F57-64D376111086}"/>
              </a:ext>
            </a:extLst>
          </p:cNvPr>
          <p:cNvSpPr/>
          <p:nvPr/>
        </p:nvSpPr>
        <p:spPr>
          <a:xfrm>
            <a:off x="816323" y="2538097"/>
            <a:ext cx="3105326" cy="382243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 err="1">
                <a:solidFill>
                  <a:srgbClr val="002060"/>
                </a:solidFill>
              </a:rPr>
              <a:t>Inversión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inicial</a:t>
            </a:r>
            <a:r>
              <a:rPr lang="en-US" sz="1600" dirty="0">
                <a:solidFill>
                  <a:srgbClr val="002060"/>
                </a:solidFill>
              </a:rPr>
              <a:t> (U</a:t>
            </a:r>
            <a:r>
              <a:rPr lang="en-US" dirty="0">
                <a:solidFill>
                  <a:srgbClr val="002060"/>
                </a:solidFill>
              </a:rPr>
              <a:t>SD)</a:t>
            </a:r>
            <a:endParaRPr lang="es-PE" sz="1250" b="0" i="0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D6B5ACC-8CF5-47A2-B737-B377C839BE89}"/>
              </a:ext>
            </a:extLst>
          </p:cNvPr>
          <p:cNvSpPr/>
          <p:nvPr/>
        </p:nvSpPr>
        <p:spPr>
          <a:xfrm>
            <a:off x="4066757" y="2538097"/>
            <a:ext cx="2444754" cy="393673"/>
          </a:xfrm>
          <a:prstGeom prst="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300 000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CAC56A9-280D-43F0-A26A-5FB30DC0025C}"/>
              </a:ext>
            </a:extLst>
          </p:cNvPr>
          <p:cNvSpPr/>
          <p:nvPr/>
        </p:nvSpPr>
        <p:spPr>
          <a:xfrm>
            <a:off x="9153706" y="2526668"/>
            <a:ext cx="2444754" cy="393673"/>
          </a:xfrm>
          <a:prstGeom prst="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220 000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8D0634C-F285-47F3-9E3E-ECC6E79DDBB0}"/>
              </a:ext>
            </a:extLst>
          </p:cNvPr>
          <p:cNvSpPr/>
          <p:nvPr/>
        </p:nvSpPr>
        <p:spPr>
          <a:xfrm>
            <a:off x="6614492" y="2526668"/>
            <a:ext cx="2444754" cy="3936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150 000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B6CAE906-8A24-4DBC-8405-FCD05494C974}"/>
              </a:ext>
            </a:extLst>
          </p:cNvPr>
          <p:cNvSpPr/>
          <p:nvPr/>
        </p:nvSpPr>
        <p:spPr>
          <a:xfrm>
            <a:off x="816323" y="3038949"/>
            <a:ext cx="3105326" cy="382243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 err="1">
                <a:solidFill>
                  <a:srgbClr val="002060"/>
                </a:solidFill>
              </a:rPr>
              <a:t>Costos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anuales</a:t>
            </a:r>
            <a:r>
              <a:rPr lang="en-US" sz="1600" dirty="0">
                <a:solidFill>
                  <a:srgbClr val="002060"/>
                </a:solidFill>
              </a:rPr>
              <a:t> (USD)</a:t>
            </a:r>
            <a:endParaRPr lang="es-PE" sz="1600" dirty="0">
              <a:solidFill>
                <a:srgbClr val="002060"/>
              </a:solidFill>
            </a:endParaRPr>
          </a:p>
        </p:txBody>
      </p:sp>
      <p:sp>
        <p:nvSpPr>
          <p:cNvPr id="23" name="Shape 8">
            <a:extLst>
              <a:ext uri="{FF2B5EF4-FFF2-40B4-BE49-F238E27FC236}">
                <a16:creationId xmlns:a16="http://schemas.microsoft.com/office/drawing/2014/main" id="{71D6E8A7-493D-4845-803E-1CBF2DBBDD33}"/>
              </a:ext>
            </a:extLst>
          </p:cNvPr>
          <p:cNvSpPr/>
          <p:nvPr/>
        </p:nvSpPr>
        <p:spPr>
          <a:xfrm>
            <a:off x="816323" y="3526596"/>
            <a:ext cx="3105326" cy="382243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 err="1">
                <a:solidFill>
                  <a:srgbClr val="002060"/>
                </a:solidFill>
              </a:rPr>
              <a:t>Beneficios</a:t>
            </a:r>
            <a:r>
              <a:rPr lang="en-US" sz="1600" dirty="0">
                <a:solidFill>
                  <a:srgbClr val="002060"/>
                </a:solidFill>
              </a:rPr>
              <a:t> </a:t>
            </a:r>
            <a:r>
              <a:rPr lang="en-US" sz="1600" dirty="0" err="1">
                <a:solidFill>
                  <a:srgbClr val="002060"/>
                </a:solidFill>
              </a:rPr>
              <a:t>anuales</a:t>
            </a:r>
            <a:r>
              <a:rPr lang="en-US" sz="1600" dirty="0">
                <a:solidFill>
                  <a:srgbClr val="002060"/>
                </a:solidFill>
              </a:rPr>
              <a:t> (USD)</a:t>
            </a:r>
            <a:endParaRPr lang="es-PE" sz="1600" dirty="0">
              <a:solidFill>
                <a:srgbClr val="002060"/>
              </a:solidFill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2CAF6307-E560-4BF4-B795-4C5F8A9BB17C}"/>
              </a:ext>
            </a:extLst>
          </p:cNvPr>
          <p:cNvSpPr/>
          <p:nvPr/>
        </p:nvSpPr>
        <p:spPr>
          <a:xfrm>
            <a:off x="4066757" y="3050379"/>
            <a:ext cx="2444754" cy="393673"/>
          </a:xfrm>
          <a:prstGeom prst="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80 000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51A4726-5B7F-4E4E-9685-22EB4783840E}"/>
              </a:ext>
            </a:extLst>
          </p:cNvPr>
          <p:cNvSpPr/>
          <p:nvPr/>
        </p:nvSpPr>
        <p:spPr>
          <a:xfrm>
            <a:off x="9153706" y="3038949"/>
            <a:ext cx="2444754" cy="393673"/>
          </a:xfrm>
          <a:prstGeom prst="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70 000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BE0AD3B-6A31-4554-9206-3C44FF09B81C}"/>
              </a:ext>
            </a:extLst>
          </p:cNvPr>
          <p:cNvSpPr/>
          <p:nvPr/>
        </p:nvSpPr>
        <p:spPr>
          <a:xfrm>
            <a:off x="6614492" y="3038949"/>
            <a:ext cx="2444754" cy="3936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60 000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57415D6-A5E4-44A3-A1C4-87D3D53C8074}"/>
              </a:ext>
            </a:extLst>
          </p:cNvPr>
          <p:cNvSpPr/>
          <p:nvPr/>
        </p:nvSpPr>
        <p:spPr>
          <a:xfrm>
            <a:off x="4066757" y="3551231"/>
            <a:ext cx="2444754" cy="393673"/>
          </a:xfrm>
          <a:prstGeom prst="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200 000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CA6241D-46B1-489F-BA42-84FBB34E6B06}"/>
              </a:ext>
            </a:extLst>
          </p:cNvPr>
          <p:cNvSpPr/>
          <p:nvPr/>
        </p:nvSpPr>
        <p:spPr>
          <a:xfrm>
            <a:off x="9153706" y="3539801"/>
            <a:ext cx="2444754" cy="393673"/>
          </a:xfrm>
          <a:prstGeom prst="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230 000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79D586D-F98C-4170-B827-836F37DCE543}"/>
              </a:ext>
            </a:extLst>
          </p:cNvPr>
          <p:cNvSpPr/>
          <p:nvPr/>
        </p:nvSpPr>
        <p:spPr>
          <a:xfrm>
            <a:off x="6614492" y="3539801"/>
            <a:ext cx="2444754" cy="3936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250 000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04E6DFB5-A401-4179-A718-E116CD0F5647}"/>
              </a:ext>
            </a:extLst>
          </p:cNvPr>
          <p:cNvSpPr/>
          <p:nvPr/>
        </p:nvSpPr>
        <p:spPr>
          <a:xfrm>
            <a:off x="816323" y="4056657"/>
            <a:ext cx="3105326" cy="382243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002060"/>
                </a:solidFill>
              </a:rPr>
              <a:t>VAN (USD, 3 </a:t>
            </a:r>
            <a:r>
              <a:rPr lang="en-US" sz="1600" dirty="0" err="1">
                <a:solidFill>
                  <a:srgbClr val="002060"/>
                </a:solidFill>
              </a:rPr>
              <a:t>años</a:t>
            </a:r>
            <a:r>
              <a:rPr lang="en-US" sz="1600" dirty="0">
                <a:solidFill>
                  <a:srgbClr val="002060"/>
                </a:solidFill>
              </a:rPr>
              <a:t>)</a:t>
            </a:r>
            <a:endParaRPr lang="es-PE" sz="1600" dirty="0">
              <a:solidFill>
                <a:srgbClr val="00206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B1B0C24-125E-450A-B5A9-AFF0B251E562}"/>
              </a:ext>
            </a:extLst>
          </p:cNvPr>
          <p:cNvSpPr/>
          <p:nvPr/>
        </p:nvSpPr>
        <p:spPr>
          <a:xfrm>
            <a:off x="4066757" y="4056657"/>
            <a:ext cx="2444754" cy="393673"/>
          </a:xfrm>
          <a:prstGeom prst="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150 000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2D5CEB2-299F-40CB-B3C2-E6DF7CEF725B}"/>
              </a:ext>
            </a:extLst>
          </p:cNvPr>
          <p:cNvSpPr/>
          <p:nvPr/>
        </p:nvSpPr>
        <p:spPr>
          <a:xfrm>
            <a:off x="9153706" y="4045227"/>
            <a:ext cx="2444754" cy="393673"/>
          </a:xfrm>
          <a:prstGeom prst="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210 000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AB1767C-F263-45EE-A63D-2F59690014CD}"/>
              </a:ext>
            </a:extLst>
          </p:cNvPr>
          <p:cNvSpPr/>
          <p:nvPr/>
        </p:nvSpPr>
        <p:spPr>
          <a:xfrm>
            <a:off x="6614492" y="4045227"/>
            <a:ext cx="2444754" cy="3936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220 000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4" name="Shape 8">
            <a:extLst>
              <a:ext uri="{FF2B5EF4-FFF2-40B4-BE49-F238E27FC236}">
                <a16:creationId xmlns:a16="http://schemas.microsoft.com/office/drawing/2014/main" id="{7E146A02-2EC3-42CC-BFCF-C721B0CCE474}"/>
              </a:ext>
            </a:extLst>
          </p:cNvPr>
          <p:cNvSpPr/>
          <p:nvPr/>
        </p:nvSpPr>
        <p:spPr>
          <a:xfrm>
            <a:off x="816323" y="4557509"/>
            <a:ext cx="3105326" cy="382243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002060"/>
                </a:solidFill>
              </a:rPr>
              <a:t>TIR</a:t>
            </a:r>
            <a:endParaRPr lang="es-PE" sz="1600" dirty="0">
              <a:solidFill>
                <a:srgbClr val="002060"/>
              </a:solidFill>
            </a:endParaRP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5941FBC4-696C-4997-8903-1F1319E19A15}"/>
              </a:ext>
            </a:extLst>
          </p:cNvPr>
          <p:cNvSpPr/>
          <p:nvPr/>
        </p:nvSpPr>
        <p:spPr>
          <a:xfrm>
            <a:off x="816323" y="5045156"/>
            <a:ext cx="3105326" cy="382243"/>
          </a:xfrm>
          <a:prstGeom prst="round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 err="1">
                <a:solidFill>
                  <a:srgbClr val="002060"/>
                </a:solidFill>
              </a:rPr>
              <a:t>Período</a:t>
            </a:r>
            <a:r>
              <a:rPr lang="en-US" sz="1600" dirty="0">
                <a:solidFill>
                  <a:srgbClr val="002060"/>
                </a:solidFill>
              </a:rPr>
              <a:t> de </a:t>
            </a:r>
            <a:r>
              <a:rPr lang="en-US" sz="1600" dirty="0" err="1">
                <a:solidFill>
                  <a:srgbClr val="002060"/>
                </a:solidFill>
              </a:rPr>
              <a:t>recuperación</a:t>
            </a:r>
            <a:r>
              <a:rPr lang="en-US" sz="1600" dirty="0">
                <a:solidFill>
                  <a:srgbClr val="002060"/>
                </a:solidFill>
              </a:rPr>
              <a:t> (</a:t>
            </a:r>
            <a:r>
              <a:rPr lang="en-US" sz="1600" dirty="0" err="1">
                <a:solidFill>
                  <a:srgbClr val="002060"/>
                </a:solidFill>
              </a:rPr>
              <a:t>años</a:t>
            </a:r>
            <a:r>
              <a:rPr lang="en-US" sz="1600" dirty="0">
                <a:solidFill>
                  <a:srgbClr val="002060"/>
                </a:solidFill>
              </a:rPr>
              <a:t>)</a:t>
            </a:r>
            <a:endParaRPr lang="es-PE" sz="1600" dirty="0">
              <a:solidFill>
                <a:srgbClr val="002060"/>
              </a:solidFill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4D3680E-ED43-4F55-A81D-B47E0EACAE7E}"/>
              </a:ext>
            </a:extLst>
          </p:cNvPr>
          <p:cNvSpPr/>
          <p:nvPr/>
        </p:nvSpPr>
        <p:spPr>
          <a:xfrm>
            <a:off x="4066757" y="4568938"/>
            <a:ext cx="2444754" cy="393673"/>
          </a:xfrm>
          <a:prstGeom prst="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18%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171B7E00-6E7D-4128-ACC8-993303211578}"/>
              </a:ext>
            </a:extLst>
          </p:cNvPr>
          <p:cNvSpPr/>
          <p:nvPr/>
        </p:nvSpPr>
        <p:spPr>
          <a:xfrm>
            <a:off x="9153706" y="4557509"/>
            <a:ext cx="2444754" cy="393673"/>
          </a:xfrm>
          <a:prstGeom prst="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24%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736A8EE-58D4-4393-8735-91002CFCCFDF}"/>
              </a:ext>
            </a:extLst>
          </p:cNvPr>
          <p:cNvSpPr/>
          <p:nvPr/>
        </p:nvSpPr>
        <p:spPr>
          <a:xfrm>
            <a:off x="6614492" y="4557509"/>
            <a:ext cx="2444754" cy="3936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32%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84A5FA9-4812-446E-BB82-ECF36972701E}"/>
              </a:ext>
            </a:extLst>
          </p:cNvPr>
          <p:cNvSpPr/>
          <p:nvPr/>
        </p:nvSpPr>
        <p:spPr>
          <a:xfrm>
            <a:off x="4066757" y="5069790"/>
            <a:ext cx="2444754" cy="393673"/>
          </a:xfrm>
          <a:prstGeom prst="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2.5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3AAA2F5-C96C-4F60-9E54-B95D31687555}"/>
              </a:ext>
            </a:extLst>
          </p:cNvPr>
          <p:cNvSpPr/>
          <p:nvPr/>
        </p:nvSpPr>
        <p:spPr>
          <a:xfrm>
            <a:off x="9153706" y="5058361"/>
            <a:ext cx="2444754" cy="393673"/>
          </a:xfrm>
          <a:prstGeom prst="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2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4435398-6C90-4AEF-AB16-0428FE0BC9A3}"/>
              </a:ext>
            </a:extLst>
          </p:cNvPr>
          <p:cNvSpPr/>
          <p:nvPr/>
        </p:nvSpPr>
        <p:spPr>
          <a:xfrm>
            <a:off x="6614492" y="5058361"/>
            <a:ext cx="2444754" cy="39367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8872" tIns="118872" rIns="118872" bIns="11887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1.5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8C62574-9EA7-46FD-B91D-B97763713FC2}"/>
              </a:ext>
            </a:extLst>
          </p:cNvPr>
          <p:cNvSpPr/>
          <p:nvPr/>
        </p:nvSpPr>
        <p:spPr>
          <a:xfrm>
            <a:off x="4066757" y="1695638"/>
            <a:ext cx="2444754" cy="669116"/>
          </a:xfrm>
          <a:prstGeom prst="rect">
            <a:avLst/>
          </a:prstGeom>
          <a:solidFill>
            <a:srgbClr val="EFF2F5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Alternativa 1</a:t>
            </a:r>
          </a:p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Desarrollo interno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9742B0BE-A0AD-455A-AD99-5CFE9CB67376}"/>
              </a:ext>
            </a:extLst>
          </p:cNvPr>
          <p:cNvSpPr/>
          <p:nvPr/>
        </p:nvSpPr>
        <p:spPr>
          <a:xfrm>
            <a:off x="6614492" y="1697096"/>
            <a:ext cx="2444754" cy="66911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b="1" dirty="0">
                <a:solidFill>
                  <a:srgbClr val="2A3542"/>
                </a:solidFill>
                <a:latin typeface="Calibri"/>
              </a:rPr>
              <a:t>Alternativa 2</a:t>
            </a:r>
          </a:p>
          <a:p>
            <a:pPr algn="ctr">
              <a:spcAft>
                <a:spcPts val="400"/>
              </a:spcAft>
            </a:pPr>
            <a:r>
              <a:rPr lang="es-ES" sz="1250" b="1" dirty="0">
                <a:solidFill>
                  <a:srgbClr val="2A3542"/>
                </a:solidFill>
                <a:latin typeface="Calibri"/>
              </a:rPr>
              <a:t>Solución en la nube</a:t>
            </a:r>
            <a:endParaRPr lang="es-PE" sz="1250" b="1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BBB6FB3F-30CB-4BDC-B6A6-50098E7FCAFE}"/>
              </a:ext>
            </a:extLst>
          </p:cNvPr>
          <p:cNvSpPr/>
          <p:nvPr/>
        </p:nvSpPr>
        <p:spPr>
          <a:xfrm>
            <a:off x="9162227" y="1694368"/>
            <a:ext cx="2444754" cy="669116"/>
          </a:xfrm>
          <a:prstGeom prst="rect">
            <a:avLst/>
          </a:prstGeom>
          <a:solidFill>
            <a:srgbClr val="F2D7D9"/>
          </a:solidFill>
          <a:ln w="10160">
            <a:solidFill>
              <a:srgbClr val="D6DB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tIns="118872" rIns="118872" bIns="118872" rtlCol="0" anchor="t">
            <a:noAutofit/>
          </a:bodyPr>
          <a:lstStyle/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Alternativa 3</a:t>
            </a:r>
          </a:p>
          <a:p>
            <a:pPr algn="ctr">
              <a:spcAft>
                <a:spcPts val="400"/>
              </a:spcAft>
            </a:pPr>
            <a:r>
              <a:rPr lang="es-ES" sz="1250" dirty="0">
                <a:solidFill>
                  <a:srgbClr val="2A3542"/>
                </a:solidFill>
                <a:latin typeface="Calibri"/>
              </a:rPr>
              <a:t>Solución híbrida</a:t>
            </a:r>
            <a:endParaRPr lang="es-PE" sz="1250" dirty="0">
              <a:solidFill>
                <a:srgbClr val="2A3542"/>
              </a:solidFill>
              <a:latin typeface="Calibri"/>
            </a:endParaRPr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C9D2CF6D-A770-4F95-8012-0D7E11C3EB24}"/>
              </a:ext>
            </a:extLst>
          </p:cNvPr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ES" sz="1350" b="1" dirty="0">
                <a:solidFill>
                  <a:srgbClr val="2A3542"/>
                </a:solidFill>
                <a:latin typeface="Calibri"/>
              </a:rPr>
              <a:t>Se debe evaluar y seleccionar la alternativa de mayor valor combinado</a:t>
            </a:r>
            <a:endParaRPr lang="es-PE" sz="1350" b="1" i="0" dirty="0">
              <a:solidFill>
                <a:srgbClr val="2A354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El </a:t>
            </a:r>
            <a:r>
              <a:rPr lang="es-ES" sz="2400" b="1" dirty="0" err="1">
                <a:solidFill>
                  <a:srgbClr val="182B46"/>
                </a:solidFill>
              </a:rPr>
              <a:t>business</a:t>
            </a:r>
            <a:r>
              <a:rPr lang="es-ES" sz="2400" b="1" dirty="0">
                <a:solidFill>
                  <a:srgbClr val="182B46"/>
                </a:solidFill>
              </a:rPr>
              <a:t> case como instrumento para la toma de decisiones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575777" y="6613177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68CB478D-0879-4BC7-9ABD-476445831CB7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PE" sz="1250" dirty="0" err="1">
                <a:solidFill>
                  <a:srgbClr val="526070"/>
                </a:solidFill>
              </a:rPr>
              <a:t>Roadmap</a:t>
            </a:r>
            <a:r>
              <a:rPr lang="es-PE" sz="1250" dirty="0">
                <a:solidFill>
                  <a:srgbClr val="526070"/>
                </a:solidFill>
              </a:rPr>
              <a:t> de Proyectos de TI</a:t>
            </a:r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C9D2CF6D-A770-4F95-8012-0D7E11C3EB24}"/>
              </a:ext>
            </a:extLst>
          </p:cNvPr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1350" b="1" dirty="0">
                <a:solidFill>
                  <a:srgbClr val="2A3542"/>
                </a:solidFill>
              </a:rPr>
              <a:t>El </a:t>
            </a:r>
            <a:r>
              <a:rPr lang="es-ES" sz="1350" b="1" dirty="0" err="1">
                <a:solidFill>
                  <a:srgbClr val="2A3542"/>
                </a:solidFill>
              </a:rPr>
              <a:t>business</a:t>
            </a:r>
            <a:r>
              <a:rPr lang="es-ES" sz="1350" b="1" dirty="0">
                <a:solidFill>
                  <a:srgbClr val="2A3542"/>
                </a:solidFill>
              </a:rPr>
              <a:t> case proporciona información objetiva y estructurada que ayuda a los decisores a priorizar iniciativas y asignar recursos de forma eficiente y establece las expectativas de resultados que luego se utilizarán para el seguimiento y la evaluación del proyecto.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46DBAAF-716B-4EB2-A675-349655774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802" y="1691640"/>
            <a:ext cx="9247238" cy="492153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85A0FC3F-FCCF-42E0-8B8C-7137A0645007}"/>
              </a:ext>
            </a:extLst>
          </p:cNvPr>
          <p:cNvSpPr/>
          <p:nvPr/>
        </p:nvSpPr>
        <p:spPr>
          <a:xfrm>
            <a:off x="1584960" y="1821426"/>
            <a:ext cx="10247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Proceso</a:t>
            </a:r>
            <a:endParaRPr lang="es-PE" b="1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33310729-6BD9-43FC-A8C6-7D460BB8AF90}"/>
              </a:ext>
            </a:extLst>
          </p:cNvPr>
          <p:cNvSpPr/>
          <p:nvPr/>
        </p:nvSpPr>
        <p:spPr>
          <a:xfrm>
            <a:off x="1584960" y="4122357"/>
            <a:ext cx="124598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Resultado</a:t>
            </a:r>
            <a:endParaRPr lang="es-PE" b="1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2EB0205-305B-4DD6-9E08-2A599369C566}"/>
              </a:ext>
            </a:extLst>
          </p:cNvPr>
          <p:cNvSpPr/>
          <p:nvPr/>
        </p:nvSpPr>
        <p:spPr>
          <a:xfrm>
            <a:off x="1580718" y="2985762"/>
            <a:ext cx="20578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Análisis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del business case </a:t>
            </a:r>
            <a:endParaRPr lang="es-P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1ECED6E-315E-4E9A-BAD4-243149AACFDB}"/>
              </a:ext>
            </a:extLst>
          </p:cNvPr>
          <p:cNvSpPr/>
          <p:nvPr/>
        </p:nvSpPr>
        <p:spPr>
          <a:xfrm>
            <a:off x="3868010" y="2985762"/>
            <a:ext cx="20578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por el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comité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decisión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33E13C08-6AF3-4CC1-8D13-B124499553BF}"/>
              </a:ext>
            </a:extLst>
          </p:cNvPr>
          <p:cNvSpPr/>
          <p:nvPr/>
        </p:nvSpPr>
        <p:spPr>
          <a:xfrm>
            <a:off x="6155302" y="2995173"/>
            <a:ext cx="2057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Decisión</a:t>
            </a:r>
            <a:endParaRPr lang="es-P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7F35922-EC91-4D3C-B434-DFE2D0226671}"/>
              </a:ext>
            </a:extLst>
          </p:cNvPr>
          <p:cNvSpPr/>
          <p:nvPr/>
        </p:nvSpPr>
        <p:spPr>
          <a:xfrm>
            <a:off x="8553392" y="2975003"/>
            <a:ext cx="1582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Inclusión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el </a:t>
            </a:r>
          </a:p>
          <a:p>
            <a:pPr algn="ctr"/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portafolio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lang="es-PE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04AE38-EF78-4F48-9A1D-18336F71507F}"/>
              </a:ext>
            </a:extLst>
          </p:cNvPr>
          <p:cNvSpPr/>
          <p:nvPr/>
        </p:nvSpPr>
        <p:spPr>
          <a:xfrm>
            <a:off x="1580719" y="5163238"/>
            <a:ext cx="20578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Aprobar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endParaRPr lang="en-US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(valor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suficiente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) </a:t>
            </a:r>
            <a:endParaRPr lang="es-PE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9A053A-53B3-480D-AE1B-3DDF135DA84B}"/>
              </a:ext>
            </a:extLst>
          </p:cNvPr>
          <p:cNvSpPr/>
          <p:nvPr/>
        </p:nvSpPr>
        <p:spPr>
          <a:xfrm>
            <a:off x="3638610" y="5163238"/>
            <a:ext cx="2278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Posponer</a:t>
            </a:r>
            <a:r>
              <a:rPr lang="en-US" b="1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restricciones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momento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inadecuado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s-PE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BE2B4C0-6E2F-4B22-B204-758757F031D7}"/>
              </a:ext>
            </a:extLst>
          </p:cNvPr>
          <p:cNvSpPr/>
          <p:nvPr/>
        </p:nvSpPr>
        <p:spPr>
          <a:xfrm>
            <a:off x="5934384" y="5163238"/>
            <a:ext cx="22788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Replantear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ajustar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alcance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costos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o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solución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); </a:t>
            </a:r>
            <a:endParaRPr lang="es-PE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67C7763-F6ED-465D-95BD-73FE33D1A868}"/>
              </a:ext>
            </a:extLst>
          </p:cNvPr>
          <p:cNvSpPr/>
          <p:nvPr/>
        </p:nvSpPr>
        <p:spPr>
          <a:xfrm>
            <a:off x="8230158" y="5155209"/>
            <a:ext cx="2057891" cy="12436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spcAft>
                <a:spcPts val="1000"/>
              </a:spcAft>
              <a:tabLst>
                <a:tab pos="228600" algn="l"/>
              </a:tabLst>
            </a:pPr>
            <a:r>
              <a:rPr lang="en-US" b="1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Descartar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          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(valor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insuficiente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desalineación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o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riesgo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inaceptable</a:t>
            </a:r>
            <a:r>
              <a:rPr lang="en-US" sz="1600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)</a:t>
            </a:r>
            <a:endParaRPr lang="es-PE" sz="1600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8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0B134DF-93F0-4878-8E9A-6D1B557C7F11}"/>
              </a:ext>
            </a:extLst>
          </p:cNvPr>
          <p:cNvSpPr/>
          <p:nvPr/>
        </p:nvSpPr>
        <p:spPr>
          <a:xfrm>
            <a:off x="137160" y="841248"/>
            <a:ext cx="11914632" cy="420624"/>
          </a:xfrm>
          <a:prstGeom prst="roundRect">
            <a:avLst/>
          </a:prstGeom>
          <a:solidFill>
            <a:srgbClr val="082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0B663-F94E-46C2-B15E-0A8AB7F8C7A0}"/>
              </a:ext>
            </a:extLst>
          </p:cNvPr>
          <p:cNvSpPr txBox="1"/>
          <p:nvPr/>
        </p:nvSpPr>
        <p:spPr>
          <a:xfrm>
            <a:off x="292608" y="877824"/>
            <a:ext cx="11430000" cy="310896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BUSINESS CASE  |  Plataforma de analítica de clientes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B87FB5-682B-46DB-A146-3DAAA87D7D5E}"/>
              </a:ext>
            </a:extLst>
          </p:cNvPr>
          <p:cNvSpPr/>
          <p:nvPr/>
        </p:nvSpPr>
        <p:spPr>
          <a:xfrm>
            <a:off x="201168" y="1417320"/>
            <a:ext cx="5760720" cy="1161288"/>
          </a:xfrm>
          <a:prstGeom prst="roundRect">
            <a:avLst/>
          </a:prstGeom>
          <a:solidFill>
            <a:srgbClr val="DFEF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752B2-C458-46A3-8615-042C0CA02948}"/>
              </a:ext>
            </a:extLst>
          </p:cNvPr>
          <p:cNvSpPr txBox="1"/>
          <p:nvPr/>
        </p:nvSpPr>
        <p:spPr>
          <a:xfrm>
            <a:off x="320040" y="1481328"/>
            <a:ext cx="548640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235B"/>
                </a:solidFill>
                <a:latin typeface="Aptos"/>
              </a:defRPr>
            </a:pPr>
            <a:r>
              <a:t>1. Situación y oportunidad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2A3A2-0B4B-4EA0-9ECF-6B9C0694A04C}"/>
              </a:ext>
            </a:extLst>
          </p:cNvPr>
          <p:cNvSpPr txBox="1"/>
          <p:nvPr/>
        </p:nvSpPr>
        <p:spPr>
          <a:xfrm>
            <a:off x="320040" y="1764792"/>
            <a:ext cx="5468112" cy="7498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Datos de clientes dispersos entre CRM, web y puntos de venta; campañas poco segmentadas y baja visibilidad de la retención.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CA468FD-ED5A-45DB-A35F-75F5006D7D28}"/>
              </a:ext>
            </a:extLst>
          </p:cNvPr>
          <p:cNvSpPr/>
          <p:nvPr/>
        </p:nvSpPr>
        <p:spPr>
          <a:xfrm>
            <a:off x="6108192" y="1417320"/>
            <a:ext cx="5879592" cy="1161288"/>
          </a:xfrm>
          <a:prstGeom prst="roundRect">
            <a:avLst/>
          </a:prstGeom>
          <a:solidFill>
            <a:srgbClr val="E0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63955-355F-4F83-822B-D91960EE8131}"/>
              </a:ext>
            </a:extLst>
          </p:cNvPr>
          <p:cNvSpPr txBox="1"/>
          <p:nvPr/>
        </p:nvSpPr>
        <p:spPr>
          <a:xfrm>
            <a:off x="6217920" y="1481328"/>
            <a:ext cx="5577840" cy="25603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235B"/>
                </a:solidFill>
                <a:latin typeface="Aptos"/>
              </a:defRPr>
            </a:pPr>
            <a:r>
              <a:t>2. Objetivo y alineación estratégica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032BAE-16C8-44AE-8221-03D523A2CED8}"/>
              </a:ext>
            </a:extLst>
          </p:cNvPr>
          <p:cNvSpPr txBox="1"/>
          <p:nvPr/>
        </p:nvSpPr>
        <p:spPr>
          <a:xfrm>
            <a:off x="6217920" y="1764792"/>
            <a:ext cx="5532120" cy="749808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Integrar información y personalizar ofertas para mejorar la experiencia del cliente y elevar la retención al menos 10% en el primer año.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0FDBBE7-3499-49A3-8D71-CFCC800FBF16}"/>
              </a:ext>
            </a:extLst>
          </p:cNvPr>
          <p:cNvSpPr/>
          <p:nvPr/>
        </p:nvSpPr>
        <p:spPr>
          <a:xfrm>
            <a:off x="201168" y="2679192"/>
            <a:ext cx="5760720" cy="1435608"/>
          </a:xfrm>
          <a:prstGeom prst="roundRect">
            <a:avLst/>
          </a:prstGeom>
          <a:solidFill>
            <a:srgbClr val="FFE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7F5F3-9541-4F8D-A7DC-168B48B9E0B1}"/>
              </a:ext>
            </a:extLst>
          </p:cNvPr>
          <p:cNvSpPr txBox="1"/>
          <p:nvPr/>
        </p:nvSpPr>
        <p:spPr>
          <a:xfrm>
            <a:off x="320040" y="2743200"/>
            <a:ext cx="54864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235B"/>
                </a:solidFill>
                <a:latin typeface="Aptos"/>
              </a:defRPr>
            </a:pPr>
            <a:r>
              <a:t>3. Alternativas consideradas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DB8E1-6C04-44FC-88E6-31BAA63508C7}"/>
              </a:ext>
            </a:extLst>
          </p:cNvPr>
          <p:cNvSpPr txBox="1"/>
          <p:nvPr/>
        </p:nvSpPr>
        <p:spPr>
          <a:xfrm>
            <a:off x="320040" y="3063240"/>
            <a:ext cx="5477256" cy="9601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050" b="0">
                <a:solidFill>
                  <a:srgbClr val="19273C"/>
                </a:solidFill>
                <a:latin typeface="Aptos"/>
              </a:defRPr>
            </a:pPr>
            <a:r>
              <a:t>A. Mantener herramientas actuales: menor inversión, beneficios limitados.</a:t>
            </a:r>
          </a:p>
          <a:p>
            <a:pPr>
              <a:spcAft>
                <a:spcPts val="400"/>
              </a:spcAft>
              <a:defRPr sz="1050" b="0">
                <a:solidFill>
                  <a:srgbClr val="19273C"/>
                </a:solidFill>
                <a:latin typeface="Aptos"/>
              </a:defRPr>
            </a:pPr>
            <a:r>
              <a:t>B. Implementar plataforma cloud: integración y escalabilidad (recomendada).</a:t>
            </a:r>
          </a:p>
          <a:p>
            <a:pPr>
              <a:spcAft>
                <a:spcPts val="400"/>
              </a:spcAft>
              <a:defRPr sz="1050" b="0">
                <a:solidFill>
                  <a:srgbClr val="19273C"/>
                </a:solidFill>
                <a:latin typeface="Aptos"/>
              </a:defRPr>
            </a:pPr>
            <a:r>
              <a:t>C. Desarrollo propio: mayor control, mayor plazo y complejidad.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19D2864-D86D-44D1-BD99-A9DD278754A8}"/>
              </a:ext>
            </a:extLst>
          </p:cNvPr>
          <p:cNvSpPr/>
          <p:nvPr/>
        </p:nvSpPr>
        <p:spPr>
          <a:xfrm>
            <a:off x="6108192" y="2679192"/>
            <a:ext cx="5879592" cy="1435608"/>
          </a:xfrm>
          <a:prstGeom prst="roundRect">
            <a:avLst/>
          </a:prstGeom>
          <a:solidFill>
            <a:srgbClr val="EAE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9F2DFA-2345-47C7-8D36-3FA79F78EFC3}"/>
              </a:ext>
            </a:extLst>
          </p:cNvPr>
          <p:cNvSpPr txBox="1"/>
          <p:nvPr/>
        </p:nvSpPr>
        <p:spPr>
          <a:xfrm>
            <a:off x="6217920" y="2743200"/>
            <a:ext cx="54864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235B"/>
                </a:solidFill>
                <a:latin typeface="Aptos"/>
              </a:defRPr>
            </a:pPr>
            <a:r>
              <a:t>4. Inversión y beneficios (USD)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B23292-5358-4FAD-876D-26A870AC79A4}"/>
              </a:ext>
            </a:extLst>
          </p:cNvPr>
          <p:cNvSpPr txBox="1"/>
          <p:nvPr/>
        </p:nvSpPr>
        <p:spPr>
          <a:xfrm>
            <a:off x="6217920" y="3063240"/>
            <a:ext cx="5532120" cy="9601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Inversión inicial: 320.000 | Operación anual: 80.000</a:t>
            </a:r>
          </a:p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Beneficios brutos anuales estimados: 220.000</a:t>
            </a:r>
          </a:p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Flujo neto anual estimado: 140.000 (años 1–4)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2CA7C00-CAB6-4C31-BD5E-41BDF46CEACA}"/>
              </a:ext>
            </a:extLst>
          </p:cNvPr>
          <p:cNvSpPr/>
          <p:nvPr/>
        </p:nvSpPr>
        <p:spPr>
          <a:xfrm>
            <a:off x="201168" y="4224528"/>
            <a:ext cx="5760720" cy="1307592"/>
          </a:xfrm>
          <a:prstGeom prst="roundRect">
            <a:avLst/>
          </a:prstGeom>
          <a:solidFill>
            <a:srgbClr val="E1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84E57A-0591-430E-A12D-768F584160AD}"/>
              </a:ext>
            </a:extLst>
          </p:cNvPr>
          <p:cNvSpPr txBox="1"/>
          <p:nvPr/>
        </p:nvSpPr>
        <p:spPr>
          <a:xfrm>
            <a:off x="320040" y="4288536"/>
            <a:ext cx="54864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235B"/>
                </a:solidFill>
                <a:latin typeface="Aptos"/>
              </a:defRPr>
            </a:pPr>
            <a:r>
              <a:t>5. Evaluación financiera ilustrativa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F01627-4625-4739-B4E2-3F6512948EE0}"/>
              </a:ext>
            </a:extLst>
          </p:cNvPr>
          <p:cNvSpPr txBox="1"/>
          <p:nvPr/>
        </p:nvSpPr>
        <p:spPr>
          <a:xfrm>
            <a:off x="320040" y="4617720"/>
            <a:ext cx="5477256" cy="8046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Horizonte: 4 años | Tasa de descuento: 10%</a:t>
            </a:r>
          </a:p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VAN: +USD 123.781 | Recuperación simple: 2,3 años</a:t>
            </a:r>
          </a:p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Supuesto: flujos netos constantes al cierre de cada año.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05D02AA-94DE-4D0C-96F2-F87A97681697}"/>
              </a:ext>
            </a:extLst>
          </p:cNvPr>
          <p:cNvSpPr/>
          <p:nvPr/>
        </p:nvSpPr>
        <p:spPr>
          <a:xfrm>
            <a:off x="6108192" y="4224528"/>
            <a:ext cx="5879592" cy="1307592"/>
          </a:xfrm>
          <a:prstGeom prst="roundRect">
            <a:avLst/>
          </a:prstGeom>
          <a:solidFill>
            <a:srgbClr val="FFE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31109D-CF01-446C-A268-99582E618A40}"/>
              </a:ext>
            </a:extLst>
          </p:cNvPr>
          <p:cNvSpPr txBox="1"/>
          <p:nvPr/>
        </p:nvSpPr>
        <p:spPr>
          <a:xfrm>
            <a:off x="6217920" y="4288536"/>
            <a:ext cx="548640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235B"/>
                </a:solidFill>
                <a:latin typeface="Aptos"/>
              </a:defRPr>
            </a:pPr>
            <a:r>
              <a:t>6. Riesgos y condiciones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1D28C2-13C6-470C-A260-A142004525D4}"/>
              </a:ext>
            </a:extLst>
          </p:cNvPr>
          <p:cNvSpPr txBox="1"/>
          <p:nvPr/>
        </p:nvSpPr>
        <p:spPr>
          <a:xfrm>
            <a:off x="6217920" y="4617720"/>
            <a:ext cx="5522976" cy="804672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Riesgos: calidad de datos, integración, adopción y dependencia del proveedor.</a:t>
            </a:r>
          </a:p>
          <a:p>
            <a:pPr>
              <a:spcAft>
                <a:spcPts val="400"/>
              </a:spcAft>
              <a:defRPr sz="1100" b="0">
                <a:solidFill>
                  <a:srgbClr val="19273C"/>
                </a:solidFill>
                <a:latin typeface="Aptos"/>
              </a:defRPr>
            </a:pPr>
            <a:r>
              <a:t>Mitigación: piloto, gobierno de datos, pruebas y capacitación.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BF8F923-717C-4B81-B028-11FA7B997FF2}"/>
              </a:ext>
            </a:extLst>
          </p:cNvPr>
          <p:cNvSpPr/>
          <p:nvPr/>
        </p:nvSpPr>
        <p:spPr>
          <a:xfrm>
            <a:off x="201168" y="5660136"/>
            <a:ext cx="11786616" cy="1024128"/>
          </a:xfrm>
          <a:prstGeom prst="roundRect">
            <a:avLst/>
          </a:prstGeom>
          <a:solidFill>
            <a:srgbClr val="E3F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3E0D09-5E48-47F4-B7CC-AF60FB7829C4}"/>
              </a:ext>
            </a:extLst>
          </p:cNvPr>
          <p:cNvSpPr txBox="1"/>
          <p:nvPr/>
        </p:nvSpPr>
        <p:spPr>
          <a:xfrm>
            <a:off x="338328" y="5724144"/>
            <a:ext cx="11338560" cy="27432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8235B"/>
                </a:solidFill>
                <a:latin typeface="Aptos"/>
              </a:defRPr>
            </a:pPr>
            <a:r>
              <a:t>7. Recomendación para el comité de inversiones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DD266D-2A58-4E6A-AA6D-F44298104C4F}"/>
              </a:ext>
            </a:extLst>
          </p:cNvPr>
          <p:cNvSpPr txBox="1"/>
          <p:nvPr/>
        </p:nvSpPr>
        <p:spPr>
          <a:xfrm>
            <a:off x="338328" y="6044184"/>
            <a:ext cx="11311128" cy="548640"/>
          </a:xfrm>
          <a:prstGeom prst="rect">
            <a:avLst/>
          </a:prstGeom>
          <a:noFill/>
        </p:spPr>
        <p:txBody>
          <a:bodyPr wrap="square" lIns="54864" tIns="36576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9273C"/>
                </a:solidFill>
                <a:latin typeface="Aptos"/>
              </a:defRPr>
            </a:pPr>
            <a:r>
              <a:t>Aprobar la alternativa cloud por su VAN positivo y alineación estratégica, condicionada a validar supuestos, seguridad y disponibilidad de datos antes de iniciar.</a:t>
            </a: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6E8C40CC-F302-4A72-9823-9D03085EA63F}"/>
              </a:ext>
            </a:extLst>
          </p:cNvPr>
          <p:cNvSpPr txBox="1"/>
          <p:nvPr/>
        </p:nvSpPr>
        <p:spPr>
          <a:xfrm>
            <a:off x="201168" y="10744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  <a:latin typeface="Calibri"/>
              </a:rPr>
              <a:t>Ejemplo de Business Case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E27FAE3B-F73F-4E1D-8C0E-5DD23B6A6F3F}"/>
              </a:ext>
            </a:extLst>
          </p:cNvPr>
          <p:cNvSpPr/>
          <p:nvPr/>
        </p:nvSpPr>
        <p:spPr>
          <a:xfrm>
            <a:off x="201168" y="63779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652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Ficha de proyecto de TI - Propósito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575777" y="6613177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68CB478D-0879-4BC7-9ABD-476445831CB7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PE" sz="1250" dirty="0" err="1">
                <a:solidFill>
                  <a:srgbClr val="526070"/>
                </a:solidFill>
              </a:rPr>
              <a:t>Roadmap</a:t>
            </a:r>
            <a:r>
              <a:rPr lang="es-PE" sz="1250" dirty="0">
                <a:solidFill>
                  <a:srgbClr val="526070"/>
                </a:solidFill>
              </a:rPr>
              <a:t> de Proyectos de TI</a:t>
            </a:r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C9D2CF6D-A770-4F95-8012-0D7E11C3EB24}"/>
              </a:ext>
            </a:extLst>
          </p:cNvPr>
          <p:cNvSpPr txBox="1"/>
          <p:nvPr/>
        </p:nvSpPr>
        <p:spPr>
          <a:xfrm>
            <a:off x="566928" y="1143000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1350" b="1" dirty="0">
                <a:solidFill>
                  <a:srgbClr val="2A3542"/>
                </a:solidFill>
              </a:rPr>
              <a:t>La ficha de proyecto de TI es un documento que formaliza la definición del proyecto, recopilando los principales aspectos necesarios para su planificación, ejecución y seguimiento.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199B82E6-929B-422B-8BBF-33FE0EB6EED7}"/>
              </a:ext>
            </a:extLst>
          </p:cNvPr>
          <p:cNvSpPr/>
          <p:nvPr/>
        </p:nvSpPr>
        <p:spPr>
          <a:xfrm>
            <a:off x="2162164" y="2269441"/>
            <a:ext cx="2026376" cy="1409288"/>
          </a:xfrm>
          <a:prstGeom prst="roundRect">
            <a:avLst/>
          </a:prstGeom>
          <a:solidFill>
            <a:srgbClr val="DB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0DD5B973-AC24-43A0-9249-4D5B4E6981BD}"/>
              </a:ext>
            </a:extLst>
          </p:cNvPr>
          <p:cNvSpPr txBox="1"/>
          <p:nvPr/>
        </p:nvSpPr>
        <p:spPr>
          <a:xfrm>
            <a:off x="1990959" y="2998813"/>
            <a:ext cx="2402052" cy="510909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 err="1"/>
              <a:t>Definir</a:t>
            </a:r>
            <a:r>
              <a:rPr sz="1600" dirty="0"/>
              <a:t> </a:t>
            </a:r>
            <a:r>
              <a:rPr sz="1600" dirty="0" err="1"/>
              <a:t>claramente</a:t>
            </a:r>
            <a:endParaRPr sz="1600" dirty="0"/>
          </a:p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/>
              <a:t>la </a:t>
            </a:r>
            <a:r>
              <a:rPr sz="1600" dirty="0" err="1"/>
              <a:t>iniciativa</a:t>
            </a:r>
            <a:endParaRPr sz="1600" dirty="0"/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EC9C011C-1433-4F00-BC06-9DD87D68BC72}"/>
              </a:ext>
            </a:extLst>
          </p:cNvPr>
          <p:cNvSpPr/>
          <p:nvPr/>
        </p:nvSpPr>
        <p:spPr>
          <a:xfrm>
            <a:off x="2162164" y="4004431"/>
            <a:ext cx="2026376" cy="1534558"/>
          </a:xfrm>
          <a:prstGeom prst="roundRect">
            <a:avLst/>
          </a:prstGeom>
          <a:solidFill>
            <a:srgbClr val="E3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C32800BC-6272-4B15-90DE-1F66B467D40E}"/>
              </a:ext>
            </a:extLst>
          </p:cNvPr>
          <p:cNvSpPr txBox="1"/>
          <p:nvPr/>
        </p:nvSpPr>
        <p:spPr>
          <a:xfrm>
            <a:off x="1990959" y="4824462"/>
            <a:ext cx="2402052" cy="510909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 err="1"/>
              <a:t>Facilitar</a:t>
            </a:r>
            <a:r>
              <a:rPr sz="1600" dirty="0"/>
              <a:t> la </a:t>
            </a:r>
            <a:r>
              <a:rPr sz="1600" dirty="0" err="1"/>
              <a:t>planificación</a:t>
            </a:r>
            <a:endParaRPr sz="1600" dirty="0"/>
          </a:p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/>
              <a:t>y </a:t>
            </a:r>
            <a:r>
              <a:rPr sz="1600" dirty="0" err="1"/>
              <a:t>ejecución</a:t>
            </a:r>
            <a:endParaRPr sz="1600" dirty="0"/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2215DE52-3753-448E-922F-E2C9ABF87033}"/>
              </a:ext>
            </a:extLst>
          </p:cNvPr>
          <p:cNvSpPr/>
          <p:nvPr/>
        </p:nvSpPr>
        <p:spPr>
          <a:xfrm>
            <a:off x="8174664" y="2321339"/>
            <a:ext cx="2026377" cy="1409288"/>
          </a:xfrm>
          <a:prstGeom prst="roundRect">
            <a:avLst/>
          </a:prstGeom>
          <a:solidFill>
            <a:srgbClr val="FFE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24809823-D014-4AB9-8D06-9517724AE413}"/>
              </a:ext>
            </a:extLst>
          </p:cNvPr>
          <p:cNvSpPr txBox="1"/>
          <p:nvPr/>
        </p:nvSpPr>
        <p:spPr>
          <a:xfrm>
            <a:off x="8001971" y="3035377"/>
            <a:ext cx="2402052" cy="510909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 err="1"/>
              <a:t>Alinear</a:t>
            </a:r>
            <a:r>
              <a:rPr sz="1600" dirty="0"/>
              <a:t> a los</a:t>
            </a:r>
          </a:p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/>
              <a:t>stakeholders</a:t>
            </a: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CDB418E1-AF52-4170-9A08-934013C3191B}"/>
              </a:ext>
            </a:extLst>
          </p:cNvPr>
          <p:cNvSpPr/>
          <p:nvPr/>
        </p:nvSpPr>
        <p:spPr>
          <a:xfrm>
            <a:off x="8174664" y="4056329"/>
            <a:ext cx="2026376" cy="1534558"/>
          </a:xfrm>
          <a:prstGeom prst="roundRect">
            <a:avLst/>
          </a:prstGeom>
          <a:solidFill>
            <a:srgbClr val="E8E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4">
            <a:extLst>
              <a:ext uri="{FF2B5EF4-FFF2-40B4-BE49-F238E27FC236}">
                <a16:creationId xmlns:a16="http://schemas.microsoft.com/office/drawing/2014/main" id="{307585AF-D7DC-4B3E-AE25-36380C9E9961}"/>
              </a:ext>
            </a:extLst>
          </p:cNvPr>
          <p:cNvSpPr txBox="1"/>
          <p:nvPr/>
        </p:nvSpPr>
        <p:spPr>
          <a:xfrm>
            <a:off x="8001971" y="4770368"/>
            <a:ext cx="2402052" cy="510909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 err="1"/>
              <a:t>Apoyar</a:t>
            </a:r>
            <a:r>
              <a:rPr sz="1600" dirty="0"/>
              <a:t> el </a:t>
            </a:r>
            <a:r>
              <a:rPr sz="1600" dirty="0" err="1"/>
              <a:t>seguimiento</a:t>
            </a:r>
            <a:endParaRPr sz="1600" dirty="0"/>
          </a:p>
          <a:p>
            <a:pPr algn="ctr">
              <a:defRPr sz="2000" b="0">
                <a:solidFill>
                  <a:srgbClr val="051B53"/>
                </a:solidFill>
                <a:latin typeface="Aptos"/>
              </a:defRPr>
            </a:pPr>
            <a:r>
              <a:rPr sz="1600" dirty="0"/>
              <a:t>y control</a:t>
            </a: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2C5B9D80-E3DF-46A9-AA26-2E2A798AB743}"/>
              </a:ext>
            </a:extLst>
          </p:cNvPr>
          <p:cNvSpPr/>
          <p:nvPr/>
        </p:nvSpPr>
        <p:spPr>
          <a:xfrm>
            <a:off x="4820401" y="3158858"/>
            <a:ext cx="2551198" cy="1409288"/>
          </a:xfrm>
          <a:prstGeom prst="roundRect">
            <a:avLst/>
          </a:prstGeom>
          <a:solidFill>
            <a:srgbClr val="DEE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54F9C54A-8A55-4250-BD3C-D9D07C5F88B3}"/>
              </a:ext>
            </a:extLst>
          </p:cNvPr>
          <p:cNvSpPr txBox="1"/>
          <p:nvPr/>
        </p:nvSpPr>
        <p:spPr>
          <a:xfrm>
            <a:off x="4961698" y="3863502"/>
            <a:ext cx="2276453" cy="664797"/>
          </a:xfrm>
          <a:prstGeom prst="rect">
            <a:avLst/>
          </a:prstGeom>
          <a:noFill/>
        </p:spPr>
        <p:txBody>
          <a:bodyPr wrap="square" lIns="36576" tIns="18288" rIns="36576" bIns="0">
            <a:spAutoFit/>
          </a:bodyPr>
          <a:lstStyle/>
          <a:p>
            <a:pPr algn="ctr">
              <a:defRPr sz="2100" b="1">
                <a:solidFill>
                  <a:srgbClr val="051B53"/>
                </a:solidFill>
                <a:latin typeface="Aptos"/>
              </a:defRPr>
            </a:pPr>
            <a:r>
              <a:rPr dirty="0" err="1"/>
              <a:t>Ficha</a:t>
            </a:r>
            <a:r>
              <a:rPr dirty="0"/>
              <a:t> de</a:t>
            </a:r>
          </a:p>
          <a:p>
            <a:pPr algn="ctr">
              <a:defRPr sz="2100" b="1">
                <a:solidFill>
                  <a:srgbClr val="051B53"/>
                </a:solidFill>
                <a:latin typeface="Aptos"/>
              </a:defRPr>
            </a:pPr>
            <a:r>
              <a:rPr dirty="0" err="1"/>
              <a:t>proyecto</a:t>
            </a:r>
            <a:r>
              <a:rPr dirty="0"/>
              <a:t> de TI</a:t>
            </a:r>
            <a:endParaRPr sz="1600" dirty="0"/>
          </a:p>
        </p:txBody>
      </p:sp>
      <p:sp>
        <p:nvSpPr>
          <p:cNvPr id="36" name="Right Arrow 18">
            <a:extLst>
              <a:ext uri="{FF2B5EF4-FFF2-40B4-BE49-F238E27FC236}">
                <a16:creationId xmlns:a16="http://schemas.microsoft.com/office/drawing/2014/main" id="{AB4DB5A2-A836-4F77-91C7-38F61F3601A2}"/>
              </a:ext>
            </a:extLst>
          </p:cNvPr>
          <p:cNvSpPr/>
          <p:nvPr/>
        </p:nvSpPr>
        <p:spPr>
          <a:xfrm rot="1800000">
            <a:off x="4302312" y="3083696"/>
            <a:ext cx="447440" cy="144061"/>
          </a:xfrm>
          <a:prstGeom prst="rightArrow">
            <a:avLst/>
          </a:prstGeom>
          <a:solidFill>
            <a:srgbClr val="021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19">
            <a:extLst>
              <a:ext uri="{FF2B5EF4-FFF2-40B4-BE49-F238E27FC236}">
                <a16:creationId xmlns:a16="http://schemas.microsoft.com/office/drawing/2014/main" id="{DC7614CF-A7E7-4989-BA48-21EDB7583D0C}"/>
              </a:ext>
            </a:extLst>
          </p:cNvPr>
          <p:cNvSpPr/>
          <p:nvPr/>
        </p:nvSpPr>
        <p:spPr>
          <a:xfrm rot="19800000">
            <a:off x="4302312" y="4405296"/>
            <a:ext cx="447440" cy="144061"/>
          </a:xfrm>
          <a:prstGeom prst="rightArrow">
            <a:avLst/>
          </a:prstGeom>
          <a:solidFill>
            <a:srgbClr val="021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20">
            <a:extLst>
              <a:ext uri="{FF2B5EF4-FFF2-40B4-BE49-F238E27FC236}">
                <a16:creationId xmlns:a16="http://schemas.microsoft.com/office/drawing/2014/main" id="{0B223CC4-E19C-4B70-BCFF-E6C894886D37}"/>
              </a:ext>
            </a:extLst>
          </p:cNvPr>
          <p:cNvSpPr/>
          <p:nvPr/>
        </p:nvSpPr>
        <p:spPr>
          <a:xfrm rot="19800000">
            <a:off x="7520746" y="3083696"/>
            <a:ext cx="447440" cy="144061"/>
          </a:xfrm>
          <a:prstGeom prst="rightArrow">
            <a:avLst/>
          </a:prstGeom>
          <a:solidFill>
            <a:srgbClr val="021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21">
            <a:extLst>
              <a:ext uri="{FF2B5EF4-FFF2-40B4-BE49-F238E27FC236}">
                <a16:creationId xmlns:a16="http://schemas.microsoft.com/office/drawing/2014/main" id="{974A043F-E9C1-4A48-8CF3-A8FFC110618E}"/>
              </a:ext>
            </a:extLst>
          </p:cNvPr>
          <p:cNvSpPr/>
          <p:nvPr/>
        </p:nvSpPr>
        <p:spPr>
          <a:xfrm rot="1800000">
            <a:off x="7520746" y="4405296"/>
            <a:ext cx="447440" cy="144061"/>
          </a:xfrm>
          <a:prstGeom prst="rightArrow">
            <a:avLst/>
          </a:prstGeom>
          <a:solidFill>
            <a:srgbClr val="021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AD975C7-97F5-4800-AF99-E8552D6A0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024" y="2322022"/>
            <a:ext cx="651921" cy="60846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6B621D8-042B-4F91-A0C5-50C49641A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44" y="4035034"/>
            <a:ext cx="887885" cy="6817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8214155-14C9-484B-AF99-E9B9859EA0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3575" y="3223134"/>
            <a:ext cx="704850" cy="6477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11B66F6E-D77E-4A76-81CA-7C81805486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0216" y="2429858"/>
            <a:ext cx="815998" cy="471749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FE086B03-E285-4EFF-916A-22643B6FA0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5749" y="4162151"/>
            <a:ext cx="730465" cy="54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358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Ficha de proyecto de TI - Componentes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575777" y="6613177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3" name="Shape 3"/>
          <p:cNvSpPr/>
          <p:nvPr/>
        </p:nvSpPr>
        <p:spPr>
          <a:xfrm>
            <a:off x="521208" y="703056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68CB478D-0879-4BC7-9ABD-476445831CB7}"/>
              </a:ext>
            </a:extLst>
          </p:cNvPr>
          <p:cNvSpPr txBox="1"/>
          <p:nvPr/>
        </p:nvSpPr>
        <p:spPr>
          <a:xfrm>
            <a:off x="566928" y="812784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PE" sz="1250" dirty="0" err="1">
                <a:solidFill>
                  <a:srgbClr val="526070"/>
                </a:solidFill>
              </a:rPr>
              <a:t>Roadmap</a:t>
            </a:r>
            <a:r>
              <a:rPr lang="es-PE" sz="1250" dirty="0">
                <a:solidFill>
                  <a:srgbClr val="526070"/>
                </a:solidFill>
              </a:rPr>
              <a:t> de Proyectos de TI</a:t>
            </a:r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C9D2CF6D-A770-4F95-8012-0D7E11C3EB24}"/>
              </a:ext>
            </a:extLst>
          </p:cNvPr>
          <p:cNvSpPr txBox="1"/>
          <p:nvPr/>
        </p:nvSpPr>
        <p:spPr>
          <a:xfrm>
            <a:off x="566928" y="1133487"/>
            <a:ext cx="10149840" cy="54864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1350" b="1" dirty="0">
                <a:solidFill>
                  <a:srgbClr val="2A3542"/>
                </a:solidFill>
              </a:rPr>
              <a:t>Su contenido puede variar según la organización, pero existen componentes comunes y sirve como referencia durante todo el ciclo de vida del proyecto y facilita su seguimiento y control.</a:t>
            </a:r>
          </a:p>
        </p:txBody>
      </p:sp>
      <p:sp>
        <p:nvSpPr>
          <p:cNvPr id="28" name="Rounded Rectangle 3">
            <a:extLst>
              <a:ext uri="{FF2B5EF4-FFF2-40B4-BE49-F238E27FC236}">
                <a16:creationId xmlns:a16="http://schemas.microsoft.com/office/drawing/2014/main" id="{37A9258E-9987-48C7-9DD9-AFDF19BC9D25}"/>
              </a:ext>
            </a:extLst>
          </p:cNvPr>
          <p:cNvSpPr/>
          <p:nvPr/>
        </p:nvSpPr>
        <p:spPr>
          <a:xfrm>
            <a:off x="310896" y="1801368"/>
            <a:ext cx="2258568" cy="2157984"/>
          </a:xfrm>
          <a:prstGeom prst="roundRect">
            <a:avLst/>
          </a:prstGeom>
          <a:solidFill>
            <a:srgbClr val="DC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48A03FA3-F8C4-4667-9414-DC33D32C4175}"/>
              </a:ext>
            </a:extLst>
          </p:cNvPr>
          <p:cNvSpPr txBox="1"/>
          <p:nvPr/>
        </p:nvSpPr>
        <p:spPr>
          <a:xfrm>
            <a:off x="457200" y="1929384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▤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369AEEDB-26A1-4E8E-82CE-EFBECC1F5A03}"/>
              </a:ext>
            </a:extLst>
          </p:cNvPr>
          <p:cNvSpPr txBox="1"/>
          <p:nvPr/>
        </p:nvSpPr>
        <p:spPr>
          <a:xfrm>
            <a:off x="393192" y="2583180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1. Información general</a:t>
            </a:r>
          </a:p>
        </p:txBody>
      </p:sp>
      <p:sp>
        <p:nvSpPr>
          <p:cNvPr id="42" name="TextBox 6">
            <a:extLst>
              <a:ext uri="{FF2B5EF4-FFF2-40B4-BE49-F238E27FC236}">
                <a16:creationId xmlns:a16="http://schemas.microsoft.com/office/drawing/2014/main" id="{623D57EB-6582-4968-9F48-0B047600A2AB}"/>
              </a:ext>
            </a:extLst>
          </p:cNvPr>
          <p:cNvSpPr txBox="1"/>
          <p:nvPr/>
        </p:nvSpPr>
        <p:spPr>
          <a:xfrm>
            <a:off x="393192" y="3014575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Nombre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del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proyecto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,</a:t>
            </a:r>
          </a:p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código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,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área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solicitante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,</a:t>
            </a:r>
          </a:p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patrocinador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y</a:t>
            </a:r>
          </a:p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gerente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del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proyecto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.</a:t>
            </a:r>
          </a:p>
        </p:txBody>
      </p:sp>
      <p:sp>
        <p:nvSpPr>
          <p:cNvPr id="43" name="Rounded Rectangle 7">
            <a:extLst>
              <a:ext uri="{FF2B5EF4-FFF2-40B4-BE49-F238E27FC236}">
                <a16:creationId xmlns:a16="http://schemas.microsoft.com/office/drawing/2014/main" id="{4EEDCE48-F88F-44D9-8A85-361E23B56764}"/>
              </a:ext>
            </a:extLst>
          </p:cNvPr>
          <p:cNvSpPr/>
          <p:nvPr/>
        </p:nvSpPr>
        <p:spPr>
          <a:xfrm>
            <a:off x="2670048" y="1801368"/>
            <a:ext cx="2258568" cy="2157984"/>
          </a:xfrm>
          <a:prstGeom prst="roundRect">
            <a:avLst/>
          </a:prstGeom>
          <a:solidFill>
            <a:srgbClr val="E1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8">
            <a:extLst>
              <a:ext uri="{FF2B5EF4-FFF2-40B4-BE49-F238E27FC236}">
                <a16:creationId xmlns:a16="http://schemas.microsoft.com/office/drawing/2014/main" id="{F9873968-06C0-42E4-AB48-19A8158ADB69}"/>
              </a:ext>
            </a:extLst>
          </p:cNvPr>
          <p:cNvSpPr txBox="1"/>
          <p:nvPr/>
        </p:nvSpPr>
        <p:spPr>
          <a:xfrm>
            <a:off x="2816352" y="1929384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◎</a:t>
            </a:r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3DA7491A-8C43-4309-BF17-35E8418152DA}"/>
              </a:ext>
            </a:extLst>
          </p:cNvPr>
          <p:cNvSpPr txBox="1"/>
          <p:nvPr/>
        </p:nvSpPr>
        <p:spPr>
          <a:xfrm>
            <a:off x="2752344" y="2583180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2. Objetivo</a:t>
            </a:r>
          </a:p>
        </p:txBody>
      </p:sp>
      <p:sp>
        <p:nvSpPr>
          <p:cNvPr id="46" name="TextBox 10">
            <a:extLst>
              <a:ext uri="{FF2B5EF4-FFF2-40B4-BE49-F238E27FC236}">
                <a16:creationId xmlns:a16="http://schemas.microsoft.com/office/drawing/2014/main" id="{DABE7019-0D09-4E13-A2EF-83D9EE44508E}"/>
              </a:ext>
            </a:extLst>
          </p:cNvPr>
          <p:cNvSpPr txBox="1"/>
          <p:nvPr/>
        </p:nvSpPr>
        <p:spPr>
          <a:xfrm>
            <a:off x="2752344" y="3014575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Qué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se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quiere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lograr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y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cómo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contribuye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a los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objetivos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del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negocio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.</a:t>
            </a:r>
          </a:p>
        </p:txBody>
      </p:sp>
      <p:sp>
        <p:nvSpPr>
          <p:cNvPr id="48" name="Rounded Rectangle 11">
            <a:extLst>
              <a:ext uri="{FF2B5EF4-FFF2-40B4-BE49-F238E27FC236}">
                <a16:creationId xmlns:a16="http://schemas.microsoft.com/office/drawing/2014/main" id="{A675283A-4EFC-4172-B735-E5BF8D89AB0E}"/>
              </a:ext>
            </a:extLst>
          </p:cNvPr>
          <p:cNvSpPr/>
          <p:nvPr/>
        </p:nvSpPr>
        <p:spPr>
          <a:xfrm>
            <a:off x="5029200" y="1801368"/>
            <a:ext cx="2258568" cy="2157984"/>
          </a:xfrm>
          <a:prstGeom prst="roundRect">
            <a:avLst/>
          </a:prstGeom>
          <a:solidFill>
            <a:srgbClr val="FFEE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C7B251B6-3C28-45F3-B0FF-C0B66CA7D1DA}"/>
              </a:ext>
            </a:extLst>
          </p:cNvPr>
          <p:cNvSpPr txBox="1"/>
          <p:nvPr/>
        </p:nvSpPr>
        <p:spPr>
          <a:xfrm>
            <a:off x="5175504" y="1929384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♟</a:t>
            </a:r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DE3DFAD5-E3AA-475D-95BA-6CCEBB5632CF}"/>
              </a:ext>
            </a:extLst>
          </p:cNvPr>
          <p:cNvSpPr txBox="1"/>
          <p:nvPr/>
        </p:nvSpPr>
        <p:spPr>
          <a:xfrm>
            <a:off x="5111496" y="2583180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3. Alcance</a:t>
            </a:r>
          </a:p>
        </p:txBody>
      </p:sp>
      <p:sp>
        <p:nvSpPr>
          <p:cNvPr id="51" name="TextBox 14">
            <a:extLst>
              <a:ext uri="{FF2B5EF4-FFF2-40B4-BE49-F238E27FC236}">
                <a16:creationId xmlns:a16="http://schemas.microsoft.com/office/drawing/2014/main" id="{8C836D0E-1108-41C4-AADD-BD93586246D5}"/>
              </a:ext>
            </a:extLst>
          </p:cNvPr>
          <p:cNvSpPr txBox="1"/>
          <p:nvPr/>
        </p:nvSpPr>
        <p:spPr>
          <a:xfrm>
            <a:off x="5111496" y="3014575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Qué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incluye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y</a:t>
            </a:r>
          </a:p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qué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no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incluye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el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proyecto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.</a:t>
            </a:r>
          </a:p>
        </p:txBody>
      </p:sp>
      <p:sp>
        <p:nvSpPr>
          <p:cNvPr id="52" name="Rounded Rectangle 15">
            <a:extLst>
              <a:ext uri="{FF2B5EF4-FFF2-40B4-BE49-F238E27FC236}">
                <a16:creationId xmlns:a16="http://schemas.microsoft.com/office/drawing/2014/main" id="{4662EBA9-BEEE-40C7-B9CF-09A3FD75EBF5}"/>
              </a:ext>
            </a:extLst>
          </p:cNvPr>
          <p:cNvSpPr/>
          <p:nvPr/>
        </p:nvSpPr>
        <p:spPr>
          <a:xfrm>
            <a:off x="7388352" y="1801368"/>
            <a:ext cx="2258568" cy="2157984"/>
          </a:xfrm>
          <a:prstGeom prst="roundRect">
            <a:avLst/>
          </a:prstGeom>
          <a:solidFill>
            <a:srgbClr val="E8E7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16">
            <a:extLst>
              <a:ext uri="{FF2B5EF4-FFF2-40B4-BE49-F238E27FC236}">
                <a16:creationId xmlns:a16="http://schemas.microsoft.com/office/drawing/2014/main" id="{CB78D9CE-9BBE-4642-8B27-CD53EE7A8D92}"/>
              </a:ext>
            </a:extLst>
          </p:cNvPr>
          <p:cNvSpPr txBox="1"/>
          <p:nvPr/>
        </p:nvSpPr>
        <p:spPr>
          <a:xfrm>
            <a:off x="7534656" y="1929384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◇</a:t>
            </a:r>
          </a:p>
        </p:txBody>
      </p:sp>
      <p:sp>
        <p:nvSpPr>
          <p:cNvPr id="54" name="TextBox 17">
            <a:extLst>
              <a:ext uri="{FF2B5EF4-FFF2-40B4-BE49-F238E27FC236}">
                <a16:creationId xmlns:a16="http://schemas.microsoft.com/office/drawing/2014/main" id="{E435484D-70B9-43EA-8FF5-A58AAED607F3}"/>
              </a:ext>
            </a:extLst>
          </p:cNvPr>
          <p:cNvSpPr txBox="1"/>
          <p:nvPr/>
        </p:nvSpPr>
        <p:spPr>
          <a:xfrm>
            <a:off x="7470648" y="2583180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4. Entregables</a:t>
            </a:r>
          </a:p>
        </p:txBody>
      </p:sp>
      <p:sp>
        <p:nvSpPr>
          <p:cNvPr id="55" name="TextBox 18">
            <a:extLst>
              <a:ext uri="{FF2B5EF4-FFF2-40B4-BE49-F238E27FC236}">
                <a16:creationId xmlns:a16="http://schemas.microsoft.com/office/drawing/2014/main" id="{70C23597-A0DA-4B6E-B2BB-AF34388FD2C4}"/>
              </a:ext>
            </a:extLst>
          </p:cNvPr>
          <p:cNvSpPr txBox="1"/>
          <p:nvPr/>
        </p:nvSpPr>
        <p:spPr>
          <a:xfrm>
            <a:off x="7470648" y="3014575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Productos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o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servicios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que se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espera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obtener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al final del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proyecto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.</a:t>
            </a:r>
          </a:p>
        </p:txBody>
      </p:sp>
      <p:sp>
        <p:nvSpPr>
          <p:cNvPr id="56" name="Rounded Rectangle 19">
            <a:extLst>
              <a:ext uri="{FF2B5EF4-FFF2-40B4-BE49-F238E27FC236}">
                <a16:creationId xmlns:a16="http://schemas.microsoft.com/office/drawing/2014/main" id="{5BFED217-0781-40A0-985D-3ABAB97095FB}"/>
              </a:ext>
            </a:extLst>
          </p:cNvPr>
          <p:cNvSpPr/>
          <p:nvPr/>
        </p:nvSpPr>
        <p:spPr>
          <a:xfrm>
            <a:off x="9747504" y="1801368"/>
            <a:ext cx="2258568" cy="2157984"/>
          </a:xfrm>
          <a:prstGeom prst="roundRect">
            <a:avLst/>
          </a:prstGeom>
          <a:solidFill>
            <a:srgbClr val="FFF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20">
            <a:extLst>
              <a:ext uri="{FF2B5EF4-FFF2-40B4-BE49-F238E27FC236}">
                <a16:creationId xmlns:a16="http://schemas.microsoft.com/office/drawing/2014/main" id="{D9C99557-7C58-4A88-B561-56E0C5AE7A43}"/>
              </a:ext>
            </a:extLst>
          </p:cNvPr>
          <p:cNvSpPr txBox="1"/>
          <p:nvPr/>
        </p:nvSpPr>
        <p:spPr>
          <a:xfrm>
            <a:off x="9893808" y="1929384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⚙</a:t>
            </a:r>
          </a:p>
        </p:txBody>
      </p:sp>
      <p:sp>
        <p:nvSpPr>
          <p:cNvPr id="58" name="TextBox 21">
            <a:extLst>
              <a:ext uri="{FF2B5EF4-FFF2-40B4-BE49-F238E27FC236}">
                <a16:creationId xmlns:a16="http://schemas.microsoft.com/office/drawing/2014/main" id="{CAC05136-89CB-4737-9AD1-DCE9042F0C75}"/>
              </a:ext>
            </a:extLst>
          </p:cNvPr>
          <p:cNvSpPr txBox="1"/>
          <p:nvPr/>
        </p:nvSpPr>
        <p:spPr>
          <a:xfrm>
            <a:off x="9829800" y="2583180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5. Actividades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principales</a:t>
            </a:r>
          </a:p>
        </p:txBody>
      </p:sp>
      <p:sp>
        <p:nvSpPr>
          <p:cNvPr id="59" name="TextBox 22">
            <a:extLst>
              <a:ext uri="{FF2B5EF4-FFF2-40B4-BE49-F238E27FC236}">
                <a16:creationId xmlns:a16="http://schemas.microsoft.com/office/drawing/2014/main" id="{F5C98BD5-DB44-45B8-8070-0B484723AF39}"/>
              </a:ext>
            </a:extLst>
          </p:cNvPr>
          <p:cNvSpPr txBox="1"/>
          <p:nvPr/>
        </p:nvSpPr>
        <p:spPr>
          <a:xfrm>
            <a:off x="9829800" y="3088315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Principales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tareas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y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etapas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para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lograr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los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entregables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.</a:t>
            </a:r>
          </a:p>
        </p:txBody>
      </p:sp>
      <p:sp>
        <p:nvSpPr>
          <p:cNvPr id="60" name="Rounded Rectangle 23">
            <a:extLst>
              <a:ext uri="{FF2B5EF4-FFF2-40B4-BE49-F238E27FC236}">
                <a16:creationId xmlns:a16="http://schemas.microsoft.com/office/drawing/2014/main" id="{130A6C78-7E51-46F0-BF8A-9A030B988B6D}"/>
              </a:ext>
            </a:extLst>
          </p:cNvPr>
          <p:cNvSpPr/>
          <p:nvPr/>
        </p:nvSpPr>
        <p:spPr>
          <a:xfrm>
            <a:off x="310896" y="4277180"/>
            <a:ext cx="2258568" cy="2157984"/>
          </a:xfrm>
          <a:prstGeom prst="roundRect">
            <a:avLst/>
          </a:prstGeom>
          <a:solidFill>
            <a:srgbClr val="FF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C26E8481-0A6E-4FB2-B7D2-2F101A2A134A}"/>
              </a:ext>
            </a:extLst>
          </p:cNvPr>
          <p:cNvSpPr txBox="1"/>
          <p:nvPr/>
        </p:nvSpPr>
        <p:spPr>
          <a:xfrm>
            <a:off x="457200" y="4405196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▦</a:t>
            </a:r>
          </a:p>
        </p:txBody>
      </p:sp>
      <p:sp>
        <p:nvSpPr>
          <p:cNvPr id="62" name="TextBox 25">
            <a:extLst>
              <a:ext uri="{FF2B5EF4-FFF2-40B4-BE49-F238E27FC236}">
                <a16:creationId xmlns:a16="http://schemas.microsoft.com/office/drawing/2014/main" id="{52FF7FBD-8C18-4027-BE13-C1C3C8E06B95}"/>
              </a:ext>
            </a:extLst>
          </p:cNvPr>
          <p:cNvSpPr txBox="1"/>
          <p:nvPr/>
        </p:nvSpPr>
        <p:spPr>
          <a:xfrm>
            <a:off x="451106" y="5033625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dirty="0">
                <a:solidFill>
                  <a:srgbClr val="071B63"/>
                </a:solidFill>
                <a:latin typeface="Aptos"/>
              </a:rPr>
              <a:t>6. </a:t>
            </a:r>
            <a:r>
              <a:rPr sz="1500" b="1" dirty="0" err="1">
                <a:solidFill>
                  <a:srgbClr val="071B63"/>
                </a:solidFill>
                <a:latin typeface="Aptos"/>
              </a:rPr>
              <a:t>Cronograma</a:t>
            </a:r>
            <a:endParaRPr sz="1500" b="1" dirty="0">
              <a:solidFill>
                <a:srgbClr val="071B63"/>
              </a:solidFill>
              <a:latin typeface="Aptos"/>
            </a:endParaRP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824BE6E0-9AE0-4C19-8F24-717D707A1A3C}"/>
              </a:ext>
            </a:extLst>
          </p:cNvPr>
          <p:cNvSpPr txBox="1"/>
          <p:nvPr/>
        </p:nvSpPr>
        <p:spPr>
          <a:xfrm>
            <a:off x="393192" y="5572089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 dirty="0" err="1">
                <a:solidFill>
                  <a:srgbClr val="10203D"/>
                </a:solidFill>
                <a:latin typeface="Aptos"/>
              </a:rPr>
              <a:t>Hitos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principales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y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fechas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estimadas</a:t>
            </a:r>
            <a:endParaRPr sz="1280" b="0" dirty="0">
              <a:solidFill>
                <a:srgbClr val="10203D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280" b="0" dirty="0">
                <a:solidFill>
                  <a:srgbClr val="10203D"/>
                </a:solidFill>
                <a:latin typeface="Aptos"/>
              </a:rPr>
              <a:t>de </a:t>
            </a:r>
            <a:r>
              <a:rPr sz="1280" b="0" dirty="0" err="1">
                <a:solidFill>
                  <a:srgbClr val="10203D"/>
                </a:solidFill>
                <a:latin typeface="Aptos"/>
              </a:rPr>
              <a:t>inicio</a:t>
            </a:r>
            <a:r>
              <a:rPr sz="1280" b="0" dirty="0">
                <a:solidFill>
                  <a:srgbClr val="10203D"/>
                </a:solidFill>
                <a:latin typeface="Aptos"/>
              </a:rPr>
              <a:t> y fin.</a:t>
            </a:r>
          </a:p>
        </p:txBody>
      </p:sp>
      <p:sp>
        <p:nvSpPr>
          <p:cNvPr id="64" name="Rounded Rectangle 27">
            <a:extLst>
              <a:ext uri="{FF2B5EF4-FFF2-40B4-BE49-F238E27FC236}">
                <a16:creationId xmlns:a16="http://schemas.microsoft.com/office/drawing/2014/main" id="{D4314232-0B21-4227-8C3B-56ACBEE17DD9}"/>
              </a:ext>
            </a:extLst>
          </p:cNvPr>
          <p:cNvSpPr/>
          <p:nvPr/>
        </p:nvSpPr>
        <p:spPr>
          <a:xfrm>
            <a:off x="2670048" y="4277180"/>
            <a:ext cx="2258568" cy="2157984"/>
          </a:xfrm>
          <a:prstGeom prst="roundRect">
            <a:avLst/>
          </a:prstGeom>
          <a:solidFill>
            <a:srgbClr val="DD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28">
            <a:extLst>
              <a:ext uri="{FF2B5EF4-FFF2-40B4-BE49-F238E27FC236}">
                <a16:creationId xmlns:a16="http://schemas.microsoft.com/office/drawing/2014/main" id="{F036D05B-F4E1-49D2-9379-CFF00FD35B8E}"/>
              </a:ext>
            </a:extLst>
          </p:cNvPr>
          <p:cNvSpPr txBox="1"/>
          <p:nvPr/>
        </p:nvSpPr>
        <p:spPr>
          <a:xfrm>
            <a:off x="2816352" y="4405196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▤</a:t>
            </a:r>
          </a:p>
        </p:txBody>
      </p:sp>
      <p:sp>
        <p:nvSpPr>
          <p:cNvPr id="66" name="TextBox 29">
            <a:extLst>
              <a:ext uri="{FF2B5EF4-FFF2-40B4-BE49-F238E27FC236}">
                <a16:creationId xmlns:a16="http://schemas.microsoft.com/office/drawing/2014/main" id="{F4BC0718-FE3B-4AD2-AA87-32D35ED7DF3C}"/>
              </a:ext>
            </a:extLst>
          </p:cNvPr>
          <p:cNvSpPr txBox="1"/>
          <p:nvPr/>
        </p:nvSpPr>
        <p:spPr>
          <a:xfrm>
            <a:off x="2810258" y="5033625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dirty="0">
                <a:solidFill>
                  <a:srgbClr val="071B63"/>
                </a:solidFill>
                <a:latin typeface="Aptos"/>
              </a:rPr>
              <a:t>7. </a:t>
            </a:r>
            <a:r>
              <a:rPr sz="1500" b="1" dirty="0" err="1">
                <a:solidFill>
                  <a:srgbClr val="071B63"/>
                </a:solidFill>
                <a:latin typeface="Aptos"/>
              </a:rPr>
              <a:t>Recursos</a:t>
            </a:r>
            <a:endParaRPr sz="1500" b="1" dirty="0">
              <a:solidFill>
                <a:srgbClr val="071B63"/>
              </a:solidFill>
              <a:latin typeface="Aptos"/>
            </a:endParaRPr>
          </a:p>
          <a:p>
            <a:pPr algn="ctr">
              <a:spcAft>
                <a:spcPts val="0"/>
              </a:spcAft>
            </a:pPr>
            <a:r>
              <a:rPr sz="1500" b="1" dirty="0">
                <a:solidFill>
                  <a:srgbClr val="071B63"/>
                </a:solidFill>
                <a:latin typeface="Aptos"/>
              </a:rPr>
              <a:t>y </a:t>
            </a:r>
            <a:r>
              <a:rPr sz="1500" b="1" dirty="0" err="1">
                <a:solidFill>
                  <a:srgbClr val="071B63"/>
                </a:solidFill>
                <a:latin typeface="Aptos"/>
              </a:rPr>
              <a:t>presupuesto</a:t>
            </a:r>
            <a:endParaRPr sz="1500" b="1" dirty="0">
              <a:solidFill>
                <a:srgbClr val="071B63"/>
              </a:solidFill>
              <a:latin typeface="Aptos"/>
            </a:endParaRPr>
          </a:p>
        </p:txBody>
      </p:sp>
      <p:sp>
        <p:nvSpPr>
          <p:cNvPr id="67" name="TextBox 30">
            <a:extLst>
              <a:ext uri="{FF2B5EF4-FFF2-40B4-BE49-F238E27FC236}">
                <a16:creationId xmlns:a16="http://schemas.microsoft.com/office/drawing/2014/main" id="{53A547F5-3025-44CB-AF0D-59C85A74890D}"/>
              </a:ext>
            </a:extLst>
          </p:cNvPr>
          <p:cNvSpPr txBox="1"/>
          <p:nvPr/>
        </p:nvSpPr>
        <p:spPr>
          <a:xfrm>
            <a:off x="2752344" y="5572089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Recursos humanos,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tecnológicos y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financieros requeridos.</a:t>
            </a:r>
          </a:p>
        </p:txBody>
      </p:sp>
      <p:sp>
        <p:nvSpPr>
          <p:cNvPr id="68" name="Rounded Rectangle 31">
            <a:extLst>
              <a:ext uri="{FF2B5EF4-FFF2-40B4-BE49-F238E27FC236}">
                <a16:creationId xmlns:a16="http://schemas.microsoft.com/office/drawing/2014/main" id="{F7FCB03D-5374-4DE1-8D0F-4889AA4B8D90}"/>
              </a:ext>
            </a:extLst>
          </p:cNvPr>
          <p:cNvSpPr/>
          <p:nvPr/>
        </p:nvSpPr>
        <p:spPr>
          <a:xfrm>
            <a:off x="5029200" y="4277180"/>
            <a:ext cx="2258568" cy="2157984"/>
          </a:xfrm>
          <a:prstGeom prst="roundRect">
            <a:avLst/>
          </a:prstGeom>
          <a:solidFill>
            <a:srgbClr val="E2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32">
            <a:extLst>
              <a:ext uri="{FF2B5EF4-FFF2-40B4-BE49-F238E27FC236}">
                <a16:creationId xmlns:a16="http://schemas.microsoft.com/office/drawing/2014/main" id="{AB47C279-89EB-495E-A595-711F7DD5B087}"/>
              </a:ext>
            </a:extLst>
          </p:cNvPr>
          <p:cNvSpPr txBox="1"/>
          <p:nvPr/>
        </p:nvSpPr>
        <p:spPr>
          <a:xfrm>
            <a:off x="5175504" y="4405196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⚠</a:t>
            </a:r>
          </a:p>
        </p:txBody>
      </p:sp>
      <p:sp>
        <p:nvSpPr>
          <p:cNvPr id="70" name="TextBox 33">
            <a:extLst>
              <a:ext uri="{FF2B5EF4-FFF2-40B4-BE49-F238E27FC236}">
                <a16:creationId xmlns:a16="http://schemas.microsoft.com/office/drawing/2014/main" id="{A93C090E-021F-4AC4-B6B3-481ABCF5A200}"/>
              </a:ext>
            </a:extLst>
          </p:cNvPr>
          <p:cNvSpPr txBox="1"/>
          <p:nvPr/>
        </p:nvSpPr>
        <p:spPr>
          <a:xfrm>
            <a:off x="5169410" y="5033625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8. Riesgos y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supuestos</a:t>
            </a:r>
          </a:p>
        </p:txBody>
      </p:sp>
      <p:sp>
        <p:nvSpPr>
          <p:cNvPr id="71" name="TextBox 34">
            <a:extLst>
              <a:ext uri="{FF2B5EF4-FFF2-40B4-BE49-F238E27FC236}">
                <a16:creationId xmlns:a16="http://schemas.microsoft.com/office/drawing/2014/main" id="{8BA26553-EB22-4EF1-AE04-70DFD66AFCFB}"/>
              </a:ext>
            </a:extLst>
          </p:cNvPr>
          <p:cNvSpPr txBox="1"/>
          <p:nvPr/>
        </p:nvSpPr>
        <p:spPr>
          <a:xfrm>
            <a:off x="5111496" y="5572089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Principales riesgos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identificados y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supuestos del proyecto.</a:t>
            </a:r>
          </a:p>
        </p:txBody>
      </p:sp>
      <p:sp>
        <p:nvSpPr>
          <p:cNvPr id="72" name="Rounded Rectangle 35">
            <a:extLst>
              <a:ext uri="{FF2B5EF4-FFF2-40B4-BE49-F238E27FC236}">
                <a16:creationId xmlns:a16="http://schemas.microsoft.com/office/drawing/2014/main" id="{107D1645-F64B-4544-978F-F664524DDF73}"/>
              </a:ext>
            </a:extLst>
          </p:cNvPr>
          <p:cNvSpPr/>
          <p:nvPr/>
        </p:nvSpPr>
        <p:spPr>
          <a:xfrm>
            <a:off x="7388352" y="4277180"/>
            <a:ext cx="2258568" cy="2157984"/>
          </a:xfrm>
          <a:prstGeom prst="roundRect">
            <a:avLst/>
          </a:prstGeom>
          <a:solidFill>
            <a:srgbClr val="FFE7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36">
            <a:extLst>
              <a:ext uri="{FF2B5EF4-FFF2-40B4-BE49-F238E27FC236}">
                <a16:creationId xmlns:a16="http://schemas.microsoft.com/office/drawing/2014/main" id="{39721AFB-6C0E-4854-95F4-5757A9816E02}"/>
              </a:ext>
            </a:extLst>
          </p:cNvPr>
          <p:cNvSpPr txBox="1"/>
          <p:nvPr/>
        </p:nvSpPr>
        <p:spPr>
          <a:xfrm>
            <a:off x="7534656" y="4405196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♟</a:t>
            </a:r>
          </a:p>
        </p:txBody>
      </p:sp>
      <p:sp>
        <p:nvSpPr>
          <p:cNvPr id="74" name="TextBox 37">
            <a:extLst>
              <a:ext uri="{FF2B5EF4-FFF2-40B4-BE49-F238E27FC236}">
                <a16:creationId xmlns:a16="http://schemas.microsoft.com/office/drawing/2014/main" id="{C6899E16-06F7-4DFB-A042-4F0E711485B5}"/>
              </a:ext>
            </a:extLst>
          </p:cNvPr>
          <p:cNvSpPr txBox="1"/>
          <p:nvPr/>
        </p:nvSpPr>
        <p:spPr>
          <a:xfrm>
            <a:off x="7528562" y="5033625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9. Interesados</a:t>
            </a:r>
          </a:p>
        </p:txBody>
      </p:sp>
      <p:sp>
        <p:nvSpPr>
          <p:cNvPr id="75" name="TextBox 38">
            <a:extLst>
              <a:ext uri="{FF2B5EF4-FFF2-40B4-BE49-F238E27FC236}">
                <a16:creationId xmlns:a16="http://schemas.microsoft.com/office/drawing/2014/main" id="{07903CE2-EA2F-4EBC-8AAA-001FDD069CC4}"/>
              </a:ext>
            </a:extLst>
          </p:cNvPr>
          <p:cNvSpPr txBox="1"/>
          <p:nvPr/>
        </p:nvSpPr>
        <p:spPr>
          <a:xfrm>
            <a:off x="7470648" y="5572089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Principales actores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involucrados y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su rol en el proyecto.</a:t>
            </a:r>
          </a:p>
        </p:txBody>
      </p:sp>
      <p:sp>
        <p:nvSpPr>
          <p:cNvPr id="76" name="Rounded Rectangle 39">
            <a:extLst>
              <a:ext uri="{FF2B5EF4-FFF2-40B4-BE49-F238E27FC236}">
                <a16:creationId xmlns:a16="http://schemas.microsoft.com/office/drawing/2014/main" id="{1A1BDB99-6282-4AB8-B564-3F202C2B7CF3}"/>
              </a:ext>
            </a:extLst>
          </p:cNvPr>
          <p:cNvSpPr/>
          <p:nvPr/>
        </p:nvSpPr>
        <p:spPr>
          <a:xfrm>
            <a:off x="9747504" y="4277180"/>
            <a:ext cx="2258568" cy="2157984"/>
          </a:xfrm>
          <a:prstGeom prst="roundRect">
            <a:avLst/>
          </a:prstGeom>
          <a:solidFill>
            <a:srgbClr val="E9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40">
            <a:extLst>
              <a:ext uri="{FF2B5EF4-FFF2-40B4-BE49-F238E27FC236}">
                <a16:creationId xmlns:a16="http://schemas.microsoft.com/office/drawing/2014/main" id="{1CCA43A5-C5A5-4598-B0ED-F9A946A8B5AD}"/>
              </a:ext>
            </a:extLst>
          </p:cNvPr>
          <p:cNvSpPr txBox="1"/>
          <p:nvPr/>
        </p:nvSpPr>
        <p:spPr>
          <a:xfrm>
            <a:off x="9893808" y="4405196"/>
            <a:ext cx="1965960" cy="731520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>
                <a:solidFill>
                  <a:srgbClr val="071B63"/>
                </a:solidFill>
                <a:latin typeface="Aptos"/>
              </a:rPr>
              <a:t>▂▅▇</a:t>
            </a:r>
          </a:p>
        </p:txBody>
      </p:sp>
      <p:sp>
        <p:nvSpPr>
          <p:cNvPr id="78" name="TextBox 41">
            <a:extLst>
              <a:ext uri="{FF2B5EF4-FFF2-40B4-BE49-F238E27FC236}">
                <a16:creationId xmlns:a16="http://schemas.microsoft.com/office/drawing/2014/main" id="{71B70577-4225-48A5-B14B-3824B926F860}"/>
              </a:ext>
            </a:extLst>
          </p:cNvPr>
          <p:cNvSpPr txBox="1"/>
          <p:nvPr/>
        </p:nvSpPr>
        <p:spPr>
          <a:xfrm>
            <a:off x="9887714" y="5033625"/>
            <a:ext cx="2093976" cy="576072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10. Criterios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71B63"/>
                </a:solidFill>
                <a:latin typeface="Aptos"/>
              </a:rPr>
              <a:t>de éxito</a:t>
            </a:r>
          </a:p>
        </p:txBody>
      </p:sp>
      <p:sp>
        <p:nvSpPr>
          <p:cNvPr id="79" name="TextBox 42">
            <a:extLst>
              <a:ext uri="{FF2B5EF4-FFF2-40B4-BE49-F238E27FC236}">
                <a16:creationId xmlns:a16="http://schemas.microsoft.com/office/drawing/2014/main" id="{0FE8AA7A-9DD8-4244-83DA-A21B6879DFEC}"/>
              </a:ext>
            </a:extLst>
          </p:cNvPr>
          <p:cNvSpPr txBox="1"/>
          <p:nvPr/>
        </p:nvSpPr>
        <p:spPr>
          <a:xfrm>
            <a:off x="9829800" y="5572089"/>
            <a:ext cx="2093976" cy="978408"/>
          </a:xfrm>
          <a:prstGeom prst="rect">
            <a:avLst/>
          </a:prstGeom>
          <a:noFill/>
        </p:spPr>
        <p:txBody>
          <a:bodyPr wrap="square" lIns="27432" tIns="0" rIns="27432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Cómo se medirá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el logro de los</a:t>
            </a:r>
          </a:p>
          <a:p>
            <a:pPr algn="ctr">
              <a:spcAft>
                <a:spcPts val="0"/>
              </a:spcAft>
            </a:pPr>
            <a:r>
              <a:rPr sz="1280" b="0">
                <a:solidFill>
                  <a:srgbClr val="10203D"/>
                </a:solidFill>
                <a:latin typeface="Aptos"/>
              </a:rPr>
              <a:t>objetivos del proyecto.</a:t>
            </a:r>
          </a:p>
        </p:txBody>
      </p:sp>
    </p:spTree>
    <p:extLst>
      <p:ext uri="{BB962C8B-B14F-4D97-AF65-F5344CB8AC3E}">
        <p14:creationId xmlns:p14="http://schemas.microsoft.com/office/powerpoint/2010/main" val="311107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" y="91440"/>
            <a:ext cx="12006072" cy="438912"/>
          </a:xfrm>
          <a:prstGeom prst="roundRect">
            <a:avLst/>
          </a:prstGeom>
          <a:solidFill>
            <a:srgbClr val="072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32918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Ficha de proyecto de TI: Implementación de una solución de analítica de clientes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" y="621792"/>
            <a:ext cx="6126480" cy="2432304"/>
          </a:xfrm>
          <a:prstGeom prst="roundRect">
            <a:avLst/>
          </a:prstGeom>
          <a:solidFill>
            <a:srgbClr val="D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685800"/>
            <a:ext cx="5852160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600" b="1">
                <a:solidFill>
                  <a:srgbClr val="072271"/>
                </a:solidFill>
                <a:latin typeface="Aptos"/>
              </a:defRPr>
            </a:pPr>
            <a:r>
              <a:t>1. Información general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" y="1042415"/>
            <a:ext cx="2450592" cy="265176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34056" y="1042415"/>
            <a:ext cx="3410712" cy="265176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" y="1056131"/>
            <a:ext cx="2350008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22241"/>
                </a:solidFill>
                <a:latin typeface="Aptos"/>
              </a:defRPr>
            </a:pPr>
            <a:r>
              <a:t>Nombre del 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8064" y="1056131"/>
            <a:ext cx="3273552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t>Plataforma de analítica de clientes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" y="1318564"/>
            <a:ext cx="2450592" cy="265176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34056" y="1318564"/>
            <a:ext cx="3410712" cy="265176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" y="1332280"/>
            <a:ext cx="2350008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22241"/>
                </a:solidFill>
                <a:latin typeface="Aptos"/>
              </a:defRPr>
            </a:pPr>
            <a:r>
              <a:t>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8064" y="1332280"/>
            <a:ext cx="3273552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t>PRJ-TI-001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" y="1594713"/>
            <a:ext cx="2450592" cy="265176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34056" y="1594713"/>
            <a:ext cx="3410712" cy="265176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" y="1608429"/>
            <a:ext cx="2350008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22241"/>
                </a:solidFill>
                <a:latin typeface="Aptos"/>
              </a:defRPr>
            </a:pPr>
            <a:r>
              <a:t>Área solicitante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1608429"/>
            <a:ext cx="3273552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t>Dirección Comercial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" y="1870862"/>
            <a:ext cx="2450592" cy="265176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34056" y="1870862"/>
            <a:ext cx="3410712" cy="265176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9184" y="1884578"/>
            <a:ext cx="2350008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22241"/>
                </a:solidFill>
                <a:latin typeface="Aptos"/>
              </a:defRPr>
            </a:pPr>
            <a:r>
              <a:t>Patrocinador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1884578"/>
            <a:ext cx="3273552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t>Gerente General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" y="2147011"/>
            <a:ext cx="2450592" cy="265176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34056" y="2147011"/>
            <a:ext cx="3410712" cy="265176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" y="2160727"/>
            <a:ext cx="2350008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22241"/>
                </a:solidFill>
                <a:latin typeface="Aptos"/>
              </a:defRPr>
            </a:pPr>
            <a:r>
              <a:t>Responsable del proyecto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98064" y="2160727"/>
            <a:ext cx="3273552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t>Jefe de Proyectos de 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" y="2423160"/>
            <a:ext cx="2450592" cy="265176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34056" y="2423160"/>
            <a:ext cx="3410712" cy="265176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9184" y="2436876"/>
            <a:ext cx="2350008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22241"/>
                </a:solidFill>
                <a:latin typeface="Aptos"/>
              </a:defRPr>
            </a:pPr>
            <a:r>
              <a:t>Fecha estimada de inicio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98064" y="2436876"/>
            <a:ext cx="3273552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t>01/03/2026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" y="2699308"/>
            <a:ext cx="2450592" cy="265176"/>
          </a:xfrm>
          <a:prstGeom prst="rect">
            <a:avLst/>
          </a:prstGeom>
          <a:solidFill>
            <a:srgbClr val="EC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34056" y="2699308"/>
            <a:ext cx="3410712" cy="265176"/>
          </a:xfrm>
          <a:prstGeom prst="rect">
            <a:avLst/>
          </a:prstGeom>
          <a:solidFill>
            <a:srgbClr val="F6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4" y="2713024"/>
            <a:ext cx="2350008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22241"/>
                </a:solidFill>
                <a:latin typeface="Aptos"/>
              </a:defRPr>
            </a:pPr>
            <a:r>
              <a:t>Fecha estimada de fin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98064" y="2713024"/>
            <a:ext cx="3273552" cy="237744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t>30/11/2026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8" y="621792"/>
            <a:ext cx="5605272" cy="1188720"/>
          </a:xfrm>
          <a:prstGeom prst="roundRect">
            <a:avLst/>
          </a:prstGeom>
          <a:solidFill>
            <a:srgbClr val="E0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59" y="694944"/>
            <a:ext cx="5367528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72271"/>
                </a:solidFill>
                <a:latin typeface="Aptos"/>
              </a:defRPr>
            </a:pPr>
            <a:r>
              <a:t>2. Objetivo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56248" y="1069848"/>
            <a:ext cx="5330952" cy="68580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122241"/>
                </a:solidFill>
                <a:latin typeface="Aptos"/>
              </a:defRPr>
            </a:pPr>
            <a:r>
              <a:t>Implementar una solución de analítica de clientes que permita integrar, analizar y visualizar datos de clientes para mejorar la segmentación, personalizar la oferta y aumentar la tasa de retención.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1874519"/>
            <a:ext cx="5605272" cy="1179576"/>
          </a:xfrm>
          <a:prstGeom prst="roundRect">
            <a:avLst/>
          </a:prstGeom>
          <a:solidFill>
            <a:srgbClr val="FF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37959" y="1947672"/>
            <a:ext cx="5367528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72271"/>
                </a:solidFill>
                <a:latin typeface="Aptos"/>
              </a:defRPr>
            </a:pPr>
            <a:r>
              <a:t>3. Alcance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56248" y="2322576"/>
            <a:ext cx="5330952" cy="676656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Incluye: Plataforma en la nube, integración con sistemas existentes, tableros de análisis y capacitación a usuarios clave.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No incluye: Reemplazo de los sistemas de ventas y marketing.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4592" y="3136392"/>
            <a:ext cx="3822191" cy="1856231"/>
          </a:xfrm>
          <a:prstGeom prst="roundRect">
            <a:avLst/>
          </a:prstGeom>
          <a:solidFill>
            <a:srgbClr val="E7E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3464" y="3209544"/>
            <a:ext cx="3584448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72271"/>
                </a:solidFill>
                <a:latin typeface="Aptos"/>
              </a:defRPr>
            </a:pPr>
            <a:r>
              <a:t>4. Entregables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1" y="3584448"/>
            <a:ext cx="3547872" cy="1353311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• Plataforma de analítica implementada.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• Integración CRM, web y POS.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• Tableros de análisis para negocio.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• Documentación técnica y de usuario.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• Capacitación a usuarios clave.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87368" y="3136392"/>
            <a:ext cx="3877056" cy="1856231"/>
          </a:xfrm>
          <a:prstGeom prst="roundRect">
            <a:avLst/>
          </a:prstGeom>
          <a:solidFill>
            <a:srgbClr val="FFF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06240" y="3209544"/>
            <a:ext cx="3639312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72271"/>
                </a:solidFill>
                <a:latin typeface="Aptos"/>
              </a:defRPr>
            </a:pPr>
            <a:r>
              <a:t>5. Actividades principales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4528" y="3584448"/>
            <a:ext cx="3602736" cy="1353311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19" b="0">
                <a:solidFill>
                  <a:srgbClr val="122241"/>
                </a:solidFill>
                <a:latin typeface="Aptos"/>
              </a:defRPr>
            </a:pPr>
            <a:r>
              <a:t>1. Análisis detallado de requerimientos.</a:t>
            </a:r>
          </a:p>
          <a:p>
            <a:pPr>
              <a:spcAft>
                <a:spcPts val="100"/>
              </a:spcAft>
              <a:defRPr sz="1019" b="0">
                <a:solidFill>
                  <a:srgbClr val="122241"/>
                </a:solidFill>
                <a:latin typeface="Aptos"/>
              </a:defRPr>
            </a:pPr>
            <a:r>
              <a:t>2. Diseño de la solución.</a:t>
            </a:r>
          </a:p>
          <a:p>
            <a:pPr>
              <a:spcAft>
                <a:spcPts val="100"/>
              </a:spcAft>
              <a:defRPr sz="1019" b="0">
                <a:solidFill>
                  <a:srgbClr val="122241"/>
                </a:solidFill>
                <a:latin typeface="Aptos"/>
              </a:defRPr>
            </a:pPr>
            <a:r>
              <a:t>3. Implementación y configuración.</a:t>
            </a:r>
          </a:p>
          <a:p>
            <a:pPr>
              <a:spcAft>
                <a:spcPts val="100"/>
              </a:spcAft>
              <a:defRPr sz="1019" b="0">
                <a:solidFill>
                  <a:srgbClr val="122241"/>
                </a:solidFill>
                <a:latin typeface="Aptos"/>
              </a:defRPr>
            </a:pPr>
            <a:r>
              <a:t>4. Integración de datos.</a:t>
            </a:r>
          </a:p>
          <a:p>
            <a:pPr>
              <a:spcAft>
                <a:spcPts val="100"/>
              </a:spcAft>
              <a:defRPr sz="1019" b="0">
                <a:solidFill>
                  <a:srgbClr val="122241"/>
                </a:solidFill>
                <a:latin typeface="Aptos"/>
              </a:defRPr>
            </a:pPr>
            <a:r>
              <a:t>5. Pruebas y validación.</a:t>
            </a:r>
          </a:p>
          <a:p>
            <a:pPr>
              <a:spcAft>
                <a:spcPts val="100"/>
              </a:spcAft>
              <a:defRPr sz="1019" b="0">
                <a:solidFill>
                  <a:srgbClr val="122241"/>
                </a:solidFill>
                <a:latin typeface="Aptos"/>
              </a:defRPr>
            </a:pPr>
            <a:r>
              <a:t>6. Capacitación y gestión del cambio.</a:t>
            </a:r>
          </a:p>
          <a:p>
            <a:pPr>
              <a:spcAft>
                <a:spcPts val="100"/>
              </a:spcAft>
              <a:defRPr sz="1019" b="0">
                <a:solidFill>
                  <a:srgbClr val="122241"/>
                </a:solidFill>
                <a:latin typeface="Aptos"/>
              </a:defRPr>
            </a:pPr>
            <a:r>
              <a:t>7. Puesta en producción.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65008" y="3136392"/>
            <a:ext cx="3959352" cy="1856231"/>
          </a:xfrm>
          <a:prstGeom prst="roundRect">
            <a:avLst/>
          </a:prstGeom>
          <a:solidFill>
            <a:srgbClr val="FF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83880" y="3209544"/>
            <a:ext cx="3721608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72271"/>
                </a:solidFill>
                <a:latin typeface="Aptos"/>
              </a:defRPr>
            </a:pPr>
            <a:r>
              <a:t>6. Cronograma (hitos)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8" y="3584448"/>
            <a:ext cx="3685032" cy="1353311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Inicio del proyecto — 01/03/2026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Diseño de la solución — 30/04/2026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Implementación — 31/08/2026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Pruebas y capacitación — 31/10/2026</a:t>
            </a:r>
          </a:p>
          <a:p>
            <a:pPr>
              <a:spcAft>
                <a:spcPts val="100"/>
              </a:spcAft>
              <a:defRPr sz="1050" b="0">
                <a:solidFill>
                  <a:srgbClr val="122241"/>
                </a:solidFill>
                <a:latin typeface="Aptos"/>
              </a:defRPr>
            </a:pPr>
            <a:r>
              <a:t>Puesta en producción — 30/11/2026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592" y="5084064"/>
            <a:ext cx="2898648" cy="1664208"/>
          </a:xfrm>
          <a:prstGeom prst="roundRect">
            <a:avLst/>
          </a:prstGeom>
          <a:solidFill>
            <a:srgbClr val="DB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83464" y="5157216"/>
            <a:ext cx="2660904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72271"/>
                </a:solidFill>
                <a:latin typeface="Aptos"/>
              </a:defRPr>
            </a:pPr>
            <a:r>
              <a:t>7. Recursos y presupuesto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751" y="5532120"/>
            <a:ext cx="2624328" cy="1161288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10" b="0">
                <a:solidFill>
                  <a:srgbClr val="122241"/>
                </a:solidFill>
                <a:latin typeface="Aptos"/>
              </a:defRPr>
            </a:pPr>
            <a:r>
              <a:rPr sz="1019"/>
              <a:t>Recursos humanos: Equipo de TI (5), consultor externo (2)</a:t>
            </a:r>
          </a:p>
          <a:p>
            <a:pPr>
              <a:spcAft>
                <a:spcPts val="100"/>
              </a:spcAft>
              <a:defRPr sz="1010" b="0">
                <a:solidFill>
                  <a:srgbClr val="122241"/>
                </a:solidFill>
                <a:latin typeface="Aptos"/>
              </a:defRPr>
            </a:pPr>
            <a:r>
              <a:rPr sz="1019"/>
              <a:t>Recursos tecnológicos: Plataforma de analítica en la nube</a:t>
            </a:r>
          </a:p>
          <a:p>
            <a:pPr>
              <a:spcAft>
                <a:spcPts val="100"/>
              </a:spcAft>
              <a:defRPr sz="1010" b="0">
                <a:solidFill>
                  <a:srgbClr val="122241"/>
                </a:solidFill>
                <a:latin typeface="Aptos"/>
              </a:defRPr>
            </a:pPr>
            <a:r>
              <a:rPr sz="1019"/>
              <a:t>Presupuesto estimado: USD 320.000</a:t>
            </a:r>
          </a:p>
          <a:p>
            <a:pPr>
              <a:spcAft>
                <a:spcPts val="100"/>
              </a:spcAft>
              <a:defRPr sz="1010" b="0">
                <a:solidFill>
                  <a:srgbClr val="122241"/>
                </a:solidFill>
                <a:latin typeface="Aptos"/>
              </a:defRPr>
            </a:pPr>
            <a:r>
              <a:rPr sz="1019"/>
              <a:t>Fuente de financiamiento: Presupuesto corporativo de TI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72968" y="5084064"/>
            <a:ext cx="2898648" cy="1664208"/>
          </a:xfrm>
          <a:prstGeom prst="roundRect">
            <a:avLst/>
          </a:prstGeom>
          <a:solidFill>
            <a:srgbClr val="E3F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291840" y="5157216"/>
            <a:ext cx="2660904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500" b="1">
                <a:solidFill>
                  <a:srgbClr val="072271"/>
                </a:solidFill>
                <a:latin typeface="Aptos"/>
              </a:defRPr>
            </a:pPr>
            <a:r>
              <a:t>8. Riesgos y supuestos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0128" y="5532120"/>
            <a:ext cx="2624328" cy="1161288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rPr sz="1019"/>
              <a:t>Riesgos:</a:t>
            </a:r>
          </a:p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rPr sz="1019"/>
              <a:t>• Retrasos en la integración de datos.</a:t>
            </a:r>
          </a:p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rPr sz="1019"/>
              <a:t>• Resistencia al cambio de usuarios.</a:t>
            </a:r>
          </a:p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rPr sz="1019"/>
              <a:t>• Dependencia de proveedores externos.</a:t>
            </a:r>
          </a:p>
          <a:p>
            <a:pPr>
              <a:spcAft>
                <a:spcPts val="100"/>
              </a:spcAft>
              <a:defRPr sz="1000" b="0">
                <a:solidFill>
                  <a:srgbClr val="122241"/>
                </a:solidFill>
                <a:latin typeface="Aptos"/>
              </a:defRPr>
            </a:pPr>
            <a:r>
              <a:rPr sz="1019"/>
              <a:t>Supuestos: Datos de calidad y compromiso de las áreas de negocio.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89720" y="5084064"/>
            <a:ext cx="2834640" cy="1664208"/>
          </a:xfrm>
          <a:prstGeom prst="roundRect">
            <a:avLst/>
          </a:prstGeom>
          <a:solidFill>
            <a:srgbClr val="D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308592" y="5157216"/>
            <a:ext cx="2596896" cy="320040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r>
              <a:rPr sz="1600" b="1">
                <a:solidFill>
                  <a:srgbClr val="0A2860"/>
                </a:solidFill>
              </a:rPr>
              <a:t>10. Criterios de éxito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5532120"/>
            <a:ext cx="2560320" cy="1161288"/>
          </a:xfrm>
          <a:prstGeom prst="rect">
            <a:avLst/>
          </a:prstGeom>
          <a:noFill/>
        </p:spPr>
        <p:txBody>
          <a:bodyPr wrap="square" lIns="45720" tIns="22860" rIns="36576" bIns="0">
            <a:spAutoFit/>
          </a:bodyPr>
          <a:lstStyle/>
          <a:p>
            <a:pPr>
              <a:spcAft>
                <a:spcPts val="100"/>
              </a:spcAft>
              <a:defRPr sz="1040" b="0">
                <a:solidFill>
                  <a:srgbClr val="122241"/>
                </a:solidFill>
                <a:latin typeface="Aptos"/>
              </a:defRPr>
            </a:pPr>
            <a:r>
              <a:rPr sz="1019"/>
              <a:t>• Solución implementada en plazo y presupuesto.</a:t>
            </a:r>
          </a:p>
          <a:p>
            <a:pPr>
              <a:spcAft>
                <a:spcPts val="100"/>
              </a:spcAft>
              <a:defRPr sz="1040" b="0">
                <a:solidFill>
                  <a:srgbClr val="122241"/>
                </a:solidFill>
                <a:latin typeface="Aptos"/>
              </a:defRPr>
            </a:pPr>
            <a:r>
              <a:rPr sz="1019"/>
              <a:t>• Adopción de usuarios clave superior al 70%.</a:t>
            </a:r>
          </a:p>
          <a:p>
            <a:pPr>
              <a:spcAft>
                <a:spcPts val="100"/>
              </a:spcAft>
              <a:defRPr sz="1040" b="0">
                <a:solidFill>
                  <a:srgbClr val="122241"/>
                </a:solidFill>
                <a:latin typeface="Aptos"/>
              </a:defRPr>
            </a:pPr>
            <a:r>
              <a:rPr sz="1019"/>
              <a:t>• Mejora de retención de clientes de al menos 10% en el primer año.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81344" y="5084064"/>
            <a:ext cx="2898648" cy="1664208"/>
          </a:xfrm>
          <a:prstGeom prst="roundRect">
            <a:avLst/>
          </a:prstGeom>
          <a:solidFill>
            <a:srgbClr val="F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00216" y="5157216"/>
            <a:ext cx="2660904" cy="320040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0A2860"/>
                </a:solidFill>
                <a:latin typeface="Aptos"/>
              </a:rPr>
              <a:t>9. Interesados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18504" y="5532120"/>
            <a:ext cx="2624328" cy="1161288"/>
          </a:xfrm>
          <a:prstGeom prst="rect">
            <a:avLst/>
          </a:prstGeom>
          <a:noFill/>
        </p:spPr>
        <p:txBody>
          <a:bodyPr wrap="square" lIns="18288" tIns="9144" rIns="18288">
            <a:spAutoFit/>
          </a:bodyPr>
          <a:lstStyle/>
          <a:p>
            <a:pPr>
              <a:spcAft>
                <a:spcPts val="200"/>
              </a:spcAft>
            </a:pPr>
            <a:r>
              <a:rPr sz="1019" b="0">
                <a:solidFill>
                  <a:srgbClr val="0A2860"/>
                </a:solidFill>
                <a:latin typeface="Aptos"/>
              </a:rPr>
              <a:t>Patrocinador: Gerente General.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0A2860"/>
                </a:solidFill>
                <a:latin typeface="Aptos"/>
              </a:rPr>
              <a:t>Área solicitante: Dirección Comercial.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0A2860"/>
                </a:solidFill>
                <a:latin typeface="Aptos"/>
              </a:rPr>
              <a:t>Usuarios: Marketing, Ventas y Atención al Cliente.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0A2860"/>
                </a:solidFill>
                <a:latin typeface="Aptos"/>
              </a:rPr>
              <a:t>Equipo ejecutor: TI y consultores.</a:t>
            </a:r>
          </a:p>
          <a:p>
            <a:pPr>
              <a:spcAft>
                <a:spcPts val="200"/>
              </a:spcAft>
            </a:pPr>
            <a:r>
              <a:rPr sz="1019" b="0">
                <a:solidFill>
                  <a:srgbClr val="0A2860"/>
                </a:solidFill>
                <a:latin typeface="Aptos"/>
              </a:rPr>
              <a:t>Otros: Responsables de datos y proveedores.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41B7997-AD72-41AC-9A1C-FC07D27CBFDE}"/>
              </a:ext>
            </a:extLst>
          </p:cNvPr>
          <p:cNvSpPr/>
          <p:nvPr/>
        </p:nvSpPr>
        <p:spPr>
          <a:xfrm>
            <a:off x="502917" y="1498288"/>
            <a:ext cx="11354782" cy="8729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3E46552-008C-445B-9633-CD85944D7FB5}"/>
              </a:ext>
            </a:extLst>
          </p:cNvPr>
          <p:cNvSpPr/>
          <p:nvPr/>
        </p:nvSpPr>
        <p:spPr>
          <a:xfrm>
            <a:off x="502917" y="3397245"/>
            <a:ext cx="11354782" cy="8729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73433C9-3611-4D31-B1E2-82FF3FC96761}"/>
              </a:ext>
            </a:extLst>
          </p:cNvPr>
          <p:cNvSpPr/>
          <p:nvPr/>
        </p:nvSpPr>
        <p:spPr>
          <a:xfrm>
            <a:off x="502917" y="4371841"/>
            <a:ext cx="11354782" cy="8729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A6D29FE7-69EF-4BEF-BCA8-770EAAF44B78}"/>
              </a:ext>
            </a:extLst>
          </p:cNvPr>
          <p:cNvSpPr/>
          <p:nvPr/>
        </p:nvSpPr>
        <p:spPr>
          <a:xfrm>
            <a:off x="502916" y="5350115"/>
            <a:ext cx="11354782" cy="8729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56FE4485-58B4-4B4E-8FD5-7F9097BAD8D2}"/>
              </a:ext>
            </a:extLst>
          </p:cNvPr>
          <p:cNvSpPr/>
          <p:nvPr/>
        </p:nvSpPr>
        <p:spPr>
          <a:xfrm>
            <a:off x="502916" y="2444099"/>
            <a:ext cx="11354782" cy="8729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Shape 2"/>
          <p:cNvSpPr txBox="1"/>
          <p:nvPr/>
        </p:nvSpPr>
        <p:spPr>
          <a:xfrm>
            <a:off x="502920" y="164592"/>
            <a:ext cx="900684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ES" sz="2400" b="1" dirty="0">
                <a:solidFill>
                  <a:srgbClr val="182B46"/>
                </a:solidFill>
              </a:rPr>
              <a:t>Ideas Clave</a:t>
            </a:r>
            <a:endParaRPr lang="es-PE" sz="2400" b="1" i="0" dirty="0">
              <a:solidFill>
                <a:srgbClr val="182B46"/>
              </a:solidFill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575777" y="6613177"/>
            <a:ext cx="6217920" cy="18288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s-PE" sz="850" b="0" i="0" dirty="0">
                <a:solidFill>
                  <a:srgbClr val="526070"/>
                </a:solidFill>
                <a:latin typeface="Calibri"/>
              </a:rPr>
              <a:t>PETI • Planeamiento Estratégico de TI</a:t>
            </a:r>
          </a:p>
        </p:txBody>
      </p:sp>
      <p:sp>
        <p:nvSpPr>
          <p:cNvPr id="3" name="Shape 3"/>
          <p:cNvSpPr/>
          <p:nvPr/>
        </p:nvSpPr>
        <p:spPr>
          <a:xfrm>
            <a:off x="502920" y="694944"/>
            <a:ext cx="685800" cy="50292"/>
          </a:xfrm>
          <a:prstGeom prst="rect">
            <a:avLst/>
          </a:prstGeom>
          <a:solidFill>
            <a:srgbClr val="2467AB"/>
          </a:solidFill>
          <a:ln>
            <a:noFill/>
          </a:ln>
        </p:spPr>
        <p:txBody>
          <a:bodyPr wrap="square" lIns="118872" tIns="118872" rIns="118872" bIns="118872" rtlCol="0" anchor="t">
            <a:noAutofit/>
          </a:bodyPr>
          <a:lstStyle/>
          <a:p>
            <a:endParaRPr lang="es-PE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68CB478D-0879-4BC7-9ABD-476445831CB7}"/>
              </a:ext>
            </a:extLst>
          </p:cNvPr>
          <p:cNvSpPr txBox="1"/>
          <p:nvPr/>
        </p:nvSpPr>
        <p:spPr>
          <a:xfrm>
            <a:off x="548640" y="804672"/>
            <a:ext cx="100584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27432" tIns="27432" rIns="27432" bIns="27432" rtlCol="0" anchor="t">
            <a:noAutofit/>
          </a:bodyPr>
          <a:lstStyle/>
          <a:p>
            <a:r>
              <a:rPr lang="es-PE" sz="1250" dirty="0" err="1">
                <a:solidFill>
                  <a:srgbClr val="526070"/>
                </a:solidFill>
              </a:rPr>
              <a:t>Roadmap</a:t>
            </a:r>
            <a:r>
              <a:rPr lang="es-PE" sz="1250" dirty="0">
                <a:solidFill>
                  <a:srgbClr val="526070"/>
                </a:solidFill>
              </a:rPr>
              <a:t> de Proyectos de TI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80D8FEF-9F59-4BC4-99B7-DE283960CA96}"/>
              </a:ext>
            </a:extLst>
          </p:cNvPr>
          <p:cNvSpPr/>
          <p:nvPr/>
        </p:nvSpPr>
        <p:spPr>
          <a:xfrm>
            <a:off x="502917" y="1536963"/>
            <a:ext cx="11354783" cy="4342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El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portafolio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proyectos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TI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permite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gestionar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forma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integrada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el conjunto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iniciativas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alineándolas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con la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estrategia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del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negocio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optimizando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el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uso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los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recursos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US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La hoja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ruta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iniciativas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establece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una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visión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temporal de las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iniciativas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priorizadas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facilitando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una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implementación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ordenada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realista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US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El business case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sustenta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evaluación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decisión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inversión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partir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del valor, las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alternativas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los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costos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beneficios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riesgos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US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La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ficha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proyecto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TI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formaliza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definición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de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cada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iniciativa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aprobada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recopilando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los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aspectos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clave para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su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planificación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ejecución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y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seguimiento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endParaRPr lang="en-US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herramientas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permiten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transformar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la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estrategia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en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acciones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concretas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generando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 valor para el </a:t>
            </a:r>
            <a:r>
              <a:rPr lang="en-US" dirty="0" err="1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negocio</a:t>
            </a:r>
            <a:r>
              <a:rPr lang="en-US" dirty="0">
                <a:latin typeface="Aptos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s-PE" dirty="0">
              <a:latin typeface="Aptos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627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2199</Words>
  <Application>Microsoft Office PowerPoint</Application>
  <PresentationFormat>Panorámica</PresentationFormat>
  <Paragraphs>429</Paragraphs>
  <Slides>18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MS Mincho</vt:lpstr>
      <vt:lpstr>Aptos</vt:lpstr>
      <vt:lpstr>Arial</vt:lpstr>
      <vt:lpstr>Calibri</vt:lpstr>
      <vt:lpstr>Calibri Light</vt:lpstr>
      <vt:lpstr>Symbol</vt:lpstr>
      <vt:lpstr>Times New Roman</vt:lpstr>
      <vt:lpstr>Office Theme</vt:lpstr>
      <vt:lpstr>Tema de Office</vt:lpstr>
      <vt:lpstr>ESTRATEGIA Y GESTION DE SISTEMAS DE INFORMACION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Y GESTION DE SISTEMAS DE INFORMACION</dc:title>
  <dc:subject/>
  <dc:creator>Luis Flores García</dc:creator>
  <cp:keywords/>
  <dc:description>generated using python-pptx</dc:description>
  <cp:lastModifiedBy>premium</cp:lastModifiedBy>
  <cp:revision>28</cp:revision>
  <dcterms:created xsi:type="dcterms:W3CDTF">2013-01-27T09:14:16Z</dcterms:created>
  <dcterms:modified xsi:type="dcterms:W3CDTF">2026-10-25T18:50:19Z</dcterms:modified>
  <cp:category/>
</cp:coreProperties>
</file>